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4" r:id="rId9"/>
    <p:sldId id="265" r:id="rId10"/>
    <p:sldId id="266"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602"/>
  </p:normalViewPr>
  <p:slideViewPr>
    <p:cSldViewPr snapToGrid="0">
      <p:cViewPr varScale="1">
        <p:scale>
          <a:sx n="83" d="100"/>
          <a:sy n="83" d="100"/>
        </p:scale>
        <p:origin x="188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 minute</a:t>
            </a:r>
          </a:p>
          <a:p>
            <a:endParaRPr/>
          </a:p>
          <a:p>
            <a:r>
              <a:t>Talk track:</a:t>
            </a:r>
          </a:p>
          <a:p>
            <a:r>
              <a:t>Welcome the audience. Explain that the talk focuses on the system around the model: tools, state, control flow and evaluation.</a:t>
            </a:r>
          </a:p>
          <a:p>
            <a:endParaRPr/>
          </a:p>
          <a:p>
            <a:r>
              <a:t>Sources:</a:t>
            </a:r>
          </a:p>
          <a:p>
            <a:r>
              <a:t>- https://huggingface.co/learn/agents-course/en/unit1/introduction</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2 minutes</a:t>
            </a:r>
          </a:p>
          <a:p>
            <a:endParaRPr dirty="0"/>
          </a:p>
          <a:p>
            <a:r>
              <a:rPr dirty="0"/>
              <a:t>Talk track:</a:t>
            </a:r>
          </a:p>
          <a:p>
            <a:r>
              <a:rPr dirty="0"/>
              <a:t>A model accepts context and predicts an output. By itself it cannot fetch current data, call a laboratory system or preserve a durable task state. Application code supplies those capabilities.</a:t>
            </a:r>
          </a:p>
          <a:p>
            <a:endParaRPr dirty="0"/>
          </a:p>
          <a:p>
            <a:r>
              <a:rPr dirty="0"/>
              <a:t>Sources:</a:t>
            </a:r>
          </a:p>
          <a:p>
            <a:r>
              <a:rPr dirty="0"/>
              <a:t>- https://</a:t>
            </a:r>
            <a:r>
              <a:rPr dirty="0" err="1"/>
              <a:t>huggingface.co</a:t>
            </a:r>
            <a:r>
              <a:rPr dirty="0"/>
              <a:t>/learn/agents-course/</a:t>
            </a:r>
            <a:r>
              <a:rPr dirty="0" err="1"/>
              <a:t>en</a:t>
            </a:r>
            <a:r>
              <a:rPr dirty="0"/>
              <a:t>/unit1/introduction</a:t>
            </a:r>
          </a:p>
          <a:p>
            <a:r>
              <a:rPr dirty="0"/>
              <a:t>- https://</a:t>
            </a:r>
            <a:r>
              <a:rPr dirty="0" err="1"/>
              <a:t>huggingface.co</a:t>
            </a:r>
            <a:r>
              <a:rPr dirty="0"/>
              <a:t>/learn/agents-course/</a:t>
            </a:r>
            <a:r>
              <a:rPr dirty="0" err="1"/>
              <a:t>en</a:t>
            </a:r>
            <a:r>
              <a:rPr dirty="0"/>
              <a:t>/unit1/tools</a:t>
            </a:r>
          </a:p>
          <a:p>
            <a:r>
              <a:rPr dirty="0"/>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1 minute</a:t>
            </a:r>
          </a:p>
          <a:p>
            <a:endParaRPr dirty="0"/>
          </a:p>
          <a:p>
            <a:r>
              <a:rPr dirty="0"/>
              <a:t>Talk track:</a:t>
            </a:r>
          </a:p>
          <a:p>
            <a:r>
              <a:rPr dirty="0"/>
              <a:t>Give the plain-language definition first. Emphasize that an agent is the complete system. The language model supplies decisions, while application code supplies tools, state and control logic.</a:t>
            </a:r>
          </a:p>
          <a:p>
            <a:endParaRPr dirty="0"/>
          </a:p>
          <a:p>
            <a:r>
              <a:rPr dirty="0"/>
              <a:t>Sources:</a:t>
            </a:r>
          </a:p>
          <a:p>
            <a:r>
              <a:rPr dirty="0"/>
              <a:t>- https://</a:t>
            </a:r>
            <a:r>
              <a:rPr dirty="0" err="1"/>
              <a:t>huggingface.co</a:t>
            </a:r>
            <a:r>
              <a:rPr dirty="0"/>
              <a:t>/learn/agents-course/</a:t>
            </a:r>
            <a:r>
              <a:rPr dirty="0" err="1"/>
              <a:t>en</a:t>
            </a:r>
            <a:r>
              <a:rPr dirty="0"/>
              <a:t>/unit1/introduction</a:t>
            </a:r>
          </a:p>
          <a:p>
            <a:r>
              <a:rPr dirty="0"/>
              <a:t>- https://</a:t>
            </a:r>
            <a:r>
              <a:rPr dirty="0" err="1"/>
              <a:t>huggingface.co</a:t>
            </a:r>
            <a:r>
              <a:rPr dirty="0"/>
              <a:t>/learn/agents-course/unit1/agent-steps-and-structure</a:t>
            </a:r>
          </a:p>
          <a:p>
            <a:r>
              <a:rPr dirty="0"/>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 minute</a:t>
            </a:r>
          </a:p>
          <a:p>
            <a:endParaRPr/>
          </a:p>
          <a:p>
            <a:r>
              <a:t>Talk track:</a:t>
            </a:r>
          </a:p>
          <a:p>
            <a:r>
              <a:t>Use this checklist as the minimum test. A system can use a language model without being an agent. The key distinction is conditional action informed by feedback from the environment.</a:t>
            </a:r>
          </a:p>
          <a:p>
            <a:endParaRPr/>
          </a:p>
          <a:p>
            <a:r>
              <a:t>Sources:</a:t>
            </a:r>
          </a:p>
          <a:p>
            <a:r>
              <a:t>- https://huggingface.co/learn/agents-course/en/unit1/introduction</a:t>
            </a:r>
          </a:p>
          <a:p>
            <a:r>
              <a:t>- https://huggingface.co/learn/agents-course/unit1/agent-steps-and-structure</a:t>
            </a:r>
          </a:p>
          <a:p>
            <a:r>
              <a:t>- https://huggingface.co/learn/agents-course/en/unit1/actions</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 minute</a:t>
            </a:r>
          </a:p>
          <a:p>
            <a:endParaRPr/>
          </a:p>
          <a:p>
            <a:r>
              <a:t>Talk track:</a:t>
            </a:r>
          </a:p>
          <a:p>
            <a:r>
              <a:t>Compare three ways to implement the same task. A chatbot produces an answer. A fixed workflow follows a predetermined path. An agent chooses the next step after observing what happened.</a:t>
            </a:r>
          </a:p>
          <a:p>
            <a:endParaRPr/>
          </a:p>
          <a:p>
            <a:r>
              <a:t>Sources:</a:t>
            </a:r>
          </a:p>
          <a:p>
            <a:r>
              <a:t>- https://huggingface.co/learn/agents-course/en/unit1/introduction</a:t>
            </a:r>
          </a:p>
          <a:p>
            <a:r>
              <a:t>- https://huggingface.co/learn/agents-course/unit1/agent-steps-and-structure</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 minute</a:t>
            </a:r>
          </a:p>
          <a:p>
            <a:endParaRPr/>
          </a:p>
          <a:p>
            <a:r>
              <a:t>Talk track:</a:t>
            </a:r>
          </a:p>
          <a:p>
            <a:r>
              <a:t>Ask participants to classify each example before revealing the right-hand labels. Stress that autonomy and conditional action distinguish an agent from a simple pipeline.</a:t>
            </a:r>
          </a:p>
          <a:p>
            <a:endParaRPr/>
          </a:p>
          <a:p>
            <a:r>
              <a:t>Sources:</a:t>
            </a:r>
          </a:p>
          <a:p>
            <a:r>
              <a:t>- https://huggingface.co/learn/agents-course/en/unit1/introduction</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Talk track:</a:t>
            </a:r>
          </a:p>
          <a:p>
            <a:r>
              <a:rPr dirty="0"/>
              <a:t>Use the definition to separate an agent from a model. The model proposes the next action. The runtime supplies tools, state, permissions and stopping rules.</a:t>
            </a:r>
            <a:endParaRPr lang="en-GB" dirty="0"/>
          </a:p>
          <a:p>
            <a:pPr lvl="0"/>
            <a:r>
              <a:rPr lang="en-GB" b="1" dirty="0"/>
              <a:t>Goal:</a:t>
            </a:r>
            <a:r>
              <a:rPr lang="en-GB" dirty="0"/>
              <a:t> What the system must accomplish.</a:t>
            </a:r>
          </a:p>
          <a:p>
            <a:pPr lvl="0"/>
            <a:r>
              <a:rPr lang="en-GB" b="1" dirty="0"/>
              <a:t>Model:</a:t>
            </a:r>
            <a:r>
              <a:rPr lang="en-GB" dirty="0"/>
              <a:t> Decides what to do next.</a:t>
            </a:r>
          </a:p>
          <a:p>
            <a:pPr lvl="0"/>
            <a:r>
              <a:rPr lang="en-GB" b="1" dirty="0"/>
              <a:t>Tools:</a:t>
            </a:r>
            <a:r>
              <a:rPr lang="en-GB" dirty="0"/>
              <a:t> Let it search, calculate, retrieve files or act on another system.</a:t>
            </a:r>
          </a:p>
          <a:p>
            <a:pPr lvl="0"/>
            <a:r>
              <a:rPr lang="en-GB" b="1" dirty="0"/>
              <a:t>State:</a:t>
            </a:r>
            <a:r>
              <a:rPr lang="en-GB" dirty="0"/>
              <a:t> Records what has happened so far.</a:t>
            </a:r>
          </a:p>
          <a:p>
            <a:pPr lvl="0"/>
            <a:r>
              <a:rPr lang="en-GB" b="1" dirty="0"/>
              <a:t>Runtime:</a:t>
            </a:r>
            <a:r>
              <a:rPr lang="en-GB" dirty="0"/>
              <a:t> Executes tools, checks permissions and determines when to stop.</a:t>
            </a:r>
          </a:p>
          <a:p>
            <a:r>
              <a:rPr lang="en-GB" dirty="0"/>
              <a:t>For example, in a research agent:</a:t>
            </a:r>
          </a:p>
          <a:p>
            <a:r>
              <a:rPr lang="en-GB" dirty="0"/>
              <a:t>Goal: answer a scientific question</a:t>
            </a:r>
            <a:br>
              <a:rPr lang="en-GB" dirty="0"/>
            </a:br>
            <a:r>
              <a:rPr lang="en-GB" dirty="0"/>
              <a:t>Model: decide what evidence is needed</a:t>
            </a:r>
            <a:br>
              <a:rPr lang="en-GB" dirty="0"/>
            </a:br>
            <a:r>
              <a:rPr lang="en-GB" dirty="0"/>
              <a:t>Tools: search papers and analyse data</a:t>
            </a:r>
            <a:br>
              <a:rPr lang="en-GB" dirty="0"/>
            </a:br>
            <a:r>
              <a:rPr lang="en-GB" dirty="0"/>
              <a:t>State: retain sources, results and errors</a:t>
            </a:r>
            <a:br>
              <a:rPr lang="en-GB" dirty="0"/>
            </a:br>
            <a:r>
              <a:rPr lang="en-GB" dirty="0"/>
              <a:t>Runtime: execute the steps safely and stop when enough evidence exists</a:t>
            </a:r>
          </a:p>
          <a:p>
            <a:endParaRPr dirty="0"/>
          </a:p>
          <a:p>
            <a:endParaRPr dirty="0"/>
          </a:p>
          <a:p>
            <a:r>
              <a:rPr dirty="0"/>
              <a:t>Sources:</a:t>
            </a:r>
          </a:p>
          <a:p>
            <a:r>
              <a:rPr dirty="0"/>
              <a:t>- https://</a:t>
            </a:r>
            <a:r>
              <a:rPr dirty="0" err="1"/>
              <a:t>huggingface.co</a:t>
            </a:r>
            <a:r>
              <a:rPr dirty="0"/>
              <a:t>/learn/agents-course/</a:t>
            </a:r>
            <a:r>
              <a:rPr dirty="0" err="1"/>
              <a:t>en</a:t>
            </a:r>
            <a:r>
              <a:rPr dirty="0"/>
              <a:t>/unit1/introduction</a:t>
            </a:r>
          </a:p>
          <a:p>
            <a:r>
              <a:rPr dirty="0"/>
              <a:t>- https://</a:t>
            </a:r>
            <a:r>
              <a:rPr dirty="0" err="1"/>
              <a:t>huggingface.co</a:t>
            </a:r>
            <a:r>
              <a:rPr dirty="0"/>
              <a:t>/learn/agents-course/unit1/agent-steps-and-structure</a:t>
            </a:r>
          </a:p>
          <a:p>
            <a:r>
              <a:rPr dirty="0"/>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b="1" dirty="0"/>
              <a:t>Goal:</a:t>
            </a:r>
            <a:r>
              <a:rPr lang="en-GB" dirty="0"/>
              <a:t> The agent receives the task.</a:t>
            </a:r>
          </a:p>
          <a:p>
            <a:pPr lvl="0"/>
            <a:r>
              <a:rPr lang="en-GB" b="1" dirty="0"/>
              <a:t>Context:</a:t>
            </a:r>
            <a:r>
              <a:rPr lang="en-GB" dirty="0"/>
              <a:t> It gathers the information currently available.</a:t>
            </a:r>
          </a:p>
          <a:p>
            <a:pPr lvl="0"/>
            <a:r>
              <a:rPr lang="en-GB" b="1" dirty="0"/>
              <a:t>Decision:</a:t>
            </a:r>
            <a:r>
              <a:rPr lang="en-GB" dirty="0"/>
              <a:t> The model proposes what to do next.</a:t>
            </a:r>
          </a:p>
          <a:p>
            <a:pPr lvl="0"/>
            <a:r>
              <a:rPr lang="en-GB" b="1" dirty="0"/>
              <a:t>Validated action:</a:t>
            </a:r>
            <a:r>
              <a:rPr lang="en-GB" dirty="0"/>
              <a:t> Software checks whether that action is permitted and correctly formed.</a:t>
            </a:r>
          </a:p>
          <a:p>
            <a:pPr lvl="0"/>
            <a:r>
              <a:rPr lang="en-GB" b="1" dirty="0"/>
              <a:t>Observation:</a:t>
            </a:r>
            <a:r>
              <a:rPr lang="en-GB" dirty="0"/>
              <a:t> The action runs, and the result returns to the agent.</a:t>
            </a:r>
          </a:p>
          <a:p>
            <a:pPr lvl="0"/>
            <a:r>
              <a:rPr lang="en-GB" b="1" dirty="0"/>
              <a:t>Finish or continue:</a:t>
            </a:r>
            <a:r>
              <a:rPr lang="en-GB" dirty="0"/>
              <a:t> The system either delivers the answer or repeats the middle steps.</a:t>
            </a:r>
          </a:p>
          <a:p>
            <a:r>
              <a:rPr lang="en-GB" dirty="0"/>
              <a:t>Example:</a:t>
            </a:r>
          </a:p>
          <a:p>
            <a:r>
              <a:rPr lang="en-GB" dirty="0"/>
              <a:t>Goal: find evidence about a battery material</a:t>
            </a:r>
            <a:br>
              <a:rPr lang="en-GB" dirty="0"/>
            </a:br>
            <a:r>
              <a:rPr lang="en-GB" dirty="0"/>
              <a:t>Context: the question and papers already found</a:t>
            </a:r>
            <a:br>
              <a:rPr lang="en-GB" dirty="0"/>
            </a:br>
            <a:r>
              <a:rPr lang="en-GB" dirty="0"/>
              <a:t>Decision: search for recent safety studies</a:t>
            </a:r>
            <a:br>
              <a:rPr lang="en-GB" dirty="0"/>
            </a:br>
            <a:r>
              <a:rPr lang="en-GB" dirty="0"/>
              <a:t>Validated action: confirm the search request is allowed</a:t>
            </a:r>
            <a:br>
              <a:rPr lang="en-GB" dirty="0"/>
            </a:br>
            <a:r>
              <a:rPr lang="en-GB" dirty="0"/>
              <a:t>Observation: receive the search results</a:t>
            </a:r>
            <a:br>
              <a:rPr lang="en-GB" dirty="0"/>
            </a:br>
            <a:r>
              <a:rPr lang="en-GB" dirty="0"/>
              <a:t>Finish or continue: inspect another paper or prepare the answer</a:t>
            </a:r>
          </a:p>
          <a:p>
            <a:r>
              <a:rPr lang="en-GB" dirty="0"/>
              <a:t>The main point is that an agent works as a </a:t>
            </a:r>
            <a:r>
              <a:rPr lang="en-GB" b="1" dirty="0"/>
              <a:t>controlled loop</a:t>
            </a:r>
            <a:r>
              <a:rPr lang="en-GB" dirty="0"/>
              <a:t>. It repeatedly decides, acts and examines the result until it reaches a stopping condition.</a:t>
            </a:r>
          </a:p>
          <a:p>
            <a:r>
              <a:rPr lang="en-GB" dirty="0"/>
              <a:t>“Validated action” is probably the least obvious label. It means the model only </a:t>
            </a:r>
            <a:r>
              <a:rPr lang="en-GB" b="1" dirty="0"/>
              <a:t>requests</a:t>
            </a:r>
            <a:r>
              <a:rPr lang="en-GB" dirty="0"/>
              <a:t> an action; the surrounding software checks and executes it.</a:t>
            </a:r>
          </a:p>
          <a:p>
            <a:endParaRPr dirty="0"/>
          </a:p>
          <a:p>
            <a:r>
              <a:rPr dirty="0"/>
              <a:t>Sources:</a:t>
            </a:r>
          </a:p>
          <a:p>
            <a:r>
              <a:rPr dirty="0"/>
              <a:t>- https://</a:t>
            </a:r>
            <a:r>
              <a:rPr dirty="0" err="1"/>
              <a:t>huggingface.co</a:t>
            </a:r>
            <a:r>
              <a:rPr dirty="0"/>
              <a:t>/learn/agents-course/unit1/agent-steps-and-structure</a:t>
            </a:r>
          </a:p>
          <a:p>
            <a:r>
              <a:rPr dirty="0"/>
              <a:t>- https://</a:t>
            </a:r>
            <a:r>
              <a:rPr dirty="0" err="1"/>
              <a:t>huggingface.co</a:t>
            </a:r>
            <a:r>
              <a:rPr dirty="0"/>
              <a:t>/learn/agents-course/</a:t>
            </a:r>
            <a:r>
              <a:rPr dirty="0" err="1"/>
              <a:t>en</a:t>
            </a:r>
            <a:r>
              <a:rPr dirty="0"/>
              <a:t>/unit1/actions</a:t>
            </a:r>
          </a:p>
          <a:p>
            <a:r>
              <a:rPr dirty="0"/>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b="1" dirty="0"/>
              <a:t>Single call:</a:t>
            </a:r>
            <a:r>
              <a:rPr lang="en-GB" dirty="0"/>
              <a:t> The model receives one prompt and returns one response.</a:t>
            </a:r>
          </a:p>
          <a:p>
            <a:pPr lvl="0"/>
            <a:r>
              <a:rPr lang="en-GB" b="1" dirty="0"/>
              <a:t>Fixed chain:</a:t>
            </a:r>
            <a:r>
              <a:rPr lang="en-GB" dirty="0"/>
              <a:t> The system follows a predetermined sequence of steps.</a:t>
            </a:r>
          </a:p>
          <a:p>
            <a:pPr lvl="0"/>
            <a:r>
              <a:rPr lang="en-GB" b="1" dirty="0"/>
              <a:t>Router:</a:t>
            </a:r>
            <a:r>
              <a:rPr lang="en-GB" dirty="0"/>
              <a:t> The model chooses between several predefined paths.</a:t>
            </a:r>
          </a:p>
          <a:p>
            <a:pPr lvl="0"/>
            <a:r>
              <a:rPr lang="en-GB" b="1" dirty="0"/>
              <a:t>Tool agent:</a:t>
            </a:r>
            <a:r>
              <a:rPr lang="en-GB" dirty="0"/>
              <a:t> The model chooses which tools to use and may repeat actions.</a:t>
            </a:r>
          </a:p>
          <a:p>
            <a:pPr lvl="0"/>
            <a:r>
              <a:rPr lang="en-GB" b="1" dirty="0"/>
              <a:t>Long-running agent:</a:t>
            </a:r>
            <a:r>
              <a:rPr lang="en-GB" dirty="0"/>
              <a:t> The system works across many steps, maintains state and adapts its plan over time.</a:t>
            </a:r>
          </a:p>
          <a:p>
            <a:r>
              <a:rPr lang="en-GB" dirty="0"/>
              <a:t>Moving from left to right gives the system more freedom to choose what happens next. It also increases the need for:</a:t>
            </a:r>
          </a:p>
          <a:p>
            <a:pPr lvl="0"/>
            <a:r>
              <a:rPr lang="en-GB" dirty="0"/>
              <a:t>spending and step limits;</a:t>
            </a:r>
          </a:p>
          <a:p>
            <a:pPr lvl="0"/>
            <a:r>
              <a:rPr lang="en-GB" dirty="0"/>
              <a:t>permission controls;</a:t>
            </a:r>
          </a:p>
          <a:p>
            <a:pPr lvl="0"/>
            <a:r>
              <a:rPr lang="en-GB" dirty="0"/>
              <a:t>human approval;</a:t>
            </a:r>
          </a:p>
          <a:p>
            <a:pPr lvl="0"/>
            <a:r>
              <a:rPr lang="en-GB" dirty="0"/>
              <a:t>monitoring and evaluation.</a:t>
            </a:r>
          </a:p>
          <a:p>
            <a:r>
              <a:rPr lang="en-GB" dirty="0"/>
              <a:t>The slide’s message is: </a:t>
            </a:r>
            <a:r>
              <a:rPr lang="en-GB" b="1" dirty="0"/>
              <a:t>use only as much autonomy as the task requires.</a:t>
            </a:r>
            <a:r>
              <a:rPr lang="en-GB" dirty="0"/>
              <a:t> A fixed workflow is often sufficient; a long-running agent introduces more cost and more ways to fail.</a:t>
            </a:r>
          </a:p>
          <a:p>
            <a:endParaRPr dirty="0"/>
          </a:p>
          <a:p>
            <a:r>
              <a:rPr dirty="0"/>
              <a:t>Sources:</a:t>
            </a:r>
          </a:p>
          <a:p>
            <a:r>
              <a:rPr dirty="0"/>
              <a:t>- https://</a:t>
            </a:r>
            <a:r>
              <a:rPr dirty="0" err="1"/>
              <a:t>huggingface.co</a:t>
            </a:r>
            <a:r>
              <a:rPr dirty="0"/>
              <a:t>/learn/agents-course/unit2/introduction</a:t>
            </a:r>
          </a:p>
          <a:p>
            <a:r>
              <a:rPr dirty="0"/>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b="0" dirty="0"/>
              <a:t>Thought: The model decides what should happen next.</a:t>
            </a:r>
          </a:p>
          <a:p>
            <a:pPr lvl="0"/>
            <a:r>
              <a:rPr lang="en-GB" b="0" dirty="0"/>
              <a:t>Action: It requests a tool, such as web search, database retrieval or calculation.</a:t>
            </a:r>
          </a:p>
          <a:p>
            <a:pPr lvl="0"/>
            <a:r>
              <a:rPr lang="en-GB" b="0" dirty="0"/>
              <a:t>Observation: The tool returns a real result.</a:t>
            </a:r>
          </a:p>
          <a:p>
            <a:pPr lvl="0"/>
            <a:r>
              <a:rPr lang="en-GB" b="0" dirty="0"/>
              <a:t>The result feeds back into the next thought, and the cycle repeats.</a:t>
            </a:r>
          </a:p>
          <a:p>
            <a:r>
              <a:rPr lang="en-GB" b="0" dirty="0"/>
              <a:t>Example:</a:t>
            </a:r>
          </a:p>
          <a:p>
            <a:r>
              <a:rPr lang="en-GB" b="0" dirty="0"/>
              <a:t>Thought: I need recent evidence about this material.</a:t>
            </a:r>
            <a:br>
              <a:rPr lang="en-GB" b="0" dirty="0"/>
            </a:br>
            <a:r>
              <a:rPr lang="en-GB" b="0" dirty="0"/>
              <a:t>Action: Search the literature database.</a:t>
            </a:r>
            <a:br>
              <a:rPr lang="en-GB" b="0" dirty="0"/>
            </a:br>
            <a:r>
              <a:rPr lang="en-GB" b="0" dirty="0"/>
              <a:t>Observation: Five relevant papers were found.</a:t>
            </a:r>
            <a:br>
              <a:rPr lang="en-GB" b="0" dirty="0"/>
            </a:br>
            <a:r>
              <a:rPr lang="en-GB" b="0" dirty="0"/>
              <a:t>Next thought: Two papers directly address safety, so I should inspect those first.</a:t>
            </a:r>
          </a:p>
          <a:p>
            <a:r>
              <a:rPr lang="en-GB" b="0" dirty="0"/>
              <a:t>The important distinction is that the agent does not simply produce one long answer from memory. It alternates between making a decision and obtaining evidence from its environment.</a:t>
            </a:r>
          </a:p>
          <a:p>
            <a:r>
              <a:rPr lang="en-GB" b="0" dirty="0"/>
              <a:t>The word “thought” can be misleading. Here, it means the model’s proposed next step—not necessarily hidden internal reasoning.</a:t>
            </a:r>
          </a:p>
          <a:p>
            <a:endParaRPr dirty="0"/>
          </a:p>
          <a:p>
            <a:r>
              <a:rPr dirty="0"/>
              <a:t>Sources:</a:t>
            </a:r>
          </a:p>
          <a:p>
            <a:r>
              <a:rPr dirty="0"/>
              <a:t>- https://</a:t>
            </a:r>
            <a:r>
              <a:rPr dirty="0" err="1"/>
              <a:t>huggingface.co</a:t>
            </a:r>
            <a:r>
              <a:rPr dirty="0"/>
              <a:t>/learn/agents-course/unit1/agent-steps-and-structure</a:t>
            </a:r>
          </a:p>
          <a:p>
            <a:r>
              <a:rPr dirty="0"/>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information the system preserves between steps so it can continue working coherently.</a:t>
            </a:r>
          </a:p>
          <a:p>
            <a:r>
              <a:rPr lang="en-GB" dirty="0"/>
              <a:t>The agent should retain:</a:t>
            </a:r>
          </a:p>
          <a:p>
            <a:pPr lvl="0"/>
            <a:r>
              <a:rPr lang="en-GB" b="1" dirty="0"/>
              <a:t>Original goal:</a:t>
            </a:r>
            <a:r>
              <a:rPr lang="en-GB" dirty="0"/>
              <a:t> The task it is trying to complete.</a:t>
            </a:r>
          </a:p>
          <a:p>
            <a:pPr lvl="0"/>
            <a:r>
              <a:rPr lang="en-GB" b="1" dirty="0"/>
              <a:t>Current plan:</a:t>
            </a:r>
            <a:r>
              <a:rPr lang="en-GB" dirty="0"/>
              <a:t> Its present approach and remaining steps.</a:t>
            </a:r>
          </a:p>
          <a:p>
            <a:pPr lvl="0"/>
            <a:r>
              <a:rPr lang="en-GB" b="1" dirty="0"/>
              <a:t>Tool results:</a:t>
            </a:r>
            <a:r>
              <a:rPr lang="en-GB" dirty="0"/>
              <a:t> Raw outputs from searches, calculations or APIs.</a:t>
            </a:r>
          </a:p>
          <a:p>
            <a:pPr lvl="0"/>
            <a:r>
              <a:rPr lang="en-GB" b="1" dirty="0"/>
              <a:t>Errors:</a:t>
            </a:r>
            <a:r>
              <a:rPr lang="en-GB" dirty="0"/>
              <a:t> Failed actions and their causes.</a:t>
            </a:r>
          </a:p>
          <a:p>
            <a:pPr lvl="0"/>
            <a:r>
              <a:rPr lang="en-GB" b="1" dirty="0"/>
              <a:t>Evidence:</a:t>
            </a:r>
            <a:r>
              <a:rPr lang="en-GB" dirty="0"/>
              <a:t> Relevant facts, documents and citations collected so far.</a:t>
            </a:r>
          </a:p>
          <a:p>
            <a:pPr lvl="0"/>
            <a:r>
              <a:rPr lang="en-GB" b="1" dirty="0"/>
              <a:t>Budget remaining:</a:t>
            </a:r>
            <a:r>
              <a:rPr lang="en-GB" dirty="0"/>
              <a:t> Available steps, time, tokens or money.</a:t>
            </a:r>
          </a:p>
          <a:p>
            <a:r>
              <a:rPr lang="en-GB" dirty="0"/>
              <a:t>For example, after searching scientific papers, the agent’s state might contain:</a:t>
            </a:r>
          </a:p>
          <a:p>
            <a:r>
              <a:rPr lang="en-GB" dirty="0"/>
              <a:t>Goal: assess a battery material</a:t>
            </a:r>
            <a:br>
              <a:rPr lang="en-GB" dirty="0"/>
            </a:br>
            <a:r>
              <a:rPr lang="en-GB" dirty="0"/>
              <a:t>Evidence: three relevant papers</a:t>
            </a:r>
            <a:br>
              <a:rPr lang="en-GB" dirty="0"/>
            </a:br>
            <a:r>
              <a:rPr lang="en-GB" dirty="0"/>
              <a:t>Tool result: extracted performance measurements</a:t>
            </a:r>
            <a:br>
              <a:rPr lang="en-GB" dirty="0"/>
            </a:br>
            <a:r>
              <a:rPr lang="en-GB" dirty="0"/>
              <a:t>Error: one inaccessible paper</a:t>
            </a:r>
            <a:br>
              <a:rPr lang="en-GB" dirty="0"/>
            </a:br>
            <a:r>
              <a:rPr lang="en-GB" dirty="0"/>
              <a:t>Plan: compare reported stability values</a:t>
            </a:r>
            <a:br>
              <a:rPr lang="en-GB" dirty="0"/>
            </a:br>
            <a:r>
              <a:rPr lang="en-GB" dirty="0"/>
              <a:t>Budget: four tool calls remaining</a:t>
            </a:r>
          </a:p>
          <a:p>
            <a:r>
              <a:rPr lang="en-GB" dirty="0"/>
              <a:t>The bottom message means that the agent should keep </a:t>
            </a:r>
            <a:r>
              <a:rPr lang="en-GB" b="1" dirty="0"/>
              <a:t>verifiable results and explicit decisions</a:t>
            </a:r>
            <a:r>
              <a:rPr lang="en-GB" dirty="0"/>
              <a:t>, rather than only a polished summary. Otherwise, important evidence, uncertainty or failures may disappear from its context.</a:t>
            </a:r>
          </a:p>
          <a:p>
            <a:r>
              <a:rPr lang="en-GB" dirty="0"/>
              <a:t>In short: </a:t>
            </a:r>
            <a:r>
              <a:rPr lang="en-GB" b="1" dirty="0"/>
              <a:t>state is the agent’s working record of the task</a:t>
            </a:r>
            <a:endParaRPr lang="en-GB" dirty="0"/>
          </a:p>
          <a:p>
            <a:endParaRPr dirty="0"/>
          </a:p>
          <a:p>
            <a:r>
              <a:rPr dirty="0"/>
              <a:t>Sources:</a:t>
            </a:r>
          </a:p>
          <a:p>
            <a:r>
              <a:rPr dirty="0"/>
              <a:t>- https://</a:t>
            </a:r>
            <a:r>
              <a:rPr dirty="0" err="1"/>
              <a:t>huggingface.co</a:t>
            </a:r>
            <a:r>
              <a:rPr dirty="0"/>
              <a:t>/learn/agents-course/unit2/introduction</a:t>
            </a:r>
          </a:p>
          <a:p>
            <a:r>
              <a:rPr dirty="0"/>
              <a:t>- https://</a:t>
            </a:r>
            <a:r>
              <a:rPr dirty="0" err="1"/>
              <a:t>huggingface.co</a:t>
            </a:r>
            <a:r>
              <a:rPr dirty="0"/>
              <a:t>/docs/</a:t>
            </a:r>
            <a:r>
              <a:rPr dirty="0" err="1"/>
              <a:t>smolagents</a:t>
            </a:r>
            <a:r>
              <a:rPr dirty="0"/>
              <a:t>/main/reference/agents</a:t>
            </a:r>
          </a:p>
          <a:p>
            <a:r>
              <a:rPr dirty="0"/>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ossible</a:t>
            </a:r>
            <a:r>
              <a:rPr lang="en-GB" dirty="0"/>
              <a:t> stopping conditions include:</a:t>
            </a:r>
          </a:p>
          <a:p>
            <a:pPr lvl="0"/>
            <a:r>
              <a:rPr lang="en-GB" b="1" dirty="0"/>
              <a:t>The task has a verifiable result:</a:t>
            </a:r>
            <a:r>
              <a:rPr lang="en-GB" dirty="0"/>
              <a:t> The agent has completed the goal successfully.</a:t>
            </a:r>
          </a:p>
          <a:p>
            <a:pPr lvl="0"/>
            <a:r>
              <a:rPr lang="en-GB" b="1" dirty="0"/>
              <a:t>Step limit reached:</a:t>
            </a:r>
            <a:r>
              <a:rPr lang="en-GB" dirty="0"/>
              <a:t> It has used the maximum permitted number of actions.</a:t>
            </a:r>
          </a:p>
          <a:p>
            <a:pPr lvl="0"/>
            <a:r>
              <a:rPr lang="en-GB" b="1" dirty="0"/>
              <a:t>Time or cost exhausted:</a:t>
            </a:r>
            <a:r>
              <a:rPr lang="en-GB" dirty="0"/>
              <a:t> Continuing would exceed the available budget.</a:t>
            </a:r>
          </a:p>
          <a:p>
            <a:pPr lvl="0"/>
            <a:r>
              <a:rPr lang="en-GB" b="1" dirty="0"/>
              <a:t>Repeated actions detected:</a:t>
            </a:r>
            <a:r>
              <a:rPr lang="en-GB" dirty="0"/>
              <a:t> The agent appears stuck in a loop.</a:t>
            </a:r>
          </a:p>
          <a:p>
            <a:pPr lvl="0"/>
            <a:r>
              <a:rPr lang="en-GB" b="1" dirty="0"/>
              <a:t>Human approval required:</a:t>
            </a:r>
            <a:r>
              <a:rPr lang="en-GB" dirty="0"/>
              <a:t> The next action is consequential and needs authorization.</a:t>
            </a:r>
          </a:p>
          <a:p>
            <a:r>
              <a:rPr lang="en-GB" dirty="0"/>
              <a:t>There are two different types of stopping condition:</a:t>
            </a:r>
          </a:p>
          <a:p>
            <a:pPr lvl="0"/>
            <a:r>
              <a:rPr lang="en-GB" b="1" dirty="0"/>
              <a:t>Success conditions</a:t>
            </a:r>
            <a:r>
              <a:rPr lang="en-GB" dirty="0"/>
              <a:t> determine that the task is complete.</a:t>
            </a:r>
          </a:p>
          <a:p>
            <a:pPr lvl="0"/>
            <a:r>
              <a:rPr lang="en-GB" b="1" dirty="0"/>
              <a:t>Safety limits</a:t>
            </a:r>
            <a:r>
              <a:rPr lang="en-GB" dirty="0"/>
              <a:t> prevent the agent from continuing indefinitely or taking an unauthorized action.</a:t>
            </a:r>
          </a:p>
          <a:p>
            <a:r>
              <a:rPr lang="en-GB" dirty="0"/>
              <a:t>For example, a research agent might stop successfully when it has found three independent sources supporting its conclusion. It might instead stop defensively after ten searches without finding adequate evidence.</a:t>
            </a:r>
          </a:p>
          <a:p>
            <a:r>
              <a:rPr lang="en-GB" dirty="0"/>
              <a:t>The main message is: </a:t>
            </a:r>
            <a:r>
              <a:rPr lang="en-GB" b="1" dirty="0"/>
              <a:t>a maximum-step limit prevents uncontrolled execution, but the agent also needs a clear definition of successful completion.</a:t>
            </a:r>
            <a:endParaRPr lang="en-GB" dirty="0"/>
          </a:p>
          <a:p>
            <a:endParaRPr b="0" dirty="0"/>
          </a:p>
          <a:p>
            <a:r>
              <a:rPr dirty="0"/>
              <a:t>Sources:</a:t>
            </a:r>
          </a:p>
          <a:p>
            <a:r>
              <a:rPr dirty="0"/>
              <a:t>- https://</a:t>
            </a:r>
            <a:r>
              <a:rPr dirty="0" err="1"/>
              <a:t>huggingface.co</a:t>
            </a:r>
            <a:r>
              <a:rPr dirty="0"/>
              <a:t>/docs/</a:t>
            </a:r>
            <a:r>
              <a:rPr dirty="0" err="1"/>
              <a:t>smolagents</a:t>
            </a:r>
            <a:r>
              <a:rPr dirty="0"/>
              <a:t>/main/reference/agents</a:t>
            </a:r>
          </a:p>
          <a:p>
            <a:r>
              <a:rPr dirty="0"/>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b="0" dirty="0"/>
              <a:t>Looping: It repeats the same action without learning from the result.</a:t>
            </a:r>
          </a:p>
          <a:p>
            <a:pPr lvl="0"/>
            <a:r>
              <a:rPr lang="en-GB" b="0" dirty="0"/>
              <a:t>Bad arguments: It selects the right tool but supplies invalid or unsafe inputs.</a:t>
            </a:r>
          </a:p>
          <a:p>
            <a:pPr lvl="0"/>
            <a:r>
              <a:rPr lang="en-GB" b="0" dirty="0"/>
              <a:t>Error blindness: A tool fails, but the agent behaves as if it succeeded.</a:t>
            </a:r>
          </a:p>
          <a:p>
            <a:pPr lvl="0"/>
            <a:r>
              <a:rPr lang="en-GB" b="0" dirty="0"/>
              <a:t>Early answer: It stops before collecting enough evidence.</a:t>
            </a:r>
          </a:p>
          <a:p>
            <a:pPr lvl="0"/>
            <a:r>
              <a:rPr lang="en-GB" b="0" dirty="0"/>
              <a:t>Context overload: It retains so much irrelevant history that useful information becomes difficult to identify.</a:t>
            </a:r>
          </a:p>
          <a:p>
            <a:r>
              <a:rPr lang="en-GB" b="0" dirty="0"/>
              <a:t>Example:</a:t>
            </a:r>
          </a:p>
          <a:p>
            <a:r>
              <a:rPr lang="en-GB" b="0" dirty="0"/>
              <a:t>The agent searches for a paper, receives no results, ignores that failure and repeats the same search several times. It then produces an answer without adequate evidence.</a:t>
            </a:r>
          </a:p>
          <a:p>
            <a:r>
              <a:rPr lang="en-GB" b="0" dirty="0"/>
              <a:t>These problems are difficult to diagnose if we record only the final answer. We need the complete execution trace, including:</a:t>
            </a:r>
          </a:p>
          <a:p>
            <a:pPr lvl="0"/>
            <a:r>
              <a:rPr lang="en-GB" b="0" dirty="0"/>
              <a:t>the model’s requested actions;</a:t>
            </a:r>
          </a:p>
          <a:p>
            <a:pPr lvl="0"/>
            <a:r>
              <a:rPr lang="en-GB" b="0" dirty="0"/>
              <a:t>tool arguments;</a:t>
            </a:r>
          </a:p>
          <a:p>
            <a:pPr lvl="0"/>
            <a:r>
              <a:rPr lang="en-GB" b="0" dirty="0"/>
              <a:t>tool results and errors;</a:t>
            </a:r>
          </a:p>
          <a:p>
            <a:pPr lvl="0"/>
            <a:r>
              <a:rPr lang="en-GB" b="0" dirty="0"/>
              <a:t>state changes;</a:t>
            </a:r>
          </a:p>
          <a:p>
            <a:pPr lvl="0"/>
            <a:r>
              <a:rPr lang="en-GB" b="0" dirty="0"/>
              <a:t>the final stopping reason.</a:t>
            </a:r>
          </a:p>
          <a:p>
            <a:r>
              <a:rPr lang="en-GB" b="0" dirty="0"/>
              <a:t>The slide’s main message is: an agent can produce an acceptable-looking answer even when the process behind it is unreliable.</a:t>
            </a:r>
          </a:p>
          <a:p>
            <a:endParaRPr b="0" dirty="0"/>
          </a:p>
          <a:p>
            <a:r>
              <a:rPr b="0" dirty="0"/>
              <a:t>Sources:</a:t>
            </a:r>
          </a:p>
          <a:p>
            <a:r>
              <a:rPr b="0" dirty="0"/>
              <a:t>- https://</a:t>
            </a:r>
            <a:r>
              <a:rPr b="0" dirty="0" err="1"/>
              <a:t>huggingface.co</a:t>
            </a:r>
            <a:r>
              <a:rPr b="0" dirty="0"/>
              <a:t>/learn/agents-course/</a:t>
            </a:r>
            <a:r>
              <a:rPr b="0" dirty="0" err="1"/>
              <a:t>en</a:t>
            </a:r>
            <a:r>
              <a:rPr b="0" dirty="0"/>
              <a:t>/bonus-unit2/what-is-agent-observability-and-evaluation</a:t>
            </a:r>
          </a:p>
          <a:p>
            <a:r>
              <a:rPr b="0" dirty="0"/>
              <a:t>- https://</a:t>
            </a:r>
            <a:r>
              <a:rPr b="0" dirty="0" err="1"/>
              <a:t>huggingface.co</a:t>
            </a:r>
            <a:r>
              <a:rPr b="0" dirty="0"/>
              <a:t>/docs/</a:t>
            </a:r>
            <a:r>
              <a:rPr b="0" dirty="0" err="1"/>
              <a:t>smolagents</a:t>
            </a:r>
            <a:r>
              <a:rPr b="0" dirty="0"/>
              <a:t>/main/reference/agents</a:t>
            </a:r>
          </a:p>
          <a:p>
            <a:r>
              <a:rPr b="0" dirty="0"/>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A language model can generate text and make decisions, but tools let the agent access information or affect the outside world:</a:t>
            </a:r>
          </a:p>
          <a:p>
            <a:pPr lvl="0"/>
            <a:r>
              <a:rPr lang="en-GB" b="0" dirty="0"/>
              <a:t>Search: Obtain current public information.</a:t>
            </a:r>
          </a:p>
          <a:p>
            <a:pPr lvl="0"/>
            <a:r>
              <a:rPr lang="en-GB" b="0" dirty="0"/>
              <a:t>Retrieval: Access private documents or databases.</a:t>
            </a:r>
          </a:p>
          <a:p>
            <a:pPr lvl="0"/>
            <a:r>
              <a:rPr lang="en-GB" b="0" dirty="0"/>
              <a:t>Calculator: Perform exact computations.</a:t>
            </a:r>
          </a:p>
          <a:p>
            <a:pPr lvl="0"/>
            <a:r>
              <a:rPr lang="en-GB" b="0" dirty="0"/>
              <a:t>API: Interact with external software and services.</a:t>
            </a:r>
          </a:p>
          <a:p>
            <a:pPr lvl="0"/>
            <a:r>
              <a:rPr lang="en-GB" b="0" dirty="0"/>
              <a:t>Files: Read or create documents and other artifacts.</a:t>
            </a:r>
          </a:p>
          <a:p>
            <a:r>
              <a:rPr lang="en-GB" b="0" dirty="0"/>
              <a:t>For example, a research agent might:</a:t>
            </a:r>
          </a:p>
          <a:p>
            <a:r>
              <a:rPr lang="en-GB" b="0" dirty="0"/>
              <a:t>search for recent papers → retrieve internal experimental results → calculate summary statistics → create a cited report.</a:t>
            </a:r>
          </a:p>
          <a:p>
            <a:r>
              <a:rPr lang="en-GB" b="0" dirty="0"/>
              <a:t>The main principle is: give the agent a tool when it needs a capability the model cannot perform reliably by itself.</a:t>
            </a:r>
          </a:p>
          <a:p>
            <a:r>
              <a:rPr lang="en-GB" b="0" dirty="0"/>
              <a:t>A model should not estimate an exact calculation, invent current information or pretend that it has updated an external system. It should use the relevant tool and work from the returned result.</a:t>
            </a:r>
          </a:p>
          <a:p>
            <a:endParaRPr dirty="0"/>
          </a:p>
          <a:p>
            <a:r>
              <a:rPr dirty="0"/>
              <a:t>Sources:</a:t>
            </a:r>
          </a:p>
          <a:p>
            <a:r>
              <a:rPr dirty="0"/>
              <a:t>- https://</a:t>
            </a:r>
            <a:r>
              <a:rPr dirty="0" err="1"/>
              <a:t>huggingface.co</a:t>
            </a:r>
            <a:r>
              <a:rPr dirty="0"/>
              <a:t>/learn/agents-course/</a:t>
            </a:r>
            <a:r>
              <a:rPr dirty="0" err="1"/>
              <a:t>en</a:t>
            </a:r>
            <a:r>
              <a:rPr dirty="0"/>
              <a:t>/unit1/tools</a:t>
            </a:r>
          </a:p>
          <a:p>
            <a:r>
              <a:rPr dirty="0"/>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Using the example tool </a:t>
            </a:r>
            <a:r>
              <a:rPr lang="en-GB" sz="1200" b="0" kern="1200" dirty="0" err="1"/>
              <a:t>search_papers</a:t>
            </a:r>
            <a:r>
              <a:rPr lang="en-GB" b="0" dirty="0"/>
              <a:t>, a good tool needs:</a:t>
            </a:r>
          </a:p>
          <a:p>
            <a:pPr lvl="0"/>
            <a:r>
              <a:rPr lang="en-GB" b="0" dirty="0"/>
              <a:t>Clear name: The model should understand its purpose from the name.</a:t>
            </a:r>
          </a:p>
          <a:p>
            <a:pPr lvl="0"/>
            <a:r>
              <a:rPr lang="en-GB" b="0" dirty="0"/>
              <a:t>Specific description: Explain what the tool does and when it should be used.</a:t>
            </a:r>
          </a:p>
          <a:p>
            <a:pPr lvl="0"/>
            <a:r>
              <a:rPr lang="en-GB" b="0" dirty="0"/>
              <a:t>Typed inputs: Define required arguments such as </a:t>
            </a:r>
            <a:r>
              <a:rPr lang="en-GB" sz="1200" b="0" kern="1200" dirty="0"/>
              <a:t>query: string</a:t>
            </a:r>
            <a:r>
              <a:rPr lang="en-GB" b="0" dirty="0"/>
              <a:t> and </a:t>
            </a:r>
            <a:r>
              <a:rPr lang="en-GB" sz="1200" b="0" kern="1200" dirty="0"/>
              <a:t>year: integer</a:t>
            </a:r>
            <a:r>
              <a:rPr lang="en-GB" b="0" dirty="0"/>
              <a:t>.</a:t>
            </a:r>
          </a:p>
          <a:p>
            <a:pPr lvl="0"/>
            <a:r>
              <a:rPr lang="en-GB" b="0" dirty="0"/>
              <a:t>Defined output: Specify what the tool returns, such as a list of papers with titles and identifiers.</a:t>
            </a:r>
          </a:p>
          <a:p>
            <a:pPr lvl="0"/>
            <a:r>
              <a:rPr lang="en-GB" b="0" dirty="0"/>
              <a:t>Failure behaviour: Explain how errors, empty results and timeouts are returned.</a:t>
            </a:r>
          </a:p>
          <a:p>
            <a:r>
              <a:rPr lang="en-GB" b="0" dirty="0"/>
              <a:t>Example:</a:t>
            </a:r>
          </a:p>
          <a:p>
            <a:pPr rtl="0"/>
            <a:r>
              <a:rPr lang="en-GB" sz="1200" b="0" kern="1200" dirty="0" err="1"/>
              <a:t>search_papers</a:t>
            </a:r>
            <a:r>
              <a:rPr lang="en-GB" sz="1200" b="0" kern="1200" dirty="0"/>
              <a:t>(</a:t>
            </a:r>
          </a:p>
          <a:p>
            <a:pPr rtl="0"/>
            <a:r>
              <a:rPr lang="en-GB" sz="1200" b="0" kern="1200" dirty="0"/>
              <a:t>    query: string,</a:t>
            </a:r>
          </a:p>
          <a:p>
            <a:pPr rtl="0"/>
            <a:r>
              <a:rPr lang="en-GB" sz="1200" b="0" kern="1200" dirty="0"/>
              <a:t>    </a:t>
            </a:r>
            <a:r>
              <a:rPr lang="en-GB" sz="1200" b="0" kern="1200" dirty="0" err="1"/>
              <a:t>year_from</a:t>
            </a:r>
            <a:r>
              <a:rPr lang="en-GB" sz="1200" b="0" kern="1200" dirty="0"/>
              <a:t>: integer,</a:t>
            </a:r>
          </a:p>
          <a:p>
            <a:pPr rtl="0"/>
            <a:r>
              <a:rPr lang="en-GB" sz="1200" b="0" kern="1200" dirty="0"/>
              <a:t>    </a:t>
            </a:r>
            <a:r>
              <a:rPr lang="en-GB" sz="1200" b="0" kern="1200" dirty="0" err="1"/>
              <a:t>max_results</a:t>
            </a:r>
            <a:r>
              <a:rPr lang="en-GB" sz="1200" b="0" kern="1200" dirty="0"/>
              <a:t>: integer</a:t>
            </a:r>
          </a:p>
          <a:p>
            <a:pPr rtl="0"/>
            <a:r>
              <a:rPr lang="en-GB" sz="1200" b="0" kern="1200" dirty="0"/>
              <a:t>) -&gt; list[Paper]</a:t>
            </a:r>
          </a:p>
          <a:p>
            <a:r>
              <a:rPr lang="en-GB" b="0" dirty="0"/>
              <a:t>A vague tool such as </a:t>
            </a:r>
            <a:r>
              <a:rPr lang="en-GB" sz="1200" b="0" kern="1200" dirty="0" err="1"/>
              <a:t>find_stuff</a:t>
            </a:r>
            <a:r>
              <a:rPr lang="en-GB" sz="1200" b="0" kern="1200" dirty="0"/>
              <a:t>(input)</a:t>
            </a:r>
            <a:r>
              <a:rPr lang="en-GB" b="0" dirty="0"/>
              <a:t> gives the model little guidance and makes validation difficult. A precise contract helps the model select the right tool, construct valid arguments and interpret the result.</a:t>
            </a:r>
          </a:p>
          <a:p>
            <a:r>
              <a:rPr lang="en-GB" b="0" dirty="0"/>
              <a:t>The slide’s main message is: tool design is similar to API design—the contract must be clear to both the model and the runtime.</a:t>
            </a:r>
          </a:p>
          <a:p>
            <a:endParaRPr dirty="0"/>
          </a:p>
          <a:p>
            <a:r>
              <a:rPr dirty="0"/>
              <a:t>Sources:</a:t>
            </a:r>
          </a:p>
          <a:p>
            <a:r>
              <a:rPr dirty="0"/>
              <a:t>- https://</a:t>
            </a:r>
            <a:r>
              <a:rPr dirty="0" err="1"/>
              <a:t>huggingface.co</a:t>
            </a:r>
            <a:r>
              <a:rPr dirty="0"/>
              <a:t>/learn/agents-course/</a:t>
            </a:r>
            <a:r>
              <a:rPr dirty="0" err="1"/>
              <a:t>en</a:t>
            </a:r>
            <a:r>
              <a:rPr dirty="0"/>
              <a:t>/unit1/tools</a:t>
            </a:r>
          </a:p>
          <a:p>
            <a:r>
              <a:rPr dirty="0"/>
              <a:t>- https://</a:t>
            </a:r>
            <a:r>
              <a:rPr dirty="0" err="1"/>
              <a:t>huggingface.co</a:t>
            </a:r>
            <a:r>
              <a:rPr dirty="0"/>
              <a:t>/docs/</a:t>
            </a:r>
            <a:r>
              <a:rPr dirty="0" err="1"/>
              <a:t>smolagents</a:t>
            </a:r>
            <a:r>
              <a:rPr dirty="0"/>
              <a:t>/reference/tools</a:t>
            </a:r>
          </a:p>
          <a:p>
            <a:r>
              <a:rPr dirty="0"/>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1.5 minutes</a:t>
            </a:r>
          </a:p>
          <a:p>
            <a:endParaRPr/>
          </a:p>
          <a:p>
            <a:r>
              <a:t>Talk track:</a:t>
            </a:r>
          </a:p>
          <a:p>
            <a:r>
              <a:t>The model does not directly execute the tool. It emits a representation of the desired call. The runtime parses, validates and executes it before adding the real result to context.</a:t>
            </a:r>
          </a:p>
          <a:p>
            <a:endParaRPr/>
          </a:p>
          <a:p>
            <a:r>
              <a:t>Sources:</a:t>
            </a:r>
          </a:p>
          <a:p>
            <a:r>
              <a:t>- https://huggingface.co/learn/agents-course/en/unit1/tools</a:t>
            </a:r>
          </a:p>
          <a:p>
            <a:r>
              <a:t>- https://huggingface.co/learn/agents-course/en/unit1/actions</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Talk track:</a:t>
            </a:r>
          </a:p>
          <a:p>
            <a:r>
              <a:t>Hugging Face smolagents supports both CodeAgent and ToolCallingAgent. Code can express multi-step computation compactly, but it also expands the security surface.</a:t>
            </a:r>
          </a:p>
          <a:p>
            <a:endParaRPr/>
          </a:p>
          <a:p>
            <a:r>
              <a:t>Sources:</a:t>
            </a:r>
          </a:p>
          <a:p>
            <a:r>
              <a:t>- https://huggingface.co/learn/agents-course/en/unit2/smolagents/introduction</a:t>
            </a:r>
          </a:p>
          <a:p>
            <a:r>
              <a:t>- https://huggingface.co/docs/smolagents/main/reference/agents</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Talk track:</a:t>
            </a:r>
          </a:p>
          <a:p>
            <a:r>
              <a:t>Approval should sit between a validated proposal and execution. The user must see the concrete action, target and important parameters rather than a vague model-written description.</a:t>
            </a:r>
          </a:p>
          <a:p>
            <a:endParaRPr/>
          </a:p>
          <a:p>
            <a:r>
              <a:t>Sources:</a:t>
            </a:r>
          </a:p>
          <a:p>
            <a:r>
              <a:t>- https://huggingface.co/docs/smolagents/main/tutorials/secure_code_execution</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Talk track:</a:t>
            </a:r>
          </a:p>
          <a:p>
            <a:r>
              <a:t>Clarify three often-confused ideas. Context is temporary input. Retrieval is a search process. Memory is a design decision about what to preserve for later use.</a:t>
            </a:r>
          </a:p>
          <a:p>
            <a:endParaRPr/>
          </a:p>
          <a:p>
            <a:r>
              <a:t>Sources:</a:t>
            </a:r>
          </a:p>
          <a:p>
            <a:r>
              <a:t>- https://huggingface.co/learn/agents-course/unit3/agentic-rag/agentic-rag</a:t>
            </a:r>
          </a:p>
          <a:p>
            <a:r>
              <a:t>- https://huggingface.co/learn/agents-course/unit2/introduction</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1.5 minutes</a:t>
            </a:r>
          </a:p>
          <a:p>
            <a:endParaRPr/>
          </a:p>
          <a:p>
            <a:r>
              <a:t>Talk track:</a:t>
            </a:r>
          </a:p>
          <a:p>
            <a:r>
              <a:t>In a conventional RAG pipeline, the application retrieves first and then asks the model to answer from the retrieved material. The model does not choose whether or how to retrieve.</a:t>
            </a:r>
          </a:p>
          <a:p>
            <a:endParaRPr/>
          </a:p>
          <a:p>
            <a:r>
              <a:t>Sources:</a:t>
            </a:r>
          </a:p>
          <a:p>
            <a:r>
              <a:t>- https://huggingface.co/learn/agents-course/unit3/agentic-rag/agentic-rag</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Talk track:</a:t>
            </a:r>
          </a:p>
          <a:p>
            <a:r>
              <a:t>Agentic RAG lets the model decide whether to retrieve, which source to use and whether the first result is sufficient. This flexibility improves coverage but adds tool-selection and stopping failures.</a:t>
            </a:r>
          </a:p>
          <a:p>
            <a:endParaRPr/>
          </a:p>
          <a:p>
            <a:r>
              <a:t>Sources:</a:t>
            </a:r>
          </a:p>
          <a:p>
            <a:r>
              <a:t>- https://huggingface.co/learn/agents-course/unit3/agentic-rag/agentic-rag</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1.5 minutes</a:t>
            </a:r>
          </a:p>
          <a:p>
            <a:endParaRPr/>
          </a:p>
          <a:p>
            <a:r>
              <a:t>Talk track:</a:t>
            </a:r>
          </a:p>
          <a:p>
            <a:r>
              <a:t>Show how retrieval, tools and human judgment fit together. The agent can organize evidence and compute checks, while a scientist retains responsibility for the experiment and risk assessment.</a:t>
            </a:r>
          </a:p>
          <a:p>
            <a:endParaRPr/>
          </a:p>
          <a:p>
            <a:r>
              <a:t>Sources:</a:t>
            </a:r>
          </a:p>
          <a:p>
            <a:r>
              <a:t>- https://huggingface.co/learn/agents-course/unit3/agentic-rag/agentic-rag</a:t>
            </a:r>
          </a:p>
          <a:p>
            <a:r>
              <a:t>- https://huggingface.co/learn/agents-course/en/unit1/tools</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Talk track:</a:t>
            </a:r>
          </a:p>
          <a:p>
            <a:r>
              <a:t>Introduce smolagents as Hugging Face's lightweight framework. MultiStepAgent manages repeated model decisions, actions, memory steps and termination. CodeAgent and ToolCallingAgent provide different action formats.</a:t>
            </a:r>
          </a:p>
          <a:p>
            <a:endParaRPr/>
          </a:p>
          <a:p>
            <a:r>
              <a:t>Sources:</a:t>
            </a:r>
          </a:p>
          <a:p>
            <a:r>
              <a:t>- https://huggingface.co/learn/agents-course/en/unit2/smolagents/introduction</a:t>
            </a:r>
          </a:p>
          <a:p>
            <a:r>
              <a:t>- https://huggingface.co/docs/smolagents/main/reference/agents</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Talk track:</a:t>
            </a:r>
          </a:p>
          <a:p>
            <a:r>
              <a:t>Walk through the code without dwelling on syntax. The function becomes a tool, the agent receives only the tools listed, and max_steps bounds the loop. Mention that exact APIs can change because smolagents remains an evolving library.</a:t>
            </a:r>
          </a:p>
          <a:p>
            <a:endParaRPr/>
          </a:p>
          <a:p>
            <a:r>
              <a:t>Sources:</a:t>
            </a:r>
          </a:p>
          <a:p>
            <a:r>
              <a:t>- https://huggingface.co/learn/agents-course/en/unit2/smolagents/introduction</a:t>
            </a:r>
          </a:p>
          <a:p>
            <a:r>
              <a:t>- https://huggingface.co/docs/smolagents/main/reference/agents</a:t>
            </a:r>
          </a:p>
          <a:p>
            <a:r>
              <a:t>- https://huggingface.co/docs/smolagents/reference/tools</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Talk track:</a:t>
            </a:r>
          </a:p>
          <a:p>
            <a:r>
              <a:t>Code is powerful because it naturally expresses loops, variables and transformations. That same expressiveness requires strict execution controls and, for untrusted workloads, remote isolation.</a:t>
            </a:r>
          </a:p>
          <a:p>
            <a:endParaRPr/>
          </a:p>
          <a:p>
            <a:r>
              <a:t>Sources:</a:t>
            </a:r>
          </a:p>
          <a:p>
            <a:r>
              <a:t>- https://huggingface.co/learn/agents-course/en/unit2/smolagents/introduction</a:t>
            </a:r>
          </a:p>
          <a:p>
            <a:r>
              <a:t>- https://huggingface.co/docs/smolagents/main/tutorials/secure_code_execution</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Talk track:</a:t>
            </a:r>
          </a:p>
          <a:p>
            <a:r>
              <a:t>Hugging Face teaches several frameworks because they solve different problems. Begin with plain code when the workflow is simple. Adopt an abstraction when it improves state management, retries, tools or orchestration.</a:t>
            </a:r>
          </a:p>
          <a:p>
            <a:endParaRPr/>
          </a:p>
          <a:p>
            <a:r>
              <a:t>Sources:</a:t>
            </a:r>
          </a:p>
          <a:p>
            <a:r>
              <a:t>- https://huggingface.co/learn/agents-course/unit2/introduction</a:t>
            </a:r>
          </a:p>
          <a:p>
            <a:r>
              <a:t>- https://huggingface.co/learn/agents-course/en/unit2/smolagents/introduction</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Talk track:</a:t>
            </a:r>
          </a:p>
          <a:p>
            <a:r>
              <a:t>Use multiple agents when specialization changes tools, permissions or context. Avoid splitting a simple task into theatrical roles that only add latency and failure modes.</a:t>
            </a:r>
          </a:p>
          <a:p>
            <a:endParaRPr/>
          </a:p>
          <a:p>
            <a:r>
              <a:t>Sources:</a:t>
            </a:r>
          </a:p>
          <a:p>
            <a:r>
              <a:t>- https://huggingface.co/learn/agents-course/unit2/smolagents/multi_agent_systems</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 minutes</a:t>
            </a:r>
          </a:p>
          <a:p>
            <a:endParaRPr/>
          </a:p>
          <a:p>
            <a:r>
              <a:t>Talk track:</a:t>
            </a:r>
          </a:p>
          <a:p>
            <a:r>
              <a:t>The manager delegates bounded tasks and integrates results. Each specialist should expose a clear capability and return a concise result. The architecture still needs budgets and failure handling across agent boundaries.</a:t>
            </a:r>
          </a:p>
          <a:p>
            <a:endParaRPr/>
          </a:p>
          <a:p>
            <a:r>
              <a:t>Sources:</a:t>
            </a:r>
          </a:p>
          <a:p>
            <a:r>
              <a:t>- https://huggingface.co/learn/agents-course/unit2/smolagents/multi_agent_systems</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 minutes</a:t>
            </a:r>
          </a:p>
          <a:p>
            <a:endParaRPr/>
          </a:p>
          <a:p>
            <a:r>
              <a:t>Talk track:</a:t>
            </a:r>
          </a:p>
          <a:p>
            <a:r>
              <a:t>Treat model-generated actions as untrusted input. Hugging Face explicitly warns that no local Python sandbox can provide complete security. Use remote isolation for higher-risk code execution and enforce resource limits and cleanup.</a:t>
            </a:r>
          </a:p>
          <a:p>
            <a:endParaRPr/>
          </a:p>
          <a:p>
            <a:r>
              <a:t>Sources:</a:t>
            </a:r>
          </a:p>
          <a:p>
            <a:r>
              <a:t>- https://huggingface.co/docs/smolagents/main/tutorials/secure_code_execution</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 minutes</a:t>
            </a:r>
          </a:p>
          <a:p>
            <a:endParaRPr/>
          </a:p>
          <a:p>
            <a:r>
              <a:t>Talk track:</a:t>
            </a:r>
          </a:p>
          <a:p>
            <a:r>
              <a:t>Observability records what happened. Evaluation decides whether it was good. Use offline datasets before deployment, then monitor live traces, costs, latency and user feedback. Add production failures to the offline suite.</a:t>
            </a:r>
          </a:p>
          <a:p>
            <a:endParaRPr/>
          </a:p>
          <a:p>
            <a:r>
              <a:t>Sources:</a:t>
            </a:r>
          </a:p>
          <a:p>
            <a:r>
              <a:t>- https://huggingface.co/learn/agents-course/en/bonus-unit2/what-is-agent-observability-and-evaluation</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 minutes</a:t>
            </a:r>
          </a:p>
          <a:p>
            <a:endParaRPr/>
          </a:p>
          <a:p>
            <a:r>
              <a:t>Talk track:</a:t>
            </a:r>
          </a:p>
          <a:p>
            <a:r>
              <a:t>Summarize the talk with these five design questions, then invite questions. Return to them whenever a proposed agent becomes too complex or difficult to evaluate.</a:t>
            </a:r>
          </a:p>
          <a:p>
            <a:endParaRPr/>
          </a:p>
          <a:p>
            <a:r>
              <a:t>Sources:</a:t>
            </a:r>
          </a:p>
          <a:p>
            <a:r>
              <a:t>- https://huggingface.co/learn/agents-course/en/unit1/introduction</a:t>
            </a:r>
          </a:p>
          <a:p>
            <a:r>
              <a:t>- https://huggingface.co/learn/agents-course/en/unit1/tools</a:t>
            </a:r>
          </a:p>
          <a:p>
            <a:r>
              <a:t>- https://huggingface.co/docs/smolagents/main/tutorials/secure_code_execution</a:t>
            </a:r>
          </a:p>
          <a:p>
            <a:r>
              <a:t>- https://huggingface.co/learn/agents-course/en/bonus-unit2/what-is-agent-observability-and-evaluation</a:t>
            </a:r>
          </a:p>
          <a:p>
            <a:r>
              <a:t>- Visual template supplied by the user: /var/folders/bm/syg20x1127l62ns18wbpflp40000gn/T/codex-clipboard-ea4a9995-99de-4bd9-b0d5-cbd39dd6390d.png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DAF8B97-1DC1-4BB1-A90D-6C210AD1A3F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352D7D2F-B770-4CEB-8FF3-024D42363E2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D3907316-4B6F-4B73-8060-9188AADDBC1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63F9EB5-2B29-4800-8723-66DE4360FAD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E6A74B37-AB8C-462C-B721-EDBFA60AD79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D553E2D-B7B5-4F77-A4A2-140D01E4608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7A60AB7-20CD-4923-9D8B-42CB703A3ED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6C92C3F4-D39D-4468-824F-E320BA92EF8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93FB4A0-F902-4875-B166-A14DCF6EDB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EEE5586B-F100-48B7-A4E7-4C0B3FCEF3D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EA11CE4-1922-4190-BED7-F962D4569116}"/>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018D680F-E17F-438E-92D0-713D4A674054}"/>
              </a:ext>
            </a:extLst>
          </p:cNvPr>
          <p:cNvSpPr>
            <a:spLocks noGrp="1"/>
          </p:cNvSpPr>
          <p:nvPr/>
        </p:nvSpPr>
        <p:spPr>
          <a:xfrm>
            <a:off x="628650" y="1524000"/>
            <a:ext cx="2857500" cy="266700"/>
          </a:xfrm>
          <a:prstGeom prst="rect">
            <a:avLst/>
          </a:prstGeom>
          <a:noFill/>
          <a:ln w="0">
            <a:noFill/>
            <a:prstDash val="solid"/>
          </a:ln>
        </p:spPr>
        <p:txBody>
          <a:bodyPr anchor="ctr"/>
          <a:lstStyle>
            <a:defPPr algn="l">
              <a:defRPr sz="1050" b="1">
                <a:solidFill>
                  <a:srgbClr val="175CE5"/>
                </a:solidFill>
              </a:defRPr>
            </a:defPPr>
          </a:lstStyle>
          <a:p>
            <a:pPr algn="l">
              <a:defRPr sz="1050" b="1">
                <a:solidFill>
                  <a:srgbClr val="175CE5"/>
                </a:solidFill>
              </a:defRPr>
            </a:pPr>
            <a:r>
              <a:rPr sz="1050" b="1">
                <a:solidFill>
                  <a:srgbClr val="175CE5"/>
                </a:solidFill>
              </a:rPr>
              <a:t>ONE-HOUR TALK</a:t>
            </a:r>
          </a:p>
        </p:txBody>
      </p:sp>
      <p:sp>
        <p:nvSpPr>
          <p:cNvPr id="3" name="Rectangle 2">
            <a:extLst>
              <a:ext uri="{FF2B5EF4-FFF2-40B4-BE49-F238E27FC236}">
                <a16:creationId xmlns:a16="http://schemas.microsoft.com/office/drawing/2014/main" id="{6F65D5D3-8C35-439A-8502-EF8B8E57D9D0}"/>
              </a:ext>
            </a:extLst>
          </p:cNvPr>
          <p:cNvSpPr>
            <a:spLocks noGrp="1"/>
          </p:cNvSpPr>
          <p:nvPr/>
        </p:nvSpPr>
        <p:spPr>
          <a:xfrm>
            <a:off x="628650" y="2076450"/>
            <a:ext cx="6762750" cy="723900"/>
          </a:xfrm>
          <a:prstGeom prst="rect">
            <a:avLst/>
          </a:prstGeom>
          <a:noFill/>
          <a:ln w="0">
            <a:noFill/>
            <a:prstDash val="solid"/>
          </a:ln>
        </p:spPr>
        <p:txBody>
          <a:bodyPr anchor="ctr"/>
          <a:lstStyle>
            <a:defPPr algn="l">
              <a:defRPr sz="3675" b="1">
                <a:solidFill>
                  <a:srgbClr val="203D67"/>
                </a:solidFill>
              </a:defRPr>
            </a:defPPr>
          </a:lstStyle>
          <a:p>
            <a:pPr algn="l">
              <a:defRPr sz="3675" b="1">
                <a:solidFill>
                  <a:srgbClr val="203D67"/>
                </a:solidFill>
              </a:defRPr>
            </a:pPr>
            <a:r>
              <a:rPr sz="3675" b="1">
                <a:solidFill>
                  <a:srgbClr val="203D67"/>
                </a:solidFill>
              </a:rPr>
              <a:t>How AI agents work</a:t>
            </a:r>
          </a:p>
        </p:txBody>
      </p:sp>
      <p:sp>
        <p:nvSpPr>
          <p:cNvPr id="4" name="Rectangle 3">
            <a:extLst>
              <a:ext uri="{FF2B5EF4-FFF2-40B4-BE49-F238E27FC236}">
                <a16:creationId xmlns:a16="http://schemas.microsoft.com/office/drawing/2014/main" id="{E3CCD487-0F7F-4C6D-A6E5-0C18504CC09F}"/>
              </a:ext>
            </a:extLst>
          </p:cNvPr>
          <p:cNvSpPr>
            <a:spLocks noGrp="1"/>
          </p:cNvSpPr>
          <p:nvPr/>
        </p:nvSpPr>
        <p:spPr>
          <a:xfrm>
            <a:off x="647700" y="2933700"/>
            <a:ext cx="6191250" cy="514350"/>
          </a:xfrm>
          <a:prstGeom prst="rect">
            <a:avLst/>
          </a:prstGeom>
          <a:noFill/>
          <a:ln w="0">
            <a:noFill/>
            <a:prstDash val="solid"/>
          </a:ln>
        </p:spPr>
        <p:txBody>
          <a:bodyPr anchor="ctr"/>
          <a:lstStyle>
            <a:defPPr algn="l">
              <a:defRPr sz="2025" b="0">
                <a:solidFill>
                  <a:srgbClr val="008A91"/>
                </a:solidFill>
              </a:defRPr>
            </a:defPPr>
          </a:lstStyle>
          <a:p>
            <a:pPr algn="l">
              <a:defRPr sz="2025" b="0">
                <a:solidFill>
                  <a:srgbClr val="008A91"/>
                </a:solidFill>
              </a:defRPr>
            </a:pPr>
            <a:r>
              <a:rPr sz="2025" b="0">
                <a:solidFill>
                  <a:srgbClr val="008A91"/>
                </a:solidFill>
              </a:rPr>
              <a:t>From tool calls to reliable systems</a:t>
            </a:r>
          </a:p>
        </p:txBody>
      </p:sp>
      <p:sp>
        <p:nvSpPr>
          <p:cNvPr id="5" name="Rectangle 4">
            <a:extLst>
              <a:ext uri="{FF2B5EF4-FFF2-40B4-BE49-F238E27FC236}">
                <a16:creationId xmlns:a16="http://schemas.microsoft.com/office/drawing/2014/main" id="{5C810FBB-5D6C-4055-AF29-60A1DABFCD64}"/>
              </a:ext>
            </a:extLst>
          </p:cNvPr>
          <p:cNvSpPr>
            <a:spLocks noGrp="1"/>
          </p:cNvSpPr>
          <p:nvPr/>
        </p:nvSpPr>
        <p:spPr>
          <a:xfrm>
            <a:off x="647700" y="3733800"/>
            <a:ext cx="6477000" cy="781050"/>
          </a:xfrm>
          <a:prstGeom prst="rect">
            <a:avLst/>
          </a:prstGeom>
          <a:noFill/>
          <a:ln w="0">
            <a:noFill/>
            <a:prstDash val="solid"/>
          </a:ln>
        </p:spPr>
        <p:txBody>
          <a:bodyPr anchor="ctr"/>
          <a:lstStyle>
            <a:defPPr algn="l">
              <a:defRPr sz="1500" b="0">
                <a:solidFill>
                  <a:srgbClr val="5E6C80"/>
                </a:solidFill>
              </a:defRPr>
            </a:defPPr>
          </a:lstStyle>
          <a:p>
            <a:pPr algn="l">
              <a:defRPr sz="1500" b="0">
                <a:solidFill>
                  <a:srgbClr val="5E6C80"/>
                </a:solidFill>
              </a:defRPr>
            </a:pPr>
            <a:r>
              <a:rPr sz="1500" b="0">
                <a:solidFill>
                  <a:srgbClr val="5E6C80"/>
                </a:solidFill>
              </a:rPr>
              <a:t>A practical introduction to agent architecture, retrieval, orchestration, safety and evaluation</a:t>
            </a:r>
          </a:p>
        </p:txBody>
      </p:sp>
    </p:spTree>
    <p:extLst>
      <p:ext uri="{BB962C8B-B14F-4D97-AF65-F5344CB8AC3E}">
        <p14:creationId xmlns:p14="http://schemas.microsoft.com/office/powerpoint/2010/main" val="1017709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253BC9B-4FF7-4512-94D0-E8EFDC9D25AE}"/>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EE828E2-00C6-42EB-8F75-DF4FF562B2D8}"/>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The limits of a standalone language model</a:t>
            </a:r>
          </a:p>
        </p:txBody>
      </p:sp>
      <p:sp>
        <p:nvSpPr>
          <p:cNvPr id="3" name="Rectangle 2">
            <a:extLst>
              <a:ext uri="{FF2B5EF4-FFF2-40B4-BE49-F238E27FC236}">
                <a16:creationId xmlns:a16="http://schemas.microsoft.com/office/drawing/2014/main" id="{5C89CAA7-774E-4B21-9F06-B25EF5BDD5B4}"/>
              </a:ext>
            </a:extLst>
          </p:cNvPr>
          <p:cNvSpPr>
            <a:spLocks noGrp="1"/>
          </p:cNvSpPr>
          <p:nvPr/>
        </p:nvSpPr>
        <p:spPr>
          <a:xfrm>
            <a:off x="647700" y="2324100"/>
            <a:ext cx="3619500" cy="228600"/>
          </a:xfrm>
          <a:prstGeom prst="rect">
            <a:avLst/>
          </a:prstGeom>
          <a:noFill/>
          <a:ln w="0">
            <a:noFill/>
            <a:prstDash val="solid"/>
          </a:ln>
        </p:spPr>
        <p:txBody>
          <a:bodyPr anchor="ctr"/>
          <a:lstStyle>
            <a:defPPr algn="l">
              <a:defRPr sz="900" b="1">
                <a:solidFill>
                  <a:srgbClr val="008A91"/>
                </a:solidFill>
              </a:defRPr>
            </a:defPPr>
          </a:lstStyle>
          <a:p>
            <a:pPr algn="l">
              <a:defRPr sz="900" b="1">
                <a:solidFill>
                  <a:srgbClr val="008A91"/>
                </a:solidFill>
              </a:defRPr>
            </a:pPr>
            <a:r>
              <a:rPr sz="900" b="1">
                <a:solidFill>
                  <a:srgbClr val="008A91"/>
                </a:solidFill>
              </a:rPr>
              <a:t>WHY AGENTS</a:t>
            </a:r>
          </a:p>
        </p:txBody>
      </p:sp>
      <p:sp>
        <p:nvSpPr>
          <p:cNvPr id="4" name="Rounded Rectangle 3">
            <a:extLst>
              <a:ext uri="{FF2B5EF4-FFF2-40B4-BE49-F238E27FC236}">
                <a16:creationId xmlns:a16="http://schemas.microsoft.com/office/drawing/2014/main" id="{53A08594-5276-461A-803E-474AFF1AD475}"/>
              </a:ext>
            </a:extLst>
          </p:cNvPr>
          <p:cNvSpPr>
            <a:spLocks noGrp="1"/>
          </p:cNvSpPr>
          <p:nvPr/>
        </p:nvSpPr>
        <p:spPr>
          <a:xfrm>
            <a:off x="4648200" y="3143250"/>
            <a:ext cx="1524000" cy="952500"/>
          </a:xfrm>
          <a:prstGeom prst="roundRect">
            <a:avLst>
              <a:gd name="adj" fmla="val 12000"/>
            </a:avLst>
          </a:prstGeom>
          <a:solidFill>
            <a:srgbClr val="E7EEFC"/>
          </a:solidFill>
          <a:ln w="9525">
            <a:solidFill>
              <a:srgbClr val="B8C9E5"/>
            </a:solidFill>
            <a:prstDash val="solid"/>
          </a:ln>
        </p:spPr>
        <p:txBody>
          <a:bodyPr/>
          <a:lstStyle/>
          <a:p>
            <a:endParaRPr lang="en-US"/>
          </a:p>
        </p:txBody>
      </p:sp>
      <p:sp>
        <p:nvSpPr>
          <p:cNvPr id="5" name="Rectangle 4">
            <a:extLst>
              <a:ext uri="{FF2B5EF4-FFF2-40B4-BE49-F238E27FC236}">
                <a16:creationId xmlns:a16="http://schemas.microsoft.com/office/drawing/2014/main" id="{C364A726-52DF-45CB-A7B9-EBD0CF892A36}"/>
              </a:ext>
            </a:extLst>
          </p:cNvPr>
          <p:cNvSpPr>
            <a:spLocks noGrp="1"/>
          </p:cNvSpPr>
          <p:nvPr/>
        </p:nvSpPr>
        <p:spPr>
          <a:xfrm>
            <a:off x="4724400" y="3200400"/>
            <a:ext cx="1371600" cy="8382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dirty="0">
                <a:solidFill>
                  <a:srgbClr val="203D67"/>
                </a:solidFill>
              </a:rPr>
              <a:t>LANGUAGE</a:t>
            </a:r>
          </a:p>
          <a:p>
            <a:pPr algn="ctr">
              <a:defRPr sz="1350" b="1">
                <a:solidFill>
                  <a:srgbClr val="203D67"/>
                </a:solidFill>
              </a:defRPr>
            </a:pPr>
            <a:r>
              <a:rPr sz="1350" b="1" dirty="0">
                <a:solidFill>
                  <a:srgbClr val="203D67"/>
                </a:solidFill>
              </a:rPr>
              <a:t>MODEL</a:t>
            </a:r>
          </a:p>
        </p:txBody>
      </p:sp>
      <p:sp>
        <p:nvSpPr>
          <p:cNvPr id="6" name="Rectangle 5">
            <a:extLst>
              <a:ext uri="{FF2B5EF4-FFF2-40B4-BE49-F238E27FC236}">
                <a16:creationId xmlns:a16="http://schemas.microsoft.com/office/drawing/2014/main" id="{8FF7C0CF-7189-4665-8363-BEF9A86D5AE7}"/>
              </a:ext>
            </a:extLst>
          </p:cNvPr>
          <p:cNvSpPr>
            <a:spLocks noGrp="1"/>
          </p:cNvSpPr>
          <p:nvPr/>
        </p:nvSpPr>
        <p:spPr>
          <a:xfrm>
            <a:off x="2419350" y="3295650"/>
            <a:ext cx="1238250" cy="304800"/>
          </a:xfrm>
          <a:prstGeom prst="rect">
            <a:avLst/>
          </a:prstGeom>
          <a:noFill/>
          <a:ln w="0">
            <a:noFill/>
            <a:prstDash val="solid"/>
          </a:ln>
        </p:spPr>
        <p:txBody>
          <a:bodyPr anchor="ctr"/>
          <a:lstStyle>
            <a:defPPr algn="ctr">
              <a:defRPr sz="1500" b="1">
                <a:solidFill>
                  <a:srgbClr val="223047"/>
                </a:solidFill>
              </a:defRPr>
            </a:defPPr>
          </a:lstStyle>
          <a:p>
            <a:pPr algn="ctr">
              <a:defRPr sz="1500" b="1">
                <a:solidFill>
                  <a:srgbClr val="223047"/>
                </a:solidFill>
              </a:defRPr>
            </a:pPr>
            <a:r>
              <a:rPr sz="1500" b="1" dirty="0">
                <a:solidFill>
                  <a:srgbClr val="223047"/>
                </a:solidFill>
              </a:rPr>
              <a:t>Prompt</a:t>
            </a:r>
          </a:p>
        </p:txBody>
      </p:sp>
      <p:sp>
        <p:nvSpPr>
          <p:cNvPr id="7" name="Rectangle 6">
            <a:extLst>
              <a:ext uri="{FF2B5EF4-FFF2-40B4-BE49-F238E27FC236}">
                <a16:creationId xmlns:a16="http://schemas.microsoft.com/office/drawing/2014/main" id="{DA4BF6F4-DC29-4A82-99C1-169A138BB62E}"/>
              </a:ext>
            </a:extLst>
          </p:cNvPr>
          <p:cNvSpPr>
            <a:spLocks noGrp="1"/>
          </p:cNvSpPr>
          <p:nvPr/>
        </p:nvSpPr>
        <p:spPr>
          <a:xfrm>
            <a:off x="7239000" y="3295650"/>
            <a:ext cx="1428750" cy="304800"/>
          </a:xfrm>
          <a:prstGeom prst="rect">
            <a:avLst/>
          </a:prstGeom>
          <a:noFill/>
          <a:ln w="0">
            <a:noFill/>
            <a:prstDash val="solid"/>
          </a:ln>
        </p:spPr>
        <p:txBody>
          <a:bodyPr anchor="ctr"/>
          <a:lstStyle>
            <a:defPPr algn="ctr">
              <a:defRPr sz="1500" b="1">
                <a:solidFill>
                  <a:srgbClr val="223047"/>
                </a:solidFill>
              </a:defRPr>
            </a:defPPr>
          </a:lstStyle>
          <a:p>
            <a:pPr algn="ctr">
              <a:defRPr sz="1500" b="1">
                <a:solidFill>
                  <a:srgbClr val="223047"/>
                </a:solidFill>
              </a:defRPr>
            </a:pPr>
            <a:r>
              <a:rPr sz="1500" b="1" dirty="0">
                <a:solidFill>
                  <a:srgbClr val="223047"/>
                </a:solidFill>
              </a:rPr>
              <a:t>Response</a:t>
            </a:r>
          </a:p>
        </p:txBody>
      </p:sp>
      <p:sp>
        <p:nvSpPr>
          <p:cNvPr id="8" name="Rectangle 7">
            <a:extLst>
              <a:ext uri="{FF2B5EF4-FFF2-40B4-BE49-F238E27FC236}">
                <a16:creationId xmlns:a16="http://schemas.microsoft.com/office/drawing/2014/main" id="{B748C3C1-420E-452A-8314-47DD2A7C535E}"/>
              </a:ext>
            </a:extLst>
          </p:cNvPr>
          <p:cNvSpPr>
            <a:spLocks noGrp="1"/>
          </p:cNvSpPr>
          <p:nvPr/>
        </p:nvSpPr>
        <p:spPr>
          <a:xfrm>
            <a:off x="2571750" y="3810000"/>
            <a:ext cx="1047750" cy="28575"/>
          </a:xfrm>
          <a:prstGeom prst="rect">
            <a:avLst/>
          </a:prstGeom>
          <a:solidFill>
            <a:srgbClr val="175CE5"/>
          </a:solidFill>
          <a:ln w="0">
            <a:noFill/>
            <a:prstDash val="solid"/>
          </a:ln>
        </p:spPr>
        <p:txBody>
          <a:bodyPr/>
          <a:lstStyle/>
          <a:p>
            <a:endParaRPr lang="en-US"/>
          </a:p>
        </p:txBody>
      </p:sp>
      <p:sp>
        <p:nvSpPr>
          <p:cNvPr id="9" name="Rectangle 8">
            <a:extLst>
              <a:ext uri="{FF2B5EF4-FFF2-40B4-BE49-F238E27FC236}">
                <a16:creationId xmlns:a16="http://schemas.microsoft.com/office/drawing/2014/main" id="{8662D8E9-6E35-4D2F-AEA6-9A272828614E}"/>
              </a:ext>
            </a:extLst>
          </p:cNvPr>
          <p:cNvSpPr>
            <a:spLocks noGrp="1"/>
          </p:cNvSpPr>
          <p:nvPr/>
        </p:nvSpPr>
        <p:spPr>
          <a:xfrm>
            <a:off x="7239000" y="3810000"/>
            <a:ext cx="1047750" cy="28575"/>
          </a:xfrm>
          <a:prstGeom prst="rect">
            <a:avLst/>
          </a:prstGeom>
          <a:solidFill>
            <a:srgbClr val="175CE5"/>
          </a:solidFill>
          <a:ln w="0">
            <a:noFill/>
            <a:prstDash val="solid"/>
          </a:ln>
        </p:spPr>
        <p:txBody>
          <a:bodyPr/>
          <a:lstStyle/>
          <a:p>
            <a:endParaRPr lang="en-US"/>
          </a:p>
        </p:txBody>
      </p:sp>
      <p:sp>
        <p:nvSpPr>
          <p:cNvPr id="10" name="Rectangle 9">
            <a:extLst>
              <a:ext uri="{FF2B5EF4-FFF2-40B4-BE49-F238E27FC236}">
                <a16:creationId xmlns:a16="http://schemas.microsoft.com/office/drawing/2014/main" id="{1F0CD8D1-04B1-4405-82AC-B88BFBC90412}"/>
              </a:ext>
            </a:extLst>
          </p:cNvPr>
          <p:cNvSpPr>
            <a:spLocks noGrp="1"/>
          </p:cNvSpPr>
          <p:nvPr/>
        </p:nvSpPr>
        <p:spPr>
          <a:xfrm>
            <a:off x="1352550" y="4762500"/>
            <a:ext cx="2095500" cy="342900"/>
          </a:xfrm>
          <a:prstGeom prst="rect">
            <a:avLst/>
          </a:prstGeom>
          <a:noFill/>
          <a:ln w="0">
            <a:noFill/>
            <a:prstDash val="solid"/>
          </a:ln>
        </p:spPr>
        <p:txBody>
          <a:bodyPr anchor="ctr"/>
          <a:lstStyle>
            <a:defPPr algn="ctr">
              <a:defRPr sz="1350" b="1">
                <a:solidFill>
                  <a:srgbClr val="EE7D5B"/>
                </a:solidFill>
              </a:defRPr>
            </a:defPPr>
          </a:lstStyle>
          <a:p>
            <a:pPr algn="ctr">
              <a:defRPr sz="1350" b="1">
                <a:solidFill>
                  <a:srgbClr val="EE7D5B"/>
                </a:solidFill>
              </a:defRPr>
            </a:pPr>
            <a:r>
              <a:rPr sz="1350" b="1">
                <a:solidFill>
                  <a:srgbClr val="EE7D5B"/>
                </a:solidFill>
              </a:rPr>
              <a:t>No live data</a:t>
            </a:r>
          </a:p>
        </p:txBody>
      </p:sp>
      <p:sp>
        <p:nvSpPr>
          <p:cNvPr id="11" name="Rectangle 10">
            <a:extLst>
              <a:ext uri="{FF2B5EF4-FFF2-40B4-BE49-F238E27FC236}">
                <a16:creationId xmlns:a16="http://schemas.microsoft.com/office/drawing/2014/main" id="{1BBFF8F6-DF34-4823-AABB-9E7D353CD2B0}"/>
              </a:ext>
            </a:extLst>
          </p:cNvPr>
          <p:cNvSpPr>
            <a:spLocks noGrp="1"/>
          </p:cNvSpPr>
          <p:nvPr/>
        </p:nvSpPr>
        <p:spPr>
          <a:xfrm>
            <a:off x="4305300" y="4762500"/>
            <a:ext cx="2190750" cy="342900"/>
          </a:xfrm>
          <a:prstGeom prst="rect">
            <a:avLst/>
          </a:prstGeom>
          <a:noFill/>
          <a:ln w="0">
            <a:noFill/>
            <a:prstDash val="solid"/>
          </a:ln>
        </p:spPr>
        <p:txBody>
          <a:bodyPr anchor="ctr"/>
          <a:lstStyle>
            <a:defPPr algn="ctr">
              <a:defRPr sz="1350" b="1">
                <a:solidFill>
                  <a:srgbClr val="EE7D5B"/>
                </a:solidFill>
              </a:defRPr>
            </a:defPPr>
          </a:lstStyle>
          <a:p>
            <a:pPr algn="ctr">
              <a:defRPr sz="1350" b="1">
                <a:solidFill>
                  <a:srgbClr val="EE7D5B"/>
                </a:solidFill>
              </a:defRPr>
            </a:pPr>
            <a:r>
              <a:rPr sz="1350" b="1">
                <a:solidFill>
                  <a:srgbClr val="EE7D5B"/>
                </a:solidFill>
              </a:rPr>
              <a:t>No direct actions</a:t>
            </a:r>
          </a:p>
        </p:txBody>
      </p:sp>
      <p:sp>
        <p:nvSpPr>
          <p:cNvPr id="12" name="Rectangle 11">
            <a:extLst>
              <a:ext uri="{FF2B5EF4-FFF2-40B4-BE49-F238E27FC236}">
                <a16:creationId xmlns:a16="http://schemas.microsoft.com/office/drawing/2014/main" id="{7B660A08-5518-4FCF-8D0B-F549FDD03AA9}"/>
              </a:ext>
            </a:extLst>
          </p:cNvPr>
          <p:cNvSpPr>
            <a:spLocks noGrp="1"/>
          </p:cNvSpPr>
          <p:nvPr/>
        </p:nvSpPr>
        <p:spPr>
          <a:xfrm>
            <a:off x="7353300" y="4762500"/>
            <a:ext cx="2571750" cy="342900"/>
          </a:xfrm>
          <a:prstGeom prst="rect">
            <a:avLst/>
          </a:prstGeom>
          <a:noFill/>
          <a:ln w="0">
            <a:noFill/>
            <a:prstDash val="solid"/>
          </a:ln>
        </p:spPr>
        <p:txBody>
          <a:bodyPr anchor="ctr"/>
          <a:lstStyle>
            <a:defPPr algn="ctr">
              <a:defRPr sz="1350" b="1">
                <a:solidFill>
                  <a:srgbClr val="EE7D5B"/>
                </a:solidFill>
              </a:defRPr>
            </a:defPPr>
          </a:lstStyle>
          <a:p>
            <a:pPr algn="ctr">
              <a:defRPr sz="1350" b="1">
                <a:solidFill>
                  <a:srgbClr val="EE7D5B"/>
                </a:solidFill>
              </a:defRPr>
            </a:pPr>
            <a:r>
              <a:rPr sz="1350" b="1">
                <a:solidFill>
                  <a:srgbClr val="EE7D5B"/>
                </a:solidFill>
              </a:rPr>
              <a:t>No persistent task state</a:t>
            </a:r>
          </a:p>
        </p:txBody>
      </p:sp>
    </p:spTree>
    <p:extLst>
      <p:ext uri="{BB962C8B-B14F-4D97-AF65-F5344CB8AC3E}">
        <p14:creationId xmlns:p14="http://schemas.microsoft.com/office/powerpoint/2010/main" val="1452659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2FF5D3A-E6DD-409B-BE3D-3EF4F0C908DB}"/>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766E9064-191C-423B-B2A2-B430B4BCC936}"/>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What is an AI agent?</a:t>
            </a:r>
          </a:p>
        </p:txBody>
      </p:sp>
      <p:sp>
        <p:nvSpPr>
          <p:cNvPr id="3" name="Rectangle 2">
            <a:extLst>
              <a:ext uri="{FF2B5EF4-FFF2-40B4-BE49-F238E27FC236}">
                <a16:creationId xmlns:a16="http://schemas.microsoft.com/office/drawing/2014/main" id="{9422880D-03C7-47D8-A7BF-41D2C34621B2}"/>
              </a:ext>
            </a:extLst>
          </p:cNvPr>
          <p:cNvSpPr>
            <a:spLocks noGrp="1"/>
          </p:cNvSpPr>
          <p:nvPr/>
        </p:nvSpPr>
        <p:spPr>
          <a:xfrm>
            <a:off x="819150" y="2428875"/>
            <a:ext cx="8858250" cy="838200"/>
          </a:xfrm>
          <a:prstGeom prst="rect">
            <a:avLst/>
          </a:prstGeom>
          <a:noFill/>
          <a:ln w="0">
            <a:noFill/>
            <a:prstDash val="solid"/>
          </a:ln>
        </p:spPr>
        <p:txBody>
          <a:bodyPr anchor="ctr"/>
          <a:lstStyle>
            <a:defPPr algn="l">
              <a:defRPr sz="2175" b="1">
                <a:solidFill>
                  <a:srgbClr val="203D67"/>
                </a:solidFill>
              </a:defRPr>
            </a:defPPr>
          </a:lstStyle>
          <a:p>
            <a:pPr algn="l">
              <a:defRPr sz="2175" b="1">
                <a:solidFill>
                  <a:srgbClr val="203D67"/>
                </a:solidFill>
              </a:defRPr>
            </a:pPr>
            <a:r>
              <a:rPr sz="2175" b="1">
                <a:solidFill>
                  <a:srgbClr val="203D67"/>
                </a:solidFill>
              </a:rPr>
              <a:t>An AI agent is a system that uses a model to choose and perform actions in pursuit of a goal.</a:t>
            </a:r>
          </a:p>
        </p:txBody>
      </p:sp>
      <p:sp>
        <p:nvSpPr>
          <p:cNvPr id="4" name="Rounded Rectangle 3">
            <a:extLst>
              <a:ext uri="{FF2B5EF4-FFF2-40B4-BE49-F238E27FC236}">
                <a16:creationId xmlns:a16="http://schemas.microsoft.com/office/drawing/2014/main" id="{580F1A3F-1400-49F8-84E1-C98750DE3ADB}"/>
              </a:ext>
            </a:extLst>
          </p:cNvPr>
          <p:cNvSpPr>
            <a:spLocks noGrp="1"/>
          </p:cNvSpPr>
          <p:nvPr/>
        </p:nvSpPr>
        <p:spPr>
          <a:xfrm>
            <a:off x="952500" y="3762375"/>
            <a:ext cx="1428750" cy="685800"/>
          </a:xfrm>
          <a:prstGeom prst="roundRect">
            <a:avLst>
              <a:gd name="adj" fmla="val 16667"/>
            </a:avLst>
          </a:prstGeom>
          <a:solidFill>
            <a:srgbClr val="E7EEFC"/>
          </a:solidFill>
          <a:ln w="9525">
            <a:solidFill>
              <a:srgbClr val="B8C9E5"/>
            </a:solidFill>
            <a:prstDash val="solid"/>
          </a:ln>
        </p:spPr>
        <p:txBody>
          <a:bodyPr/>
          <a:lstStyle/>
          <a:p>
            <a:endParaRPr lang="en-US"/>
          </a:p>
        </p:txBody>
      </p:sp>
      <p:sp>
        <p:nvSpPr>
          <p:cNvPr id="5" name="Rectangle 4">
            <a:extLst>
              <a:ext uri="{FF2B5EF4-FFF2-40B4-BE49-F238E27FC236}">
                <a16:creationId xmlns:a16="http://schemas.microsoft.com/office/drawing/2014/main" id="{B8BD3099-3181-48D5-8DF4-D6696D364AEE}"/>
              </a:ext>
            </a:extLst>
          </p:cNvPr>
          <p:cNvSpPr>
            <a:spLocks noGrp="1"/>
          </p:cNvSpPr>
          <p:nvPr/>
        </p:nvSpPr>
        <p:spPr>
          <a:xfrm>
            <a:off x="1028700" y="3819525"/>
            <a:ext cx="1276350" cy="5715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GOAL</a:t>
            </a:r>
          </a:p>
        </p:txBody>
      </p:sp>
      <p:sp>
        <p:nvSpPr>
          <p:cNvPr id="6" name="Rounded Rectangle 5">
            <a:extLst>
              <a:ext uri="{FF2B5EF4-FFF2-40B4-BE49-F238E27FC236}">
                <a16:creationId xmlns:a16="http://schemas.microsoft.com/office/drawing/2014/main" id="{F0BD7389-3598-47CD-B1F2-8345B19D8112}"/>
              </a:ext>
            </a:extLst>
          </p:cNvPr>
          <p:cNvSpPr>
            <a:spLocks noGrp="1"/>
          </p:cNvSpPr>
          <p:nvPr/>
        </p:nvSpPr>
        <p:spPr>
          <a:xfrm>
            <a:off x="3048000" y="3762375"/>
            <a:ext cx="1714500" cy="685800"/>
          </a:xfrm>
          <a:prstGeom prst="roundRect">
            <a:avLst>
              <a:gd name="adj" fmla="val 16667"/>
            </a:avLst>
          </a:prstGeom>
          <a:solidFill>
            <a:srgbClr val="E1F4F3"/>
          </a:solidFill>
          <a:ln w="9525">
            <a:solidFill>
              <a:srgbClr val="B8C9E5"/>
            </a:solidFill>
            <a:prstDash val="solid"/>
          </a:ln>
        </p:spPr>
        <p:txBody>
          <a:bodyPr/>
          <a:lstStyle/>
          <a:p>
            <a:endParaRPr lang="en-US"/>
          </a:p>
        </p:txBody>
      </p:sp>
      <p:sp>
        <p:nvSpPr>
          <p:cNvPr id="7" name="Rectangle 6">
            <a:extLst>
              <a:ext uri="{FF2B5EF4-FFF2-40B4-BE49-F238E27FC236}">
                <a16:creationId xmlns:a16="http://schemas.microsoft.com/office/drawing/2014/main" id="{D8DFF5EB-253F-4130-BDC2-5C1CE5C0ECFD}"/>
              </a:ext>
            </a:extLst>
          </p:cNvPr>
          <p:cNvSpPr>
            <a:spLocks noGrp="1"/>
          </p:cNvSpPr>
          <p:nvPr/>
        </p:nvSpPr>
        <p:spPr>
          <a:xfrm>
            <a:off x="3124200" y="3819525"/>
            <a:ext cx="1562100" cy="57150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CHOOSE</a:t>
            </a:r>
          </a:p>
          <a:p>
            <a:pPr algn="ctr">
              <a:defRPr sz="1200" b="1">
                <a:solidFill>
                  <a:srgbClr val="203D67"/>
                </a:solidFill>
              </a:defRPr>
            </a:pPr>
            <a:r>
              <a:rPr sz="1200" b="1">
                <a:solidFill>
                  <a:srgbClr val="203D67"/>
                </a:solidFill>
              </a:rPr>
              <a:t>NEXT ACTION</a:t>
            </a:r>
          </a:p>
        </p:txBody>
      </p:sp>
      <p:sp>
        <p:nvSpPr>
          <p:cNvPr id="8" name="Rounded Rectangle 7">
            <a:extLst>
              <a:ext uri="{FF2B5EF4-FFF2-40B4-BE49-F238E27FC236}">
                <a16:creationId xmlns:a16="http://schemas.microsoft.com/office/drawing/2014/main" id="{20292EA8-9FE8-49E1-AB0C-E50E66367473}"/>
              </a:ext>
            </a:extLst>
          </p:cNvPr>
          <p:cNvSpPr>
            <a:spLocks noGrp="1"/>
          </p:cNvSpPr>
          <p:nvPr/>
        </p:nvSpPr>
        <p:spPr>
          <a:xfrm>
            <a:off x="5429250" y="3762375"/>
            <a:ext cx="1428750" cy="685800"/>
          </a:xfrm>
          <a:prstGeom prst="roundRect">
            <a:avLst>
              <a:gd name="adj" fmla="val 16667"/>
            </a:avLst>
          </a:prstGeom>
          <a:solidFill>
            <a:srgbClr val="FFF2C2"/>
          </a:solidFill>
          <a:ln w="9525">
            <a:solidFill>
              <a:srgbClr val="B8C9E5"/>
            </a:solidFill>
            <a:prstDash val="solid"/>
          </a:ln>
        </p:spPr>
        <p:txBody>
          <a:bodyPr/>
          <a:lstStyle/>
          <a:p>
            <a:endParaRPr lang="en-US"/>
          </a:p>
        </p:txBody>
      </p:sp>
      <p:sp>
        <p:nvSpPr>
          <p:cNvPr id="9" name="Rectangle 8">
            <a:extLst>
              <a:ext uri="{FF2B5EF4-FFF2-40B4-BE49-F238E27FC236}">
                <a16:creationId xmlns:a16="http://schemas.microsoft.com/office/drawing/2014/main" id="{8E810B1C-41EF-41F0-992E-A66BD86447F9}"/>
              </a:ext>
            </a:extLst>
          </p:cNvPr>
          <p:cNvSpPr>
            <a:spLocks noGrp="1"/>
          </p:cNvSpPr>
          <p:nvPr/>
        </p:nvSpPr>
        <p:spPr>
          <a:xfrm>
            <a:off x="5505450" y="3819525"/>
            <a:ext cx="1276350" cy="5715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ACT</a:t>
            </a:r>
          </a:p>
        </p:txBody>
      </p:sp>
      <p:sp>
        <p:nvSpPr>
          <p:cNvPr id="10" name="Rounded Rectangle 9">
            <a:extLst>
              <a:ext uri="{FF2B5EF4-FFF2-40B4-BE49-F238E27FC236}">
                <a16:creationId xmlns:a16="http://schemas.microsoft.com/office/drawing/2014/main" id="{86D99F2A-9103-4D72-8C08-AC695B81FC36}"/>
              </a:ext>
            </a:extLst>
          </p:cNvPr>
          <p:cNvSpPr>
            <a:spLocks noGrp="1"/>
          </p:cNvSpPr>
          <p:nvPr/>
        </p:nvSpPr>
        <p:spPr>
          <a:xfrm>
            <a:off x="7524750" y="3762375"/>
            <a:ext cx="1714500" cy="685800"/>
          </a:xfrm>
          <a:prstGeom prst="roundRect">
            <a:avLst>
              <a:gd name="adj" fmla="val 16667"/>
            </a:avLst>
          </a:prstGeom>
          <a:solidFill>
            <a:srgbClr val="FDE8E1"/>
          </a:solidFill>
          <a:ln w="9525">
            <a:solidFill>
              <a:srgbClr val="B8C9E5"/>
            </a:solidFill>
            <a:prstDash val="solid"/>
          </a:ln>
        </p:spPr>
        <p:txBody>
          <a:bodyPr/>
          <a:lstStyle/>
          <a:p>
            <a:endParaRPr lang="en-US"/>
          </a:p>
        </p:txBody>
      </p:sp>
      <p:sp>
        <p:nvSpPr>
          <p:cNvPr id="11" name="Rectangle 10">
            <a:extLst>
              <a:ext uri="{FF2B5EF4-FFF2-40B4-BE49-F238E27FC236}">
                <a16:creationId xmlns:a16="http://schemas.microsoft.com/office/drawing/2014/main" id="{682B2258-BAB3-4FA6-A598-5B1996E20791}"/>
              </a:ext>
            </a:extLst>
          </p:cNvPr>
          <p:cNvSpPr>
            <a:spLocks noGrp="1"/>
          </p:cNvSpPr>
          <p:nvPr/>
        </p:nvSpPr>
        <p:spPr>
          <a:xfrm>
            <a:off x="7600950" y="3819525"/>
            <a:ext cx="1562100" cy="57150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OBSERVE</a:t>
            </a:r>
          </a:p>
          <a:p>
            <a:pPr algn="ctr">
              <a:defRPr sz="1200" b="1">
                <a:solidFill>
                  <a:srgbClr val="203D67"/>
                </a:solidFill>
              </a:defRPr>
            </a:pPr>
            <a:r>
              <a:rPr sz="1200" b="1">
                <a:solidFill>
                  <a:srgbClr val="203D67"/>
                </a:solidFill>
              </a:rPr>
              <a:t>THE RESULT</a:t>
            </a:r>
          </a:p>
        </p:txBody>
      </p:sp>
      <p:cxnSp>
        <p:nvCxnSpPr>
          <p:cNvPr id="12" name="Straight Arrow Connector 11">
            <a:extLst>
              <a:ext uri="{FF2B5EF4-FFF2-40B4-BE49-F238E27FC236}">
                <a16:creationId xmlns:a16="http://schemas.microsoft.com/office/drawing/2014/main" id="{148EBFFA-5BAE-4F99-8F85-0E2D70627F74}"/>
              </a:ext>
            </a:extLst>
          </p:cNvPr>
          <p:cNvCxnSpPr>
            <a:stCxn id="4" idx="3"/>
            <a:endCxn id="6" idx="1"/>
          </p:cNvCxnSpPr>
          <p:nvPr/>
        </p:nvCxnSpPr>
        <p:spPr>
          <a:xfrm>
            <a:off x="2381250" y="4105275"/>
            <a:ext cx="666750" cy="0"/>
          </a:xfrm>
          <a:prstGeom prst="straightConnector1">
            <a:avLst/>
          </a:prstGeom>
          <a:ln w="21431">
            <a:solidFill>
              <a:srgbClr val="175CE5"/>
            </a:solidFill>
            <a:prstDash val="solid"/>
            <a:tailEnd type="arrow" w="med" len="med"/>
          </a:ln>
        </p:spPr>
      </p:cxnSp>
      <p:cxnSp>
        <p:nvCxnSpPr>
          <p:cNvPr id="13" name="Straight Arrow Connector 12">
            <a:extLst>
              <a:ext uri="{FF2B5EF4-FFF2-40B4-BE49-F238E27FC236}">
                <a16:creationId xmlns:a16="http://schemas.microsoft.com/office/drawing/2014/main" id="{DAD8F54C-4670-4A56-AE6E-CC3D525E1F5C}"/>
              </a:ext>
            </a:extLst>
          </p:cNvPr>
          <p:cNvCxnSpPr>
            <a:stCxn id="6" idx="3"/>
            <a:endCxn id="8" idx="1"/>
          </p:cNvCxnSpPr>
          <p:nvPr/>
        </p:nvCxnSpPr>
        <p:spPr>
          <a:xfrm>
            <a:off x="4762500" y="4105275"/>
            <a:ext cx="666750" cy="0"/>
          </a:xfrm>
          <a:prstGeom prst="straightConnector1">
            <a:avLst/>
          </a:prstGeom>
          <a:ln w="21431">
            <a:solidFill>
              <a:srgbClr val="175CE5"/>
            </a:solidFill>
            <a:prstDash val="solid"/>
            <a:tailEnd type="arrow" w="med" len="med"/>
          </a:ln>
        </p:spPr>
      </p:cxnSp>
      <p:cxnSp>
        <p:nvCxnSpPr>
          <p:cNvPr id="14" name="Straight Arrow Connector 13">
            <a:extLst>
              <a:ext uri="{FF2B5EF4-FFF2-40B4-BE49-F238E27FC236}">
                <a16:creationId xmlns:a16="http://schemas.microsoft.com/office/drawing/2014/main" id="{41BEF1C8-FBB1-4744-9ECF-D7BA24CE5ECA}"/>
              </a:ext>
            </a:extLst>
          </p:cNvPr>
          <p:cNvCxnSpPr>
            <a:stCxn id="8" idx="3"/>
            <a:endCxn id="10" idx="1"/>
          </p:cNvCxnSpPr>
          <p:nvPr/>
        </p:nvCxnSpPr>
        <p:spPr>
          <a:xfrm>
            <a:off x="6858000" y="4105275"/>
            <a:ext cx="666750" cy="0"/>
          </a:xfrm>
          <a:prstGeom prst="straightConnector1">
            <a:avLst/>
          </a:prstGeom>
          <a:ln w="21431">
            <a:solidFill>
              <a:srgbClr val="175CE5"/>
            </a:solidFill>
            <a:prstDash val="solid"/>
            <a:tailEnd type="arrow" w="med" len="med"/>
          </a:ln>
        </p:spPr>
      </p:cxnSp>
      <p:cxnSp>
        <p:nvCxnSpPr>
          <p:cNvPr id="15" name="Straight Arrow Connector 14">
            <a:extLst>
              <a:ext uri="{FF2B5EF4-FFF2-40B4-BE49-F238E27FC236}">
                <a16:creationId xmlns:a16="http://schemas.microsoft.com/office/drawing/2014/main" id="{8549DD35-F591-4A74-964D-77C1CFFB4BDA}"/>
              </a:ext>
            </a:extLst>
          </p:cNvPr>
          <p:cNvCxnSpPr>
            <a:stCxn id="10" idx="2"/>
            <a:endCxn id="6" idx="2"/>
          </p:cNvCxnSpPr>
          <p:nvPr/>
        </p:nvCxnSpPr>
        <p:spPr>
          <a:xfrm flipH="1">
            <a:off x="3905250" y="4448175"/>
            <a:ext cx="4476750" cy="0"/>
          </a:xfrm>
          <a:prstGeom prst="straightConnector1">
            <a:avLst/>
          </a:prstGeom>
          <a:ln w="21431">
            <a:solidFill>
              <a:srgbClr val="008A91"/>
            </a:solidFill>
            <a:prstDash val="dash"/>
            <a:tailEnd type="arrow" w="med" len="med"/>
          </a:ln>
        </p:spPr>
      </p:cxnSp>
      <p:sp>
        <p:nvSpPr>
          <p:cNvPr id="16" name="Rectangle 15">
            <a:extLst>
              <a:ext uri="{FF2B5EF4-FFF2-40B4-BE49-F238E27FC236}">
                <a16:creationId xmlns:a16="http://schemas.microsoft.com/office/drawing/2014/main" id="{15BBA116-64F1-4AE1-8950-526A5F7F2494}"/>
              </a:ext>
            </a:extLst>
          </p:cNvPr>
          <p:cNvSpPr>
            <a:spLocks noGrp="1"/>
          </p:cNvSpPr>
          <p:nvPr/>
        </p:nvSpPr>
        <p:spPr>
          <a:xfrm>
            <a:off x="2524125" y="4953000"/>
            <a:ext cx="6191250" cy="400050"/>
          </a:xfrm>
          <a:prstGeom prst="rect">
            <a:avLst/>
          </a:prstGeom>
          <a:noFill/>
          <a:ln w="0">
            <a:noFill/>
            <a:prstDash val="solid"/>
          </a:ln>
        </p:spPr>
        <p:txBody>
          <a:bodyPr anchor="ctr"/>
          <a:lstStyle>
            <a:defPPr algn="ctr">
              <a:defRPr sz="1500" b="1">
                <a:solidFill>
                  <a:srgbClr val="008A91"/>
                </a:solidFill>
              </a:defRPr>
            </a:defPPr>
          </a:lstStyle>
          <a:p>
            <a:pPr algn="ctr">
              <a:defRPr sz="1500" b="1">
                <a:solidFill>
                  <a:srgbClr val="008A91"/>
                </a:solidFill>
              </a:defRPr>
            </a:pPr>
            <a:r>
              <a:rPr sz="1500" b="1">
                <a:solidFill>
                  <a:srgbClr val="008A91"/>
                </a:solidFill>
              </a:rPr>
              <a:t>The agent includes the model, tools, state and control logic</a:t>
            </a:r>
          </a:p>
        </p:txBody>
      </p:sp>
    </p:spTree>
    <p:extLst>
      <p:ext uri="{BB962C8B-B14F-4D97-AF65-F5344CB8AC3E}">
        <p14:creationId xmlns:p14="http://schemas.microsoft.com/office/powerpoint/2010/main" val="316959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BAAB4B7-9FDE-4439-8E4F-6B1E73F1893A}"/>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797C5793-C433-412D-95EB-DE670482A588}"/>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Minimum requirements for an agent</a:t>
            </a:r>
          </a:p>
        </p:txBody>
      </p:sp>
      <p:sp>
        <p:nvSpPr>
          <p:cNvPr id="3" name="Rectangle 2">
            <a:extLst>
              <a:ext uri="{FF2B5EF4-FFF2-40B4-BE49-F238E27FC236}">
                <a16:creationId xmlns:a16="http://schemas.microsoft.com/office/drawing/2014/main" id="{B8AD954C-9263-4000-8A40-C15E0188EBD5}"/>
              </a:ext>
            </a:extLst>
          </p:cNvPr>
          <p:cNvSpPr>
            <a:spLocks noGrp="1"/>
          </p:cNvSpPr>
          <p:nvPr/>
        </p:nvSpPr>
        <p:spPr>
          <a:xfrm>
            <a:off x="857250" y="2476500"/>
            <a:ext cx="533400" cy="361950"/>
          </a:xfrm>
          <a:prstGeom prst="rect">
            <a:avLst/>
          </a:prstGeom>
          <a:noFill/>
          <a:ln w="0">
            <a:noFill/>
            <a:prstDash val="solid"/>
          </a:ln>
        </p:spPr>
        <p:txBody>
          <a:bodyPr anchor="ctr"/>
          <a:lstStyle>
            <a:defPPr algn="l">
              <a:defRPr sz="1725" b="1">
                <a:solidFill>
                  <a:srgbClr val="175CE5"/>
                </a:solidFill>
              </a:defRPr>
            </a:defPPr>
          </a:lstStyle>
          <a:p>
            <a:pPr algn="l">
              <a:defRPr sz="1725" b="1">
                <a:solidFill>
                  <a:srgbClr val="175CE5"/>
                </a:solidFill>
              </a:defRPr>
            </a:pPr>
            <a:r>
              <a:rPr sz="1725" b="1">
                <a:solidFill>
                  <a:srgbClr val="175CE5"/>
                </a:solidFill>
              </a:rPr>
              <a:t>01</a:t>
            </a:r>
          </a:p>
        </p:txBody>
      </p:sp>
      <p:sp>
        <p:nvSpPr>
          <p:cNvPr id="4" name="Rectangle 3">
            <a:extLst>
              <a:ext uri="{FF2B5EF4-FFF2-40B4-BE49-F238E27FC236}">
                <a16:creationId xmlns:a16="http://schemas.microsoft.com/office/drawing/2014/main" id="{A7E32417-9F98-44A5-8F22-1FE901931DE5}"/>
              </a:ext>
            </a:extLst>
          </p:cNvPr>
          <p:cNvSpPr>
            <a:spLocks noGrp="1"/>
          </p:cNvSpPr>
          <p:nvPr/>
        </p:nvSpPr>
        <p:spPr>
          <a:xfrm>
            <a:off x="1600200" y="2457450"/>
            <a:ext cx="7829550" cy="419100"/>
          </a:xfrm>
          <a:prstGeom prst="rect">
            <a:avLst/>
          </a:prstGeom>
          <a:noFill/>
          <a:ln w="0">
            <a:noFill/>
            <a:prstDash val="solid"/>
          </a:ln>
        </p:spPr>
        <p:txBody>
          <a:bodyPr anchor="ctr"/>
          <a:lstStyle>
            <a:defPPr algn="l">
              <a:defRPr sz="1425" b="1">
                <a:solidFill>
                  <a:srgbClr val="223047"/>
                </a:solidFill>
              </a:defRPr>
            </a:defPPr>
          </a:lstStyle>
          <a:p>
            <a:pPr algn="l">
              <a:defRPr sz="1425" b="1">
                <a:solidFill>
                  <a:srgbClr val="223047"/>
                </a:solidFill>
              </a:defRPr>
            </a:pPr>
            <a:r>
              <a:rPr sz="1425" b="1">
                <a:solidFill>
                  <a:srgbClr val="223047"/>
                </a:solidFill>
              </a:rPr>
              <a:t>A goal that defines what success means</a:t>
            </a:r>
          </a:p>
        </p:txBody>
      </p:sp>
      <p:sp>
        <p:nvSpPr>
          <p:cNvPr id="5" name="Rectangle 4">
            <a:extLst>
              <a:ext uri="{FF2B5EF4-FFF2-40B4-BE49-F238E27FC236}">
                <a16:creationId xmlns:a16="http://schemas.microsoft.com/office/drawing/2014/main" id="{9A7FFFE7-C6CE-48EF-965A-4DCAB8A9B2E2}"/>
              </a:ext>
            </a:extLst>
          </p:cNvPr>
          <p:cNvSpPr>
            <a:spLocks noGrp="1"/>
          </p:cNvSpPr>
          <p:nvPr/>
        </p:nvSpPr>
        <p:spPr>
          <a:xfrm>
            <a:off x="857250" y="3076575"/>
            <a:ext cx="533400" cy="361950"/>
          </a:xfrm>
          <a:prstGeom prst="rect">
            <a:avLst/>
          </a:prstGeom>
          <a:noFill/>
          <a:ln w="0">
            <a:noFill/>
            <a:prstDash val="solid"/>
          </a:ln>
        </p:spPr>
        <p:txBody>
          <a:bodyPr anchor="ctr"/>
          <a:lstStyle>
            <a:defPPr algn="l">
              <a:defRPr sz="1725" b="1">
                <a:solidFill>
                  <a:srgbClr val="42BCC9"/>
                </a:solidFill>
              </a:defRPr>
            </a:defPPr>
          </a:lstStyle>
          <a:p>
            <a:pPr algn="l">
              <a:defRPr sz="1725" b="1">
                <a:solidFill>
                  <a:srgbClr val="42BCC9"/>
                </a:solidFill>
              </a:defRPr>
            </a:pPr>
            <a:r>
              <a:rPr sz="1725" b="1">
                <a:solidFill>
                  <a:srgbClr val="42BCC9"/>
                </a:solidFill>
              </a:rPr>
              <a:t>02</a:t>
            </a:r>
          </a:p>
        </p:txBody>
      </p:sp>
      <p:sp>
        <p:nvSpPr>
          <p:cNvPr id="6" name="Rectangle 5">
            <a:extLst>
              <a:ext uri="{FF2B5EF4-FFF2-40B4-BE49-F238E27FC236}">
                <a16:creationId xmlns:a16="http://schemas.microsoft.com/office/drawing/2014/main" id="{BFC8E4C3-0750-455D-AC38-B6699D85C731}"/>
              </a:ext>
            </a:extLst>
          </p:cNvPr>
          <p:cNvSpPr>
            <a:spLocks noGrp="1"/>
          </p:cNvSpPr>
          <p:nvPr/>
        </p:nvSpPr>
        <p:spPr>
          <a:xfrm>
            <a:off x="1600200" y="3057525"/>
            <a:ext cx="7829550" cy="419100"/>
          </a:xfrm>
          <a:prstGeom prst="rect">
            <a:avLst/>
          </a:prstGeom>
          <a:noFill/>
          <a:ln w="0">
            <a:noFill/>
            <a:prstDash val="solid"/>
          </a:ln>
        </p:spPr>
        <p:txBody>
          <a:bodyPr anchor="ctr"/>
          <a:lstStyle>
            <a:defPPr algn="l">
              <a:defRPr sz="1425" b="1">
                <a:solidFill>
                  <a:srgbClr val="223047"/>
                </a:solidFill>
              </a:defRPr>
            </a:defPPr>
          </a:lstStyle>
          <a:p>
            <a:pPr algn="l">
              <a:defRPr sz="1425" b="1">
                <a:solidFill>
                  <a:srgbClr val="223047"/>
                </a:solidFill>
              </a:defRPr>
            </a:pPr>
            <a:r>
              <a:rPr sz="1425" b="1">
                <a:solidFill>
                  <a:srgbClr val="223047"/>
                </a:solidFill>
              </a:rPr>
              <a:t>A choice between possible next actions</a:t>
            </a:r>
          </a:p>
        </p:txBody>
      </p:sp>
      <p:sp>
        <p:nvSpPr>
          <p:cNvPr id="7" name="Rectangle 6">
            <a:extLst>
              <a:ext uri="{FF2B5EF4-FFF2-40B4-BE49-F238E27FC236}">
                <a16:creationId xmlns:a16="http://schemas.microsoft.com/office/drawing/2014/main" id="{987EEBF9-1F61-4667-8A42-B1DE49623D98}"/>
              </a:ext>
            </a:extLst>
          </p:cNvPr>
          <p:cNvSpPr>
            <a:spLocks noGrp="1"/>
          </p:cNvSpPr>
          <p:nvPr/>
        </p:nvSpPr>
        <p:spPr>
          <a:xfrm>
            <a:off x="857250" y="3676650"/>
            <a:ext cx="533400" cy="361950"/>
          </a:xfrm>
          <a:prstGeom prst="rect">
            <a:avLst/>
          </a:prstGeom>
          <a:noFill/>
          <a:ln w="0">
            <a:noFill/>
            <a:prstDash val="solid"/>
          </a:ln>
        </p:spPr>
        <p:txBody>
          <a:bodyPr anchor="ctr"/>
          <a:lstStyle>
            <a:defPPr algn="l">
              <a:defRPr sz="1725" b="1">
                <a:solidFill>
                  <a:srgbClr val="F4B900"/>
                </a:solidFill>
              </a:defRPr>
            </a:defPPr>
          </a:lstStyle>
          <a:p>
            <a:pPr algn="l">
              <a:defRPr sz="1725" b="1">
                <a:solidFill>
                  <a:srgbClr val="F4B900"/>
                </a:solidFill>
              </a:defRPr>
            </a:pPr>
            <a:r>
              <a:rPr sz="1725" b="1">
                <a:solidFill>
                  <a:srgbClr val="F4B900"/>
                </a:solidFill>
              </a:rPr>
              <a:t>03</a:t>
            </a:r>
          </a:p>
        </p:txBody>
      </p:sp>
      <p:sp>
        <p:nvSpPr>
          <p:cNvPr id="8" name="Rectangle 7">
            <a:extLst>
              <a:ext uri="{FF2B5EF4-FFF2-40B4-BE49-F238E27FC236}">
                <a16:creationId xmlns:a16="http://schemas.microsoft.com/office/drawing/2014/main" id="{60E2F1B3-BD5E-4CF1-94AC-001A3AE110A8}"/>
              </a:ext>
            </a:extLst>
          </p:cNvPr>
          <p:cNvSpPr>
            <a:spLocks noGrp="1"/>
          </p:cNvSpPr>
          <p:nvPr/>
        </p:nvSpPr>
        <p:spPr>
          <a:xfrm>
            <a:off x="1600200" y="3657600"/>
            <a:ext cx="7829550" cy="419100"/>
          </a:xfrm>
          <a:prstGeom prst="rect">
            <a:avLst/>
          </a:prstGeom>
          <a:noFill/>
          <a:ln w="0">
            <a:noFill/>
            <a:prstDash val="solid"/>
          </a:ln>
        </p:spPr>
        <p:txBody>
          <a:bodyPr anchor="ctr"/>
          <a:lstStyle>
            <a:defPPr algn="l">
              <a:defRPr sz="1425" b="1">
                <a:solidFill>
                  <a:srgbClr val="223047"/>
                </a:solidFill>
              </a:defRPr>
            </a:defPPr>
          </a:lstStyle>
          <a:p>
            <a:pPr algn="l">
              <a:defRPr sz="1425" b="1">
                <a:solidFill>
                  <a:srgbClr val="223047"/>
                </a:solidFill>
              </a:defRPr>
            </a:pPr>
            <a:r>
              <a:rPr sz="1425" b="1">
                <a:solidFill>
                  <a:srgbClr val="223047"/>
                </a:solidFill>
              </a:rPr>
              <a:t>A way to affect an external environment</a:t>
            </a:r>
          </a:p>
        </p:txBody>
      </p:sp>
      <p:sp>
        <p:nvSpPr>
          <p:cNvPr id="9" name="Rectangle 8">
            <a:extLst>
              <a:ext uri="{FF2B5EF4-FFF2-40B4-BE49-F238E27FC236}">
                <a16:creationId xmlns:a16="http://schemas.microsoft.com/office/drawing/2014/main" id="{D418F7F7-155B-40BC-9A8D-BB30EB07AF60}"/>
              </a:ext>
            </a:extLst>
          </p:cNvPr>
          <p:cNvSpPr>
            <a:spLocks noGrp="1"/>
          </p:cNvSpPr>
          <p:nvPr/>
        </p:nvSpPr>
        <p:spPr>
          <a:xfrm>
            <a:off x="857250" y="4276725"/>
            <a:ext cx="533400" cy="361950"/>
          </a:xfrm>
          <a:prstGeom prst="rect">
            <a:avLst/>
          </a:prstGeom>
          <a:noFill/>
          <a:ln w="0">
            <a:noFill/>
            <a:prstDash val="solid"/>
          </a:ln>
        </p:spPr>
        <p:txBody>
          <a:bodyPr anchor="ctr"/>
          <a:lstStyle>
            <a:defPPr algn="l">
              <a:defRPr sz="1725" b="1">
                <a:solidFill>
                  <a:srgbClr val="008A91"/>
                </a:solidFill>
              </a:defRPr>
            </a:defPPr>
          </a:lstStyle>
          <a:p>
            <a:pPr algn="l">
              <a:defRPr sz="1725" b="1">
                <a:solidFill>
                  <a:srgbClr val="008A91"/>
                </a:solidFill>
              </a:defRPr>
            </a:pPr>
            <a:r>
              <a:rPr sz="1725" b="1">
                <a:solidFill>
                  <a:srgbClr val="008A91"/>
                </a:solidFill>
              </a:rPr>
              <a:t>04</a:t>
            </a:r>
          </a:p>
        </p:txBody>
      </p:sp>
      <p:sp>
        <p:nvSpPr>
          <p:cNvPr id="10" name="Rectangle 9">
            <a:extLst>
              <a:ext uri="{FF2B5EF4-FFF2-40B4-BE49-F238E27FC236}">
                <a16:creationId xmlns:a16="http://schemas.microsoft.com/office/drawing/2014/main" id="{ED991CAE-15FB-4349-BFE7-2F82AB528D6C}"/>
              </a:ext>
            </a:extLst>
          </p:cNvPr>
          <p:cNvSpPr>
            <a:spLocks noGrp="1"/>
          </p:cNvSpPr>
          <p:nvPr/>
        </p:nvSpPr>
        <p:spPr>
          <a:xfrm>
            <a:off x="1600200" y="4257675"/>
            <a:ext cx="7829550" cy="419100"/>
          </a:xfrm>
          <a:prstGeom prst="rect">
            <a:avLst/>
          </a:prstGeom>
          <a:noFill/>
          <a:ln w="0">
            <a:noFill/>
            <a:prstDash val="solid"/>
          </a:ln>
        </p:spPr>
        <p:txBody>
          <a:bodyPr anchor="ctr"/>
          <a:lstStyle>
            <a:defPPr algn="l">
              <a:defRPr sz="1425" b="1">
                <a:solidFill>
                  <a:srgbClr val="223047"/>
                </a:solidFill>
              </a:defRPr>
            </a:defPPr>
          </a:lstStyle>
          <a:p>
            <a:pPr algn="l">
              <a:defRPr sz="1425" b="1">
                <a:solidFill>
                  <a:srgbClr val="223047"/>
                </a:solidFill>
              </a:defRPr>
            </a:pPr>
            <a:r>
              <a:rPr sz="1425" b="1">
                <a:solidFill>
                  <a:srgbClr val="223047"/>
                </a:solidFill>
              </a:rPr>
              <a:t>An observation that informs the next decision</a:t>
            </a:r>
          </a:p>
        </p:txBody>
      </p:sp>
      <p:sp>
        <p:nvSpPr>
          <p:cNvPr id="11" name="Rectangle 10">
            <a:extLst>
              <a:ext uri="{FF2B5EF4-FFF2-40B4-BE49-F238E27FC236}">
                <a16:creationId xmlns:a16="http://schemas.microsoft.com/office/drawing/2014/main" id="{2D6D7BDE-A98F-4BAA-9565-43ADE7998426}"/>
              </a:ext>
            </a:extLst>
          </p:cNvPr>
          <p:cNvSpPr>
            <a:spLocks noGrp="1"/>
          </p:cNvSpPr>
          <p:nvPr/>
        </p:nvSpPr>
        <p:spPr>
          <a:xfrm>
            <a:off x="857250" y="4876800"/>
            <a:ext cx="533400" cy="361950"/>
          </a:xfrm>
          <a:prstGeom prst="rect">
            <a:avLst/>
          </a:prstGeom>
          <a:noFill/>
          <a:ln w="0">
            <a:noFill/>
            <a:prstDash val="solid"/>
          </a:ln>
        </p:spPr>
        <p:txBody>
          <a:bodyPr anchor="ctr"/>
          <a:lstStyle>
            <a:defPPr algn="l">
              <a:defRPr sz="1725" b="1">
                <a:solidFill>
                  <a:srgbClr val="EE7D5B"/>
                </a:solidFill>
              </a:defRPr>
            </a:defPPr>
          </a:lstStyle>
          <a:p>
            <a:pPr algn="l">
              <a:defRPr sz="1725" b="1">
                <a:solidFill>
                  <a:srgbClr val="EE7D5B"/>
                </a:solidFill>
              </a:defRPr>
            </a:pPr>
            <a:r>
              <a:rPr sz="1725" b="1">
                <a:solidFill>
                  <a:srgbClr val="EE7D5B"/>
                </a:solidFill>
              </a:rPr>
              <a:t>05</a:t>
            </a:r>
          </a:p>
        </p:txBody>
      </p:sp>
      <p:sp>
        <p:nvSpPr>
          <p:cNvPr id="12" name="Rectangle 11">
            <a:extLst>
              <a:ext uri="{FF2B5EF4-FFF2-40B4-BE49-F238E27FC236}">
                <a16:creationId xmlns:a16="http://schemas.microsoft.com/office/drawing/2014/main" id="{396F49DB-68BE-4A32-88FC-1873E3D5EE96}"/>
              </a:ext>
            </a:extLst>
          </p:cNvPr>
          <p:cNvSpPr>
            <a:spLocks noGrp="1"/>
          </p:cNvSpPr>
          <p:nvPr/>
        </p:nvSpPr>
        <p:spPr>
          <a:xfrm>
            <a:off x="1600200" y="4857750"/>
            <a:ext cx="7829550" cy="419100"/>
          </a:xfrm>
          <a:prstGeom prst="rect">
            <a:avLst/>
          </a:prstGeom>
          <a:noFill/>
          <a:ln w="0">
            <a:noFill/>
            <a:prstDash val="solid"/>
          </a:ln>
        </p:spPr>
        <p:txBody>
          <a:bodyPr anchor="ctr"/>
          <a:lstStyle>
            <a:defPPr algn="l">
              <a:defRPr sz="1425" b="1">
                <a:solidFill>
                  <a:srgbClr val="223047"/>
                </a:solidFill>
              </a:defRPr>
            </a:defPPr>
          </a:lstStyle>
          <a:p>
            <a:pPr algn="l">
              <a:defRPr sz="1425" b="1">
                <a:solidFill>
                  <a:srgbClr val="223047"/>
                </a:solidFill>
              </a:defRPr>
            </a:pPr>
            <a:r>
              <a:rPr sz="1425" b="1">
                <a:solidFill>
                  <a:srgbClr val="223047"/>
                </a:solidFill>
              </a:rPr>
              <a:t>A rule for stopping, pausing or asking for help</a:t>
            </a:r>
          </a:p>
        </p:txBody>
      </p:sp>
      <p:sp>
        <p:nvSpPr>
          <p:cNvPr id="13" name="Rectangle 12">
            <a:extLst>
              <a:ext uri="{FF2B5EF4-FFF2-40B4-BE49-F238E27FC236}">
                <a16:creationId xmlns:a16="http://schemas.microsoft.com/office/drawing/2014/main" id="{FE17A986-5DF6-4EB0-80F2-AD585A4C48A5}"/>
              </a:ext>
            </a:extLst>
          </p:cNvPr>
          <p:cNvSpPr>
            <a:spLocks noGrp="1"/>
          </p:cNvSpPr>
          <p:nvPr/>
        </p:nvSpPr>
        <p:spPr>
          <a:xfrm>
            <a:off x="6429375" y="5191125"/>
            <a:ext cx="4095750" cy="51435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Without conditional action and feedback, the system is usually a workflow rather than an agent</a:t>
            </a:r>
          </a:p>
        </p:txBody>
      </p:sp>
    </p:spTree>
    <p:extLst>
      <p:ext uri="{BB962C8B-B14F-4D97-AF65-F5344CB8AC3E}">
        <p14:creationId xmlns:p14="http://schemas.microsoft.com/office/powerpoint/2010/main" val="1425226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D1F5033-6916-4F26-99E3-F75BFB5AA5B4}"/>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F98AC9AE-1124-4CE0-A513-038B42948399}"/>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Chatbot, workflow and agent</a:t>
            </a:r>
          </a:p>
        </p:txBody>
      </p:sp>
      <p:sp>
        <p:nvSpPr>
          <p:cNvPr id="3" name="Rectangle 2">
            <a:extLst>
              <a:ext uri="{FF2B5EF4-FFF2-40B4-BE49-F238E27FC236}">
                <a16:creationId xmlns:a16="http://schemas.microsoft.com/office/drawing/2014/main" id="{81850A25-E6BD-4AB9-A417-EE01421AEDF8}"/>
              </a:ext>
            </a:extLst>
          </p:cNvPr>
          <p:cNvSpPr>
            <a:spLocks noGrp="1"/>
          </p:cNvSpPr>
          <p:nvPr/>
        </p:nvSpPr>
        <p:spPr>
          <a:xfrm>
            <a:off x="781050" y="2286000"/>
            <a:ext cx="7810500" cy="361950"/>
          </a:xfrm>
          <a:prstGeom prst="rect">
            <a:avLst/>
          </a:prstGeom>
          <a:noFill/>
          <a:ln w="0">
            <a:noFill/>
            <a:prstDash val="solid"/>
          </a:ln>
        </p:spPr>
        <p:txBody>
          <a:bodyPr anchor="ctr"/>
          <a:lstStyle>
            <a:defPPr algn="l">
              <a:defRPr sz="1350" b="0">
                <a:solidFill>
                  <a:srgbClr val="5E6C80"/>
                </a:solidFill>
              </a:defRPr>
            </a:defPPr>
          </a:lstStyle>
          <a:p>
            <a:pPr algn="l">
              <a:defRPr sz="1350" b="0">
                <a:solidFill>
                  <a:srgbClr val="5E6C80"/>
                </a:solidFill>
              </a:defRPr>
            </a:pPr>
            <a:r>
              <a:rPr sz="1350" b="0">
                <a:solidFill>
                  <a:srgbClr val="5E6C80"/>
                </a:solidFill>
              </a:rPr>
              <a:t>Same task: find recent evidence and prepare a recommendation</a:t>
            </a:r>
          </a:p>
        </p:txBody>
      </p:sp>
      <p:sp>
        <p:nvSpPr>
          <p:cNvPr id="4" name="Rectangle 3">
            <a:extLst>
              <a:ext uri="{FF2B5EF4-FFF2-40B4-BE49-F238E27FC236}">
                <a16:creationId xmlns:a16="http://schemas.microsoft.com/office/drawing/2014/main" id="{690CC7F0-ED97-4CD2-A29C-604AB13167EB}"/>
              </a:ext>
            </a:extLst>
          </p:cNvPr>
          <p:cNvSpPr>
            <a:spLocks noGrp="1"/>
          </p:cNvSpPr>
          <p:nvPr/>
        </p:nvSpPr>
        <p:spPr>
          <a:xfrm>
            <a:off x="838200" y="3048000"/>
            <a:ext cx="1714500" cy="304800"/>
          </a:xfrm>
          <a:prstGeom prst="rect">
            <a:avLst/>
          </a:prstGeom>
          <a:noFill/>
          <a:ln w="0">
            <a:noFill/>
            <a:prstDash val="solid"/>
          </a:ln>
        </p:spPr>
        <p:txBody>
          <a:bodyPr anchor="ctr"/>
          <a:lstStyle>
            <a:defPPr algn="l">
              <a:defRPr sz="1350" b="1">
                <a:solidFill>
                  <a:srgbClr val="175CE5"/>
                </a:solidFill>
              </a:defRPr>
            </a:defPPr>
          </a:lstStyle>
          <a:p>
            <a:pPr algn="l">
              <a:defRPr sz="1350" b="1">
                <a:solidFill>
                  <a:srgbClr val="175CE5"/>
                </a:solidFill>
              </a:defRPr>
            </a:pPr>
            <a:r>
              <a:rPr sz="1350" b="1">
                <a:solidFill>
                  <a:srgbClr val="175CE5"/>
                </a:solidFill>
              </a:rPr>
              <a:t>CHATBOT</a:t>
            </a:r>
          </a:p>
        </p:txBody>
      </p:sp>
      <p:sp>
        <p:nvSpPr>
          <p:cNvPr id="5" name="Rectangle 4">
            <a:extLst>
              <a:ext uri="{FF2B5EF4-FFF2-40B4-BE49-F238E27FC236}">
                <a16:creationId xmlns:a16="http://schemas.microsoft.com/office/drawing/2014/main" id="{8FF07787-B819-4ECD-BB22-9BB53BD29036}"/>
              </a:ext>
            </a:extLst>
          </p:cNvPr>
          <p:cNvSpPr>
            <a:spLocks noGrp="1"/>
          </p:cNvSpPr>
          <p:nvPr/>
        </p:nvSpPr>
        <p:spPr>
          <a:xfrm>
            <a:off x="2667000" y="3009900"/>
            <a:ext cx="6191250" cy="40005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Answers from the information already in its context</a:t>
            </a:r>
          </a:p>
        </p:txBody>
      </p:sp>
      <p:sp>
        <p:nvSpPr>
          <p:cNvPr id="6" name="Rectangle 5">
            <a:extLst>
              <a:ext uri="{FF2B5EF4-FFF2-40B4-BE49-F238E27FC236}">
                <a16:creationId xmlns:a16="http://schemas.microsoft.com/office/drawing/2014/main" id="{8AA14D33-1368-49F9-B1DB-AB3C32DB8386}"/>
              </a:ext>
            </a:extLst>
          </p:cNvPr>
          <p:cNvSpPr>
            <a:spLocks noGrp="1"/>
          </p:cNvSpPr>
          <p:nvPr/>
        </p:nvSpPr>
        <p:spPr>
          <a:xfrm>
            <a:off x="838200" y="3476625"/>
            <a:ext cx="8191500" cy="19050"/>
          </a:xfrm>
          <a:prstGeom prst="rect">
            <a:avLst/>
          </a:prstGeom>
          <a:solidFill>
            <a:srgbClr val="175CE5"/>
          </a:solidFill>
          <a:ln w="0">
            <a:noFill/>
            <a:prstDash val="solid"/>
          </a:ln>
        </p:spPr>
        <p:txBody>
          <a:bodyPr/>
          <a:lstStyle/>
          <a:p>
            <a:endParaRPr lang="en-US"/>
          </a:p>
        </p:txBody>
      </p:sp>
      <p:sp>
        <p:nvSpPr>
          <p:cNvPr id="7" name="Rectangle 6">
            <a:extLst>
              <a:ext uri="{FF2B5EF4-FFF2-40B4-BE49-F238E27FC236}">
                <a16:creationId xmlns:a16="http://schemas.microsoft.com/office/drawing/2014/main" id="{E17587C7-719F-4B31-9E4C-61F5F44DAAB3}"/>
              </a:ext>
            </a:extLst>
          </p:cNvPr>
          <p:cNvSpPr>
            <a:spLocks noGrp="1"/>
          </p:cNvSpPr>
          <p:nvPr/>
        </p:nvSpPr>
        <p:spPr>
          <a:xfrm>
            <a:off x="838200" y="3886200"/>
            <a:ext cx="1809750" cy="304800"/>
          </a:xfrm>
          <a:prstGeom prst="rect">
            <a:avLst/>
          </a:prstGeom>
          <a:noFill/>
          <a:ln w="0">
            <a:noFill/>
            <a:prstDash val="solid"/>
          </a:ln>
        </p:spPr>
        <p:txBody>
          <a:bodyPr anchor="ctr"/>
          <a:lstStyle>
            <a:defPPr algn="l">
              <a:defRPr sz="1350" b="1">
                <a:solidFill>
                  <a:srgbClr val="42BCC9"/>
                </a:solidFill>
              </a:defRPr>
            </a:defPPr>
          </a:lstStyle>
          <a:p>
            <a:pPr algn="l">
              <a:defRPr sz="1350" b="1">
                <a:solidFill>
                  <a:srgbClr val="42BCC9"/>
                </a:solidFill>
              </a:defRPr>
            </a:pPr>
            <a:r>
              <a:rPr sz="1350" b="1">
                <a:solidFill>
                  <a:srgbClr val="42BCC9"/>
                </a:solidFill>
              </a:rPr>
              <a:t>FIXED WORKFLOW</a:t>
            </a:r>
          </a:p>
        </p:txBody>
      </p:sp>
      <p:sp>
        <p:nvSpPr>
          <p:cNvPr id="8" name="Rectangle 7">
            <a:extLst>
              <a:ext uri="{FF2B5EF4-FFF2-40B4-BE49-F238E27FC236}">
                <a16:creationId xmlns:a16="http://schemas.microsoft.com/office/drawing/2014/main" id="{7761C346-47E5-4417-8F01-B3D70ED531BD}"/>
              </a:ext>
            </a:extLst>
          </p:cNvPr>
          <p:cNvSpPr>
            <a:spLocks noGrp="1"/>
          </p:cNvSpPr>
          <p:nvPr/>
        </p:nvSpPr>
        <p:spPr>
          <a:xfrm>
            <a:off x="2667000" y="3848100"/>
            <a:ext cx="6762750" cy="40005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Runs a predefined sequence of search, extraction and summary steps</a:t>
            </a:r>
          </a:p>
        </p:txBody>
      </p:sp>
      <p:sp>
        <p:nvSpPr>
          <p:cNvPr id="9" name="Rectangle 8">
            <a:extLst>
              <a:ext uri="{FF2B5EF4-FFF2-40B4-BE49-F238E27FC236}">
                <a16:creationId xmlns:a16="http://schemas.microsoft.com/office/drawing/2014/main" id="{1352A748-E68B-4F21-A02E-E34801AEB780}"/>
              </a:ext>
            </a:extLst>
          </p:cNvPr>
          <p:cNvSpPr>
            <a:spLocks noGrp="1"/>
          </p:cNvSpPr>
          <p:nvPr/>
        </p:nvSpPr>
        <p:spPr>
          <a:xfrm>
            <a:off x="838200" y="4314825"/>
            <a:ext cx="8191500" cy="19050"/>
          </a:xfrm>
          <a:prstGeom prst="rect">
            <a:avLst/>
          </a:prstGeom>
          <a:solidFill>
            <a:srgbClr val="42BCC9"/>
          </a:solidFill>
          <a:ln w="0">
            <a:noFill/>
            <a:prstDash val="solid"/>
          </a:ln>
        </p:spPr>
        <p:txBody>
          <a:bodyPr/>
          <a:lstStyle/>
          <a:p>
            <a:endParaRPr lang="en-US"/>
          </a:p>
        </p:txBody>
      </p:sp>
      <p:sp>
        <p:nvSpPr>
          <p:cNvPr id="10" name="Rectangle 9">
            <a:extLst>
              <a:ext uri="{FF2B5EF4-FFF2-40B4-BE49-F238E27FC236}">
                <a16:creationId xmlns:a16="http://schemas.microsoft.com/office/drawing/2014/main" id="{42264CC7-8DC9-4863-BE0E-2A68A3B0211E}"/>
              </a:ext>
            </a:extLst>
          </p:cNvPr>
          <p:cNvSpPr>
            <a:spLocks noGrp="1"/>
          </p:cNvSpPr>
          <p:nvPr/>
        </p:nvSpPr>
        <p:spPr>
          <a:xfrm>
            <a:off x="838200" y="4724400"/>
            <a:ext cx="1714500" cy="304800"/>
          </a:xfrm>
          <a:prstGeom prst="rect">
            <a:avLst/>
          </a:prstGeom>
          <a:noFill/>
          <a:ln w="0">
            <a:noFill/>
            <a:prstDash val="solid"/>
          </a:ln>
        </p:spPr>
        <p:txBody>
          <a:bodyPr anchor="ctr"/>
          <a:lstStyle>
            <a:defPPr algn="l">
              <a:defRPr sz="1350" b="1">
                <a:solidFill>
                  <a:srgbClr val="F4B900"/>
                </a:solidFill>
              </a:defRPr>
            </a:defPPr>
          </a:lstStyle>
          <a:p>
            <a:pPr algn="l">
              <a:defRPr sz="1350" b="1">
                <a:solidFill>
                  <a:srgbClr val="F4B900"/>
                </a:solidFill>
              </a:defRPr>
            </a:pPr>
            <a:r>
              <a:rPr sz="1350" b="1">
                <a:solidFill>
                  <a:srgbClr val="F4B900"/>
                </a:solidFill>
              </a:rPr>
              <a:t>AGENT</a:t>
            </a:r>
          </a:p>
        </p:txBody>
      </p:sp>
      <p:sp>
        <p:nvSpPr>
          <p:cNvPr id="11" name="Rectangle 10">
            <a:extLst>
              <a:ext uri="{FF2B5EF4-FFF2-40B4-BE49-F238E27FC236}">
                <a16:creationId xmlns:a16="http://schemas.microsoft.com/office/drawing/2014/main" id="{87137B3C-7C29-4F47-B51F-617DA23F4611}"/>
              </a:ext>
            </a:extLst>
          </p:cNvPr>
          <p:cNvSpPr>
            <a:spLocks noGrp="1"/>
          </p:cNvSpPr>
          <p:nvPr/>
        </p:nvSpPr>
        <p:spPr>
          <a:xfrm>
            <a:off x="2667000" y="4629150"/>
            <a:ext cx="6858000" cy="55245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Chooses what to search, evaluates the result and decides whether more work is needed</a:t>
            </a:r>
          </a:p>
        </p:txBody>
      </p:sp>
      <p:sp>
        <p:nvSpPr>
          <p:cNvPr id="12" name="Rectangle 11">
            <a:extLst>
              <a:ext uri="{FF2B5EF4-FFF2-40B4-BE49-F238E27FC236}">
                <a16:creationId xmlns:a16="http://schemas.microsoft.com/office/drawing/2014/main" id="{655651B1-CC59-4679-9EA0-482EFF3A6DFF}"/>
              </a:ext>
            </a:extLst>
          </p:cNvPr>
          <p:cNvSpPr>
            <a:spLocks noGrp="1"/>
          </p:cNvSpPr>
          <p:nvPr/>
        </p:nvSpPr>
        <p:spPr>
          <a:xfrm>
            <a:off x="6762750" y="5381625"/>
            <a:ext cx="3810000" cy="361950"/>
          </a:xfrm>
          <a:prstGeom prst="rect">
            <a:avLst/>
          </a:prstGeom>
          <a:noFill/>
          <a:ln w="0">
            <a:noFill/>
            <a:prstDash val="solid"/>
          </a:ln>
        </p:spPr>
        <p:txBody>
          <a:bodyPr anchor="ctr"/>
          <a:lstStyle>
            <a:defPPr algn="ctr">
              <a:defRPr sz="1425" b="1">
                <a:solidFill>
                  <a:srgbClr val="008A91"/>
                </a:solidFill>
              </a:defRPr>
            </a:defPPr>
          </a:lstStyle>
          <a:p>
            <a:pPr algn="ctr">
              <a:defRPr sz="1425" b="1">
                <a:solidFill>
                  <a:srgbClr val="008A91"/>
                </a:solidFill>
              </a:defRPr>
            </a:pPr>
            <a:r>
              <a:rPr sz="1425" b="1">
                <a:solidFill>
                  <a:srgbClr val="008A91"/>
                </a:solidFill>
              </a:rPr>
              <a:t>The difference lies in who chooses the next step</a:t>
            </a:r>
          </a:p>
        </p:txBody>
      </p:sp>
    </p:spTree>
    <p:extLst>
      <p:ext uri="{BB962C8B-B14F-4D97-AF65-F5344CB8AC3E}">
        <p14:creationId xmlns:p14="http://schemas.microsoft.com/office/powerpoint/2010/main" val="2038001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02729B9-0FFB-456C-A360-112BAF752788}"/>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468477F1-C535-473D-A762-39DFB3F459AC}"/>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Agent, assistant or fixed workflow?</a:t>
            </a:r>
          </a:p>
        </p:txBody>
      </p:sp>
      <p:sp>
        <p:nvSpPr>
          <p:cNvPr id="3" name="Rectangle 2">
            <a:extLst>
              <a:ext uri="{FF2B5EF4-FFF2-40B4-BE49-F238E27FC236}">
                <a16:creationId xmlns:a16="http://schemas.microsoft.com/office/drawing/2014/main" id="{C0093818-C0AB-4C23-AF93-3D3E933018E3}"/>
              </a:ext>
            </a:extLst>
          </p:cNvPr>
          <p:cNvSpPr>
            <a:spLocks noGrp="1"/>
          </p:cNvSpPr>
          <p:nvPr/>
        </p:nvSpPr>
        <p:spPr>
          <a:xfrm>
            <a:off x="647700" y="1838325"/>
            <a:ext cx="8286750" cy="361950"/>
          </a:xfrm>
          <a:prstGeom prst="rect">
            <a:avLst/>
          </a:prstGeom>
          <a:noFill/>
          <a:ln w="0">
            <a:noFill/>
            <a:prstDash val="solid"/>
          </a:ln>
        </p:spPr>
        <p:txBody>
          <a:bodyPr anchor="ctr"/>
          <a:lstStyle>
            <a:defPPr algn="l">
              <a:defRPr sz="1275" b="0">
                <a:solidFill>
                  <a:srgbClr val="5E6C80"/>
                </a:solidFill>
              </a:defRPr>
            </a:defPPr>
          </a:lstStyle>
          <a:p>
            <a:pPr algn="l">
              <a:defRPr sz="1275" b="0">
                <a:solidFill>
                  <a:srgbClr val="5E6C80"/>
                </a:solidFill>
              </a:defRPr>
            </a:pPr>
            <a:r>
              <a:rPr sz="1275" b="0">
                <a:solidFill>
                  <a:srgbClr val="5E6C80"/>
                </a:solidFill>
              </a:rPr>
              <a:t>A quick audience classification exercise</a:t>
            </a:r>
          </a:p>
        </p:txBody>
      </p:sp>
      <p:sp>
        <p:nvSpPr>
          <p:cNvPr id="4" name="Rectangle 3">
            <a:extLst>
              <a:ext uri="{FF2B5EF4-FFF2-40B4-BE49-F238E27FC236}">
                <a16:creationId xmlns:a16="http://schemas.microsoft.com/office/drawing/2014/main" id="{87E5FA18-DA71-4547-A805-75F215910AA4}"/>
              </a:ext>
            </a:extLst>
          </p:cNvPr>
          <p:cNvSpPr>
            <a:spLocks noGrp="1"/>
          </p:cNvSpPr>
          <p:nvPr/>
        </p:nvSpPr>
        <p:spPr>
          <a:xfrm>
            <a:off x="762000" y="2647950"/>
            <a:ext cx="514350" cy="514350"/>
          </a:xfrm>
          <a:prstGeom prst="rect">
            <a:avLst/>
          </a:prstGeom>
          <a:solidFill>
            <a:srgbClr val="175CE5"/>
          </a:solidFill>
          <a:ln w="0">
            <a:noFill/>
            <a:prstDash val="solid"/>
          </a:ln>
        </p:spPr>
        <p:txBody>
          <a:bodyPr anchor="ctr"/>
          <a:lstStyle>
            <a:defPPr algn="ctr">
              <a:defRPr sz="1875" b="1">
                <a:solidFill>
                  <a:srgbClr val="FFFFFF"/>
                </a:solidFill>
              </a:defRPr>
            </a:defPPr>
          </a:lstStyle>
          <a:p>
            <a:pPr algn="ctr">
              <a:defRPr sz="1875" b="1">
                <a:solidFill>
                  <a:srgbClr val="FFFFFF"/>
                </a:solidFill>
              </a:defRPr>
            </a:pPr>
            <a:r>
              <a:rPr sz="1875" b="1">
                <a:solidFill>
                  <a:srgbClr val="FFFFFF"/>
                </a:solidFill>
              </a:rPr>
              <a:t>A</a:t>
            </a:r>
          </a:p>
        </p:txBody>
      </p:sp>
      <p:sp>
        <p:nvSpPr>
          <p:cNvPr id="5" name="Rectangle 4">
            <a:extLst>
              <a:ext uri="{FF2B5EF4-FFF2-40B4-BE49-F238E27FC236}">
                <a16:creationId xmlns:a16="http://schemas.microsoft.com/office/drawing/2014/main" id="{D7745BA7-386D-4C41-9CE7-ED41EE26BE33}"/>
              </a:ext>
            </a:extLst>
          </p:cNvPr>
          <p:cNvSpPr>
            <a:spLocks noGrp="1"/>
          </p:cNvSpPr>
          <p:nvPr/>
        </p:nvSpPr>
        <p:spPr>
          <a:xfrm>
            <a:off x="1600200" y="2619375"/>
            <a:ext cx="5810250" cy="55245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Answers from model knowledge</a:t>
            </a:r>
          </a:p>
        </p:txBody>
      </p:sp>
      <p:sp>
        <p:nvSpPr>
          <p:cNvPr id="6" name="Rectangle 5">
            <a:extLst>
              <a:ext uri="{FF2B5EF4-FFF2-40B4-BE49-F238E27FC236}">
                <a16:creationId xmlns:a16="http://schemas.microsoft.com/office/drawing/2014/main" id="{82AE8E6E-BDD5-4FB0-B5A9-EC3EE0DB01F7}"/>
              </a:ext>
            </a:extLst>
          </p:cNvPr>
          <p:cNvSpPr>
            <a:spLocks noGrp="1"/>
          </p:cNvSpPr>
          <p:nvPr/>
        </p:nvSpPr>
        <p:spPr>
          <a:xfrm>
            <a:off x="7829550" y="2647950"/>
            <a:ext cx="2000250" cy="514350"/>
          </a:xfrm>
          <a:prstGeom prst="rect">
            <a:avLst/>
          </a:prstGeom>
          <a:solidFill>
            <a:srgbClr val="E7EEFC"/>
          </a:solid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Assistant</a:t>
            </a:r>
          </a:p>
        </p:txBody>
      </p:sp>
      <p:sp>
        <p:nvSpPr>
          <p:cNvPr id="7" name="Rectangle 6">
            <a:extLst>
              <a:ext uri="{FF2B5EF4-FFF2-40B4-BE49-F238E27FC236}">
                <a16:creationId xmlns:a16="http://schemas.microsoft.com/office/drawing/2014/main" id="{F1746D77-D5D3-4D04-BA8F-EFA9AD56FCDF}"/>
              </a:ext>
            </a:extLst>
          </p:cNvPr>
          <p:cNvSpPr>
            <a:spLocks noGrp="1"/>
          </p:cNvSpPr>
          <p:nvPr/>
        </p:nvSpPr>
        <p:spPr>
          <a:xfrm>
            <a:off x="762000" y="3638550"/>
            <a:ext cx="514350" cy="514350"/>
          </a:xfrm>
          <a:prstGeom prst="rect">
            <a:avLst/>
          </a:prstGeom>
          <a:solidFill>
            <a:srgbClr val="42BCC9"/>
          </a:solidFill>
          <a:ln w="0">
            <a:noFill/>
            <a:prstDash val="solid"/>
          </a:ln>
        </p:spPr>
        <p:txBody>
          <a:bodyPr anchor="ctr"/>
          <a:lstStyle>
            <a:defPPr algn="ctr">
              <a:defRPr sz="1875" b="1">
                <a:solidFill>
                  <a:srgbClr val="FFFFFF"/>
                </a:solidFill>
              </a:defRPr>
            </a:defPPr>
          </a:lstStyle>
          <a:p>
            <a:pPr algn="ctr">
              <a:defRPr sz="1875" b="1">
                <a:solidFill>
                  <a:srgbClr val="FFFFFF"/>
                </a:solidFill>
              </a:defRPr>
            </a:pPr>
            <a:r>
              <a:rPr sz="1875" b="1">
                <a:solidFill>
                  <a:srgbClr val="FFFFFF"/>
                </a:solidFill>
              </a:rPr>
              <a:t>B</a:t>
            </a:r>
          </a:p>
        </p:txBody>
      </p:sp>
      <p:sp>
        <p:nvSpPr>
          <p:cNvPr id="8" name="Rectangle 7">
            <a:extLst>
              <a:ext uri="{FF2B5EF4-FFF2-40B4-BE49-F238E27FC236}">
                <a16:creationId xmlns:a16="http://schemas.microsoft.com/office/drawing/2014/main" id="{DE2090C9-D223-4B84-B4FC-AAAA3D83DA8A}"/>
              </a:ext>
            </a:extLst>
          </p:cNvPr>
          <p:cNvSpPr>
            <a:spLocks noGrp="1"/>
          </p:cNvSpPr>
          <p:nvPr/>
        </p:nvSpPr>
        <p:spPr>
          <a:xfrm>
            <a:off x="1600200" y="3609975"/>
            <a:ext cx="5810250" cy="55245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Extracts text, translates it, then summarizes</a:t>
            </a:r>
          </a:p>
        </p:txBody>
      </p:sp>
      <p:sp>
        <p:nvSpPr>
          <p:cNvPr id="9" name="Rectangle 8">
            <a:extLst>
              <a:ext uri="{FF2B5EF4-FFF2-40B4-BE49-F238E27FC236}">
                <a16:creationId xmlns:a16="http://schemas.microsoft.com/office/drawing/2014/main" id="{81DE214B-98DD-4266-B36F-05B35A55EDD5}"/>
              </a:ext>
            </a:extLst>
          </p:cNvPr>
          <p:cNvSpPr>
            <a:spLocks noGrp="1"/>
          </p:cNvSpPr>
          <p:nvPr/>
        </p:nvSpPr>
        <p:spPr>
          <a:xfrm>
            <a:off x="7829550" y="3638550"/>
            <a:ext cx="2000250" cy="514350"/>
          </a:xfrm>
          <a:prstGeom prst="rect">
            <a:avLst/>
          </a:prstGeom>
          <a:solidFill>
            <a:srgbClr val="E1F4F3"/>
          </a:solid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Fixed workflow</a:t>
            </a:r>
          </a:p>
        </p:txBody>
      </p:sp>
      <p:sp>
        <p:nvSpPr>
          <p:cNvPr id="10" name="Rectangle 9">
            <a:extLst>
              <a:ext uri="{FF2B5EF4-FFF2-40B4-BE49-F238E27FC236}">
                <a16:creationId xmlns:a16="http://schemas.microsoft.com/office/drawing/2014/main" id="{811AEA51-FDF0-4FD6-9DED-E00C12BB5656}"/>
              </a:ext>
            </a:extLst>
          </p:cNvPr>
          <p:cNvSpPr>
            <a:spLocks noGrp="1"/>
          </p:cNvSpPr>
          <p:nvPr/>
        </p:nvSpPr>
        <p:spPr>
          <a:xfrm>
            <a:off x="762000" y="4629150"/>
            <a:ext cx="514350" cy="514350"/>
          </a:xfrm>
          <a:prstGeom prst="rect">
            <a:avLst/>
          </a:prstGeom>
          <a:solidFill>
            <a:srgbClr val="F4B900"/>
          </a:solidFill>
          <a:ln w="0">
            <a:noFill/>
            <a:prstDash val="solid"/>
          </a:ln>
        </p:spPr>
        <p:txBody>
          <a:bodyPr anchor="ctr"/>
          <a:lstStyle>
            <a:defPPr algn="ctr">
              <a:defRPr sz="1875" b="1">
                <a:solidFill>
                  <a:srgbClr val="FFFFFF"/>
                </a:solidFill>
              </a:defRPr>
            </a:defPPr>
          </a:lstStyle>
          <a:p>
            <a:pPr algn="ctr">
              <a:defRPr sz="1875" b="1">
                <a:solidFill>
                  <a:srgbClr val="FFFFFF"/>
                </a:solidFill>
              </a:defRPr>
            </a:pPr>
            <a:r>
              <a:rPr sz="1875" b="1">
                <a:solidFill>
                  <a:srgbClr val="FFFFFF"/>
                </a:solidFill>
              </a:rPr>
              <a:t>C</a:t>
            </a:r>
          </a:p>
        </p:txBody>
      </p:sp>
      <p:sp>
        <p:nvSpPr>
          <p:cNvPr id="11" name="Rectangle 10">
            <a:extLst>
              <a:ext uri="{FF2B5EF4-FFF2-40B4-BE49-F238E27FC236}">
                <a16:creationId xmlns:a16="http://schemas.microsoft.com/office/drawing/2014/main" id="{CC53D790-47CD-4305-B902-5D9344CDC025}"/>
              </a:ext>
            </a:extLst>
          </p:cNvPr>
          <p:cNvSpPr>
            <a:spLocks noGrp="1"/>
          </p:cNvSpPr>
          <p:nvPr/>
        </p:nvSpPr>
        <p:spPr>
          <a:xfrm>
            <a:off x="1600200" y="4600575"/>
            <a:ext cx="5810250" cy="55245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Chooses tools and repeats work until evidence is sufficient</a:t>
            </a:r>
          </a:p>
        </p:txBody>
      </p:sp>
      <p:sp>
        <p:nvSpPr>
          <p:cNvPr id="12" name="Rectangle 11">
            <a:extLst>
              <a:ext uri="{FF2B5EF4-FFF2-40B4-BE49-F238E27FC236}">
                <a16:creationId xmlns:a16="http://schemas.microsoft.com/office/drawing/2014/main" id="{5FC6C5C3-F8CE-4E22-A9C6-F17C174E1717}"/>
              </a:ext>
            </a:extLst>
          </p:cNvPr>
          <p:cNvSpPr>
            <a:spLocks noGrp="1"/>
          </p:cNvSpPr>
          <p:nvPr/>
        </p:nvSpPr>
        <p:spPr>
          <a:xfrm>
            <a:off x="7829550" y="4629150"/>
            <a:ext cx="2000250" cy="514350"/>
          </a:xfrm>
          <a:prstGeom prst="rect">
            <a:avLst/>
          </a:prstGeom>
          <a:solidFill>
            <a:srgbClr val="FFF2C2"/>
          </a:solid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Agent</a:t>
            </a:r>
          </a:p>
        </p:txBody>
      </p:sp>
    </p:spTree>
    <p:extLst>
      <p:ext uri="{BB962C8B-B14F-4D97-AF65-F5344CB8AC3E}">
        <p14:creationId xmlns:p14="http://schemas.microsoft.com/office/powerpoint/2010/main" val="1645925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FD2CD90-C8AE-444E-9FE4-95F8BBAE6B9E}"/>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E3FF43D-7A16-45E1-A279-C634A0ED4F8C}"/>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A practical definition of an agent</a:t>
            </a:r>
          </a:p>
        </p:txBody>
      </p:sp>
      <p:sp>
        <p:nvSpPr>
          <p:cNvPr id="3" name="Rectangle 2">
            <a:extLst>
              <a:ext uri="{FF2B5EF4-FFF2-40B4-BE49-F238E27FC236}">
                <a16:creationId xmlns:a16="http://schemas.microsoft.com/office/drawing/2014/main" id="{59D02E98-AF4B-41C3-B5A8-C921B90A88E8}"/>
              </a:ext>
            </a:extLst>
          </p:cNvPr>
          <p:cNvSpPr>
            <a:spLocks noGrp="1"/>
          </p:cNvSpPr>
          <p:nvPr/>
        </p:nvSpPr>
        <p:spPr>
          <a:xfrm>
            <a:off x="838200" y="2571750"/>
            <a:ext cx="8763000" cy="628650"/>
          </a:xfrm>
          <a:prstGeom prst="rect">
            <a:avLst/>
          </a:prstGeom>
          <a:noFill/>
          <a:ln w="0">
            <a:noFill/>
            <a:prstDash val="solid"/>
          </a:ln>
        </p:spPr>
        <p:txBody>
          <a:bodyPr anchor="ctr"/>
          <a:lstStyle>
            <a:defPPr algn="l">
              <a:defRPr sz="2025" b="1">
                <a:solidFill>
                  <a:srgbClr val="203D67"/>
                </a:solidFill>
              </a:defRPr>
            </a:defPPr>
          </a:lstStyle>
          <a:p>
            <a:pPr algn="l">
              <a:defRPr sz="2025" b="1">
                <a:solidFill>
                  <a:srgbClr val="203D67"/>
                </a:solidFill>
              </a:defRPr>
            </a:pPr>
            <a:r>
              <a:rPr sz="2025" b="1">
                <a:solidFill>
                  <a:srgbClr val="203D67"/>
                </a:solidFill>
              </a:rPr>
              <a:t>An agent pursues a goal by choosing actions, observing results and updating its next decision.</a:t>
            </a:r>
          </a:p>
        </p:txBody>
      </p:sp>
      <p:sp>
        <p:nvSpPr>
          <p:cNvPr id="4" name="Rounded Rectangle 3">
            <a:extLst>
              <a:ext uri="{FF2B5EF4-FFF2-40B4-BE49-F238E27FC236}">
                <a16:creationId xmlns:a16="http://schemas.microsoft.com/office/drawing/2014/main" id="{C70B24EB-70EB-4668-AB93-DF855C924C97}"/>
              </a:ext>
            </a:extLst>
          </p:cNvPr>
          <p:cNvSpPr>
            <a:spLocks noGrp="1"/>
          </p:cNvSpPr>
          <p:nvPr/>
        </p:nvSpPr>
        <p:spPr>
          <a:xfrm>
            <a:off x="781050" y="3733800"/>
            <a:ext cx="1409700" cy="685800"/>
          </a:xfrm>
          <a:prstGeom prst="roundRect">
            <a:avLst>
              <a:gd name="adj" fmla="val 16667"/>
            </a:avLst>
          </a:prstGeom>
          <a:solidFill>
            <a:srgbClr val="E7EEFC"/>
          </a:solidFill>
          <a:ln w="9525">
            <a:solidFill>
              <a:srgbClr val="B8C9E5"/>
            </a:solidFill>
            <a:prstDash val="solid"/>
          </a:ln>
        </p:spPr>
        <p:txBody>
          <a:bodyPr/>
          <a:lstStyle/>
          <a:p>
            <a:endParaRPr lang="en-US"/>
          </a:p>
        </p:txBody>
      </p:sp>
      <p:sp>
        <p:nvSpPr>
          <p:cNvPr id="5" name="Rectangle 4">
            <a:extLst>
              <a:ext uri="{FF2B5EF4-FFF2-40B4-BE49-F238E27FC236}">
                <a16:creationId xmlns:a16="http://schemas.microsoft.com/office/drawing/2014/main" id="{081B0DED-EAD0-4558-9253-9CE79692F3EC}"/>
              </a:ext>
            </a:extLst>
          </p:cNvPr>
          <p:cNvSpPr>
            <a:spLocks noGrp="1"/>
          </p:cNvSpPr>
          <p:nvPr/>
        </p:nvSpPr>
        <p:spPr>
          <a:xfrm>
            <a:off x="857250" y="3790950"/>
            <a:ext cx="1257300" cy="5715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Goal</a:t>
            </a:r>
          </a:p>
        </p:txBody>
      </p:sp>
      <p:sp>
        <p:nvSpPr>
          <p:cNvPr id="6" name="Rounded Rectangle 5">
            <a:extLst>
              <a:ext uri="{FF2B5EF4-FFF2-40B4-BE49-F238E27FC236}">
                <a16:creationId xmlns:a16="http://schemas.microsoft.com/office/drawing/2014/main" id="{7E2ADD23-969D-44E2-A6FD-4AC53FFDD73B}"/>
              </a:ext>
            </a:extLst>
          </p:cNvPr>
          <p:cNvSpPr>
            <a:spLocks noGrp="1"/>
          </p:cNvSpPr>
          <p:nvPr/>
        </p:nvSpPr>
        <p:spPr>
          <a:xfrm>
            <a:off x="2533650" y="3733800"/>
            <a:ext cx="1409700" cy="685800"/>
          </a:xfrm>
          <a:prstGeom prst="roundRect">
            <a:avLst>
              <a:gd name="adj" fmla="val 16667"/>
            </a:avLst>
          </a:prstGeom>
          <a:solidFill>
            <a:srgbClr val="E1F4F3"/>
          </a:solidFill>
          <a:ln w="9525">
            <a:solidFill>
              <a:srgbClr val="B8C9E5"/>
            </a:solidFill>
            <a:prstDash val="solid"/>
          </a:ln>
        </p:spPr>
        <p:txBody>
          <a:bodyPr/>
          <a:lstStyle/>
          <a:p>
            <a:endParaRPr lang="en-US"/>
          </a:p>
        </p:txBody>
      </p:sp>
      <p:sp>
        <p:nvSpPr>
          <p:cNvPr id="7" name="Rectangle 6">
            <a:extLst>
              <a:ext uri="{FF2B5EF4-FFF2-40B4-BE49-F238E27FC236}">
                <a16:creationId xmlns:a16="http://schemas.microsoft.com/office/drawing/2014/main" id="{6B25B081-60F4-425B-80B5-AD11016D605A}"/>
              </a:ext>
            </a:extLst>
          </p:cNvPr>
          <p:cNvSpPr>
            <a:spLocks noGrp="1"/>
          </p:cNvSpPr>
          <p:nvPr/>
        </p:nvSpPr>
        <p:spPr>
          <a:xfrm>
            <a:off x="2609850" y="3790950"/>
            <a:ext cx="1257300" cy="5715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Model</a:t>
            </a:r>
          </a:p>
        </p:txBody>
      </p:sp>
      <p:sp>
        <p:nvSpPr>
          <p:cNvPr id="8" name="Rounded Rectangle 7">
            <a:extLst>
              <a:ext uri="{FF2B5EF4-FFF2-40B4-BE49-F238E27FC236}">
                <a16:creationId xmlns:a16="http://schemas.microsoft.com/office/drawing/2014/main" id="{33C125A3-3C90-4D5B-AB7E-20C59CA46850}"/>
              </a:ext>
            </a:extLst>
          </p:cNvPr>
          <p:cNvSpPr>
            <a:spLocks noGrp="1"/>
          </p:cNvSpPr>
          <p:nvPr/>
        </p:nvSpPr>
        <p:spPr>
          <a:xfrm>
            <a:off x="4286250" y="3733800"/>
            <a:ext cx="1409700" cy="685800"/>
          </a:xfrm>
          <a:prstGeom prst="roundRect">
            <a:avLst>
              <a:gd name="adj" fmla="val 16667"/>
            </a:avLst>
          </a:prstGeom>
          <a:solidFill>
            <a:srgbClr val="FFF2C2"/>
          </a:solidFill>
          <a:ln w="9525">
            <a:solidFill>
              <a:srgbClr val="B8C9E5"/>
            </a:solidFill>
            <a:prstDash val="solid"/>
          </a:ln>
        </p:spPr>
        <p:txBody>
          <a:bodyPr/>
          <a:lstStyle/>
          <a:p>
            <a:endParaRPr lang="en-US"/>
          </a:p>
        </p:txBody>
      </p:sp>
      <p:sp>
        <p:nvSpPr>
          <p:cNvPr id="9" name="Rectangle 8">
            <a:extLst>
              <a:ext uri="{FF2B5EF4-FFF2-40B4-BE49-F238E27FC236}">
                <a16:creationId xmlns:a16="http://schemas.microsoft.com/office/drawing/2014/main" id="{E4CB5E52-65C1-4C00-B553-AF737EFAE859}"/>
              </a:ext>
            </a:extLst>
          </p:cNvPr>
          <p:cNvSpPr>
            <a:spLocks noGrp="1"/>
          </p:cNvSpPr>
          <p:nvPr/>
        </p:nvSpPr>
        <p:spPr>
          <a:xfrm>
            <a:off x="4362450" y="3790950"/>
            <a:ext cx="1257300" cy="5715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Tools</a:t>
            </a:r>
          </a:p>
        </p:txBody>
      </p:sp>
      <p:sp>
        <p:nvSpPr>
          <p:cNvPr id="10" name="Rounded Rectangle 9">
            <a:extLst>
              <a:ext uri="{FF2B5EF4-FFF2-40B4-BE49-F238E27FC236}">
                <a16:creationId xmlns:a16="http://schemas.microsoft.com/office/drawing/2014/main" id="{DE075A6D-4B18-4DB9-B7C1-C2C98D59EB7C}"/>
              </a:ext>
            </a:extLst>
          </p:cNvPr>
          <p:cNvSpPr>
            <a:spLocks noGrp="1"/>
          </p:cNvSpPr>
          <p:nvPr/>
        </p:nvSpPr>
        <p:spPr>
          <a:xfrm>
            <a:off x="6038850" y="3733800"/>
            <a:ext cx="1409700" cy="685800"/>
          </a:xfrm>
          <a:prstGeom prst="roundRect">
            <a:avLst>
              <a:gd name="adj" fmla="val 16667"/>
            </a:avLst>
          </a:prstGeom>
          <a:solidFill>
            <a:srgbClr val="FDE8E1"/>
          </a:solidFill>
          <a:ln w="9525">
            <a:solidFill>
              <a:srgbClr val="B8C9E5"/>
            </a:solidFill>
            <a:prstDash val="solid"/>
          </a:ln>
        </p:spPr>
        <p:txBody>
          <a:bodyPr/>
          <a:lstStyle/>
          <a:p>
            <a:endParaRPr lang="en-US"/>
          </a:p>
        </p:txBody>
      </p:sp>
      <p:sp>
        <p:nvSpPr>
          <p:cNvPr id="11" name="Rectangle 10">
            <a:extLst>
              <a:ext uri="{FF2B5EF4-FFF2-40B4-BE49-F238E27FC236}">
                <a16:creationId xmlns:a16="http://schemas.microsoft.com/office/drawing/2014/main" id="{2F9496B8-2B4A-4F25-BE3E-9D86C6AE0EBE}"/>
              </a:ext>
            </a:extLst>
          </p:cNvPr>
          <p:cNvSpPr>
            <a:spLocks noGrp="1"/>
          </p:cNvSpPr>
          <p:nvPr/>
        </p:nvSpPr>
        <p:spPr>
          <a:xfrm>
            <a:off x="6115050" y="3790950"/>
            <a:ext cx="1257300" cy="5715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State</a:t>
            </a:r>
          </a:p>
        </p:txBody>
      </p:sp>
      <p:sp>
        <p:nvSpPr>
          <p:cNvPr id="12" name="Rounded Rectangle 11">
            <a:extLst>
              <a:ext uri="{FF2B5EF4-FFF2-40B4-BE49-F238E27FC236}">
                <a16:creationId xmlns:a16="http://schemas.microsoft.com/office/drawing/2014/main" id="{80A66A38-DF51-430B-A1F4-5414FEABA6CF}"/>
              </a:ext>
            </a:extLst>
          </p:cNvPr>
          <p:cNvSpPr>
            <a:spLocks noGrp="1"/>
          </p:cNvSpPr>
          <p:nvPr/>
        </p:nvSpPr>
        <p:spPr>
          <a:xfrm>
            <a:off x="7791450" y="3733800"/>
            <a:ext cx="1409700" cy="685800"/>
          </a:xfrm>
          <a:prstGeom prst="roundRect">
            <a:avLst>
              <a:gd name="adj" fmla="val 16667"/>
            </a:avLst>
          </a:prstGeom>
          <a:solidFill>
            <a:srgbClr val="E7EEFC"/>
          </a:solidFill>
          <a:ln w="9525">
            <a:solidFill>
              <a:srgbClr val="B8C9E5"/>
            </a:solidFill>
            <a:prstDash val="solid"/>
          </a:ln>
        </p:spPr>
        <p:txBody>
          <a:bodyPr/>
          <a:lstStyle/>
          <a:p>
            <a:endParaRPr lang="en-US"/>
          </a:p>
        </p:txBody>
      </p:sp>
      <p:sp>
        <p:nvSpPr>
          <p:cNvPr id="13" name="Rectangle 12">
            <a:extLst>
              <a:ext uri="{FF2B5EF4-FFF2-40B4-BE49-F238E27FC236}">
                <a16:creationId xmlns:a16="http://schemas.microsoft.com/office/drawing/2014/main" id="{925CDFE4-DBF1-4D86-80EE-54C763ABBADD}"/>
              </a:ext>
            </a:extLst>
          </p:cNvPr>
          <p:cNvSpPr>
            <a:spLocks noGrp="1"/>
          </p:cNvSpPr>
          <p:nvPr/>
        </p:nvSpPr>
        <p:spPr>
          <a:xfrm>
            <a:off x="7867650" y="3790950"/>
            <a:ext cx="1257300" cy="5715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Runtime</a:t>
            </a:r>
          </a:p>
        </p:txBody>
      </p:sp>
      <p:sp>
        <p:nvSpPr>
          <p:cNvPr id="14" name="Rectangle 13">
            <a:extLst>
              <a:ext uri="{FF2B5EF4-FFF2-40B4-BE49-F238E27FC236}">
                <a16:creationId xmlns:a16="http://schemas.microsoft.com/office/drawing/2014/main" id="{9265A842-B751-4BAB-BACD-3EAACC45406A}"/>
              </a:ext>
            </a:extLst>
          </p:cNvPr>
          <p:cNvSpPr>
            <a:spLocks noGrp="1"/>
          </p:cNvSpPr>
          <p:nvPr/>
        </p:nvSpPr>
        <p:spPr>
          <a:xfrm>
            <a:off x="1714500" y="4857750"/>
            <a:ext cx="6858000" cy="419100"/>
          </a:xfrm>
          <a:prstGeom prst="rect">
            <a:avLst/>
          </a:prstGeom>
          <a:noFill/>
          <a:ln w="0">
            <a:noFill/>
            <a:prstDash val="solid"/>
          </a:ln>
        </p:spPr>
        <p:txBody>
          <a:bodyPr anchor="ctr"/>
          <a:lstStyle>
            <a:defPPr algn="ctr">
              <a:defRPr sz="1500" b="1">
                <a:solidFill>
                  <a:srgbClr val="008A91"/>
                </a:solidFill>
              </a:defRPr>
            </a:defPPr>
          </a:lstStyle>
          <a:p>
            <a:pPr algn="ctr">
              <a:defRPr sz="1500" b="1">
                <a:solidFill>
                  <a:srgbClr val="008A91"/>
                </a:solidFill>
              </a:defRPr>
            </a:pPr>
            <a:r>
              <a:rPr sz="1500" b="1">
                <a:solidFill>
                  <a:srgbClr val="008A91"/>
                </a:solidFill>
              </a:rPr>
              <a:t>The surrounding runtime turns model output into controlled behaviour</a:t>
            </a:r>
          </a:p>
        </p:txBody>
      </p:sp>
    </p:spTree>
    <p:extLst>
      <p:ext uri="{BB962C8B-B14F-4D97-AF65-F5344CB8AC3E}">
        <p14:creationId xmlns:p14="http://schemas.microsoft.com/office/powerpoint/2010/main" val="661943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94D0769-C23B-4CCF-B0DE-40C300B32F85}"/>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FFFD6C78-0AFE-4C81-8AFC-484993C33900}"/>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The agent runtime</a:t>
            </a:r>
          </a:p>
        </p:txBody>
      </p:sp>
      <p:sp>
        <p:nvSpPr>
          <p:cNvPr id="3" name="Rounded Rectangle 2">
            <a:extLst>
              <a:ext uri="{FF2B5EF4-FFF2-40B4-BE49-F238E27FC236}">
                <a16:creationId xmlns:a16="http://schemas.microsoft.com/office/drawing/2014/main" id="{1804C7A1-9C39-4E77-8A90-A61569311C78}"/>
              </a:ext>
            </a:extLst>
          </p:cNvPr>
          <p:cNvSpPr>
            <a:spLocks noGrp="1"/>
          </p:cNvSpPr>
          <p:nvPr/>
        </p:nvSpPr>
        <p:spPr>
          <a:xfrm>
            <a:off x="704850" y="3276600"/>
            <a:ext cx="1314450" cy="781050"/>
          </a:xfrm>
          <a:prstGeom prst="roundRect">
            <a:avLst>
              <a:gd name="adj" fmla="val 14634"/>
            </a:avLst>
          </a:prstGeom>
          <a:solidFill>
            <a:srgbClr val="E7EEFC"/>
          </a:solidFill>
          <a:ln w="9525">
            <a:solidFill>
              <a:srgbClr val="B8C9E5"/>
            </a:solidFill>
            <a:prstDash val="solid"/>
          </a:ln>
        </p:spPr>
        <p:txBody>
          <a:bodyPr/>
          <a:lstStyle/>
          <a:p>
            <a:endParaRPr lang="en-US"/>
          </a:p>
        </p:txBody>
      </p:sp>
      <p:sp>
        <p:nvSpPr>
          <p:cNvPr id="4" name="Rectangle 3">
            <a:extLst>
              <a:ext uri="{FF2B5EF4-FFF2-40B4-BE49-F238E27FC236}">
                <a16:creationId xmlns:a16="http://schemas.microsoft.com/office/drawing/2014/main" id="{EFF4CBF9-6DE3-4E78-859D-8BE5D4CBA517}"/>
              </a:ext>
            </a:extLst>
          </p:cNvPr>
          <p:cNvSpPr>
            <a:spLocks noGrp="1"/>
          </p:cNvSpPr>
          <p:nvPr/>
        </p:nvSpPr>
        <p:spPr>
          <a:xfrm>
            <a:off x="781050" y="3333750"/>
            <a:ext cx="1162050" cy="66675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Goal</a:t>
            </a:r>
          </a:p>
        </p:txBody>
      </p:sp>
      <p:sp>
        <p:nvSpPr>
          <p:cNvPr id="5" name="Rounded Rectangle 4">
            <a:extLst>
              <a:ext uri="{FF2B5EF4-FFF2-40B4-BE49-F238E27FC236}">
                <a16:creationId xmlns:a16="http://schemas.microsoft.com/office/drawing/2014/main" id="{06845BCF-C69F-4276-AAB3-6DA81F01F822}"/>
              </a:ext>
            </a:extLst>
          </p:cNvPr>
          <p:cNvSpPr>
            <a:spLocks noGrp="1"/>
          </p:cNvSpPr>
          <p:nvPr/>
        </p:nvSpPr>
        <p:spPr>
          <a:xfrm>
            <a:off x="2324100" y="3276600"/>
            <a:ext cx="1314450" cy="781050"/>
          </a:xfrm>
          <a:prstGeom prst="roundRect">
            <a:avLst>
              <a:gd name="adj" fmla="val 14634"/>
            </a:avLst>
          </a:prstGeom>
          <a:solidFill>
            <a:srgbClr val="E1F4F3"/>
          </a:solidFill>
          <a:ln w="9525">
            <a:solidFill>
              <a:srgbClr val="B8C9E5"/>
            </a:solidFill>
            <a:prstDash val="solid"/>
          </a:ln>
        </p:spPr>
        <p:txBody>
          <a:bodyPr/>
          <a:lstStyle/>
          <a:p>
            <a:endParaRPr lang="en-US"/>
          </a:p>
        </p:txBody>
      </p:sp>
      <p:sp>
        <p:nvSpPr>
          <p:cNvPr id="6" name="Rectangle 5">
            <a:extLst>
              <a:ext uri="{FF2B5EF4-FFF2-40B4-BE49-F238E27FC236}">
                <a16:creationId xmlns:a16="http://schemas.microsoft.com/office/drawing/2014/main" id="{EAABBEBD-96E1-4910-A42A-3F194F4D1E10}"/>
              </a:ext>
            </a:extLst>
          </p:cNvPr>
          <p:cNvSpPr>
            <a:spLocks noGrp="1"/>
          </p:cNvSpPr>
          <p:nvPr/>
        </p:nvSpPr>
        <p:spPr>
          <a:xfrm>
            <a:off x="2400300" y="3333750"/>
            <a:ext cx="1162050" cy="66675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Context</a:t>
            </a:r>
          </a:p>
        </p:txBody>
      </p:sp>
      <p:sp>
        <p:nvSpPr>
          <p:cNvPr id="7" name="Rounded Rectangle 6">
            <a:extLst>
              <a:ext uri="{FF2B5EF4-FFF2-40B4-BE49-F238E27FC236}">
                <a16:creationId xmlns:a16="http://schemas.microsoft.com/office/drawing/2014/main" id="{AADAE73D-CA8A-49CB-AA8B-A5C2AEBFDB25}"/>
              </a:ext>
            </a:extLst>
          </p:cNvPr>
          <p:cNvSpPr>
            <a:spLocks noGrp="1"/>
          </p:cNvSpPr>
          <p:nvPr/>
        </p:nvSpPr>
        <p:spPr>
          <a:xfrm>
            <a:off x="4038600" y="3276600"/>
            <a:ext cx="1314450" cy="781050"/>
          </a:xfrm>
          <a:prstGeom prst="roundRect">
            <a:avLst>
              <a:gd name="adj" fmla="val 14634"/>
            </a:avLst>
          </a:prstGeom>
          <a:solidFill>
            <a:srgbClr val="FFF2C2"/>
          </a:solidFill>
          <a:ln w="9525">
            <a:solidFill>
              <a:srgbClr val="B8C9E5"/>
            </a:solidFill>
            <a:prstDash val="solid"/>
          </a:ln>
        </p:spPr>
        <p:txBody>
          <a:bodyPr/>
          <a:lstStyle/>
          <a:p>
            <a:endParaRPr lang="en-US"/>
          </a:p>
        </p:txBody>
      </p:sp>
      <p:sp>
        <p:nvSpPr>
          <p:cNvPr id="8" name="Rectangle 7">
            <a:extLst>
              <a:ext uri="{FF2B5EF4-FFF2-40B4-BE49-F238E27FC236}">
                <a16:creationId xmlns:a16="http://schemas.microsoft.com/office/drawing/2014/main" id="{646FB88E-634F-4168-A027-9CF87F100BF8}"/>
              </a:ext>
            </a:extLst>
          </p:cNvPr>
          <p:cNvSpPr>
            <a:spLocks noGrp="1"/>
          </p:cNvSpPr>
          <p:nvPr/>
        </p:nvSpPr>
        <p:spPr>
          <a:xfrm>
            <a:off x="4114800" y="3333750"/>
            <a:ext cx="1162050" cy="66675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Decision</a:t>
            </a:r>
          </a:p>
        </p:txBody>
      </p:sp>
      <p:sp>
        <p:nvSpPr>
          <p:cNvPr id="9" name="Rounded Rectangle 8">
            <a:extLst>
              <a:ext uri="{FF2B5EF4-FFF2-40B4-BE49-F238E27FC236}">
                <a16:creationId xmlns:a16="http://schemas.microsoft.com/office/drawing/2014/main" id="{3C8FEB06-103A-4068-97BB-8E2DC926A80C}"/>
              </a:ext>
            </a:extLst>
          </p:cNvPr>
          <p:cNvSpPr>
            <a:spLocks noGrp="1"/>
          </p:cNvSpPr>
          <p:nvPr/>
        </p:nvSpPr>
        <p:spPr>
          <a:xfrm>
            <a:off x="5753100" y="3276600"/>
            <a:ext cx="1314450" cy="781050"/>
          </a:xfrm>
          <a:prstGeom prst="roundRect">
            <a:avLst>
              <a:gd name="adj" fmla="val 14634"/>
            </a:avLst>
          </a:prstGeom>
          <a:solidFill>
            <a:srgbClr val="FDE8E1"/>
          </a:solidFill>
          <a:ln w="9525">
            <a:solidFill>
              <a:srgbClr val="B8C9E5"/>
            </a:solidFill>
            <a:prstDash val="solid"/>
          </a:ln>
        </p:spPr>
        <p:txBody>
          <a:bodyPr/>
          <a:lstStyle/>
          <a:p>
            <a:endParaRPr lang="en-US"/>
          </a:p>
        </p:txBody>
      </p:sp>
      <p:sp>
        <p:nvSpPr>
          <p:cNvPr id="10" name="Rectangle 9">
            <a:extLst>
              <a:ext uri="{FF2B5EF4-FFF2-40B4-BE49-F238E27FC236}">
                <a16:creationId xmlns:a16="http://schemas.microsoft.com/office/drawing/2014/main" id="{0CBF9836-636E-4842-BFEB-2054D141B36D}"/>
              </a:ext>
            </a:extLst>
          </p:cNvPr>
          <p:cNvSpPr>
            <a:spLocks noGrp="1"/>
          </p:cNvSpPr>
          <p:nvPr/>
        </p:nvSpPr>
        <p:spPr>
          <a:xfrm>
            <a:off x="5829300" y="3333750"/>
            <a:ext cx="1162050" cy="66675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Validated</a:t>
            </a:r>
          </a:p>
          <a:p>
            <a:pPr algn="ctr">
              <a:defRPr sz="1200" b="1">
                <a:solidFill>
                  <a:srgbClr val="203D67"/>
                </a:solidFill>
              </a:defRPr>
            </a:pPr>
            <a:r>
              <a:rPr sz="1200" b="1">
                <a:solidFill>
                  <a:srgbClr val="203D67"/>
                </a:solidFill>
              </a:rPr>
              <a:t>action</a:t>
            </a:r>
          </a:p>
        </p:txBody>
      </p:sp>
      <p:sp>
        <p:nvSpPr>
          <p:cNvPr id="11" name="Rounded Rectangle 10">
            <a:extLst>
              <a:ext uri="{FF2B5EF4-FFF2-40B4-BE49-F238E27FC236}">
                <a16:creationId xmlns:a16="http://schemas.microsoft.com/office/drawing/2014/main" id="{C9DBC8A4-8319-4915-995D-8D5CAFCB302B}"/>
              </a:ext>
            </a:extLst>
          </p:cNvPr>
          <p:cNvSpPr>
            <a:spLocks noGrp="1"/>
          </p:cNvSpPr>
          <p:nvPr/>
        </p:nvSpPr>
        <p:spPr>
          <a:xfrm>
            <a:off x="7658100" y="3276600"/>
            <a:ext cx="1314450" cy="781050"/>
          </a:xfrm>
          <a:prstGeom prst="roundRect">
            <a:avLst>
              <a:gd name="adj" fmla="val 14634"/>
            </a:avLst>
          </a:prstGeom>
          <a:solidFill>
            <a:srgbClr val="E1F4F3"/>
          </a:solidFill>
          <a:ln w="9525">
            <a:solidFill>
              <a:srgbClr val="B8C9E5"/>
            </a:solidFill>
            <a:prstDash val="solid"/>
          </a:ln>
        </p:spPr>
        <p:txBody>
          <a:bodyPr/>
          <a:lstStyle/>
          <a:p>
            <a:endParaRPr lang="en-US"/>
          </a:p>
        </p:txBody>
      </p:sp>
      <p:sp>
        <p:nvSpPr>
          <p:cNvPr id="12" name="Rectangle 11">
            <a:extLst>
              <a:ext uri="{FF2B5EF4-FFF2-40B4-BE49-F238E27FC236}">
                <a16:creationId xmlns:a16="http://schemas.microsoft.com/office/drawing/2014/main" id="{E9FDC5EF-8DD2-43EE-9824-AE0920709A9C}"/>
              </a:ext>
            </a:extLst>
          </p:cNvPr>
          <p:cNvSpPr>
            <a:spLocks noGrp="1"/>
          </p:cNvSpPr>
          <p:nvPr/>
        </p:nvSpPr>
        <p:spPr>
          <a:xfrm>
            <a:off x="7734300" y="3333750"/>
            <a:ext cx="1162050" cy="66675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Observation</a:t>
            </a:r>
          </a:p>
        </p:txBody>
      </p:sp>
      <p:sp>
        <p:nvSpPr>
          <p:cNvPr id="13" name="Rounded Rectangle 12">
            <a:extLst>
              <a:ext uri="{FF2B5EF4-FFF2-40B4-BE49-F238E27FC236}">
                <a16:creationId xmlns:a16="http://schemas.microsoft.com/office/drawing/2014/main" id="{4967E1FD-6F66-4B16-8CC3-2DED7ABBF39E}"/>
              </a:ext>
            </a:extLst>
          </p:cNvPr>
          <p:cNvSpPr>
            <a:spLocks noGrp="1"/>
          </p:cNvSpPr>
          <p:nvPr/>
        </p:nvSpPr>
        <p:spPr>
          <a:xfrm>
            <a:off x="9467850" y="3276600"/>
            <a:ext cx="1314450" cy="781050"/>
          </a:xfrm>
          <a:prstGeom prst="roundRect">
            <a:avLst>
              <a:gd name="adj" fmla="val 14634"/>
            </a:avLst>
          </a:prstGeom>
          <a:solidFill>
            <a:srgbClr val="E7EEFC"/>
          </a:solidFill>
          <a:ln w="9525">
            <a:solidFill>
              <a:srgbClr val="B8C9E5"/>
            </a:solidFill>
            <a:prstDash val="solid"/>
          </a:ln>
        </p:spPr>
        <p:txBody>
          <a:bodyPr/>
          <a:lstStyle/>
          <a:p>
            <a:endParaRPr lang="en-US"/>
          </a:p>
        </p:txBody>
      </p:sp>
      <p:sp>
        <p:nvSpPr>
          <p:cNvPr id="14" name="Rectangle 13">
            <a:extLst>
              <a:ext uri="{FF2B5EF4-FFF2-40B4-BE49-F238E27FC236}">
                <a16:creationId xmlns:a16="http://schemas.microsoft.com/office/drawing/2014/main" id="{AD943BBB-EEE2-4177-B785-527AAC801208}"/>
              </a:ext>
            </a:extLst>
          </p:cNvPr>
          <p:cNvSpPr>
            <a:spLocks noGrp="1"/>
          </p:cNvSpPr>
          <p:nvPr/>
        </p:nvSpPr>
        <p:spPr>
          <a:xfrm>
            <a:off x="9544050" y="3333750"/>
            <a:ext cx="1162050" cy="66675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Finish or</a:t>
            </a:r>
          </a:p>
          <a:p>
            <a:pPr algn="ctr">
              <a:defRPr sz="1200" b="1">
                <a:solidFill>
                  <a:srgbClr val="203D67"/>
                </a:solidFill>
              </a:defRPr>
            </a:pPr>
            <a:r>
              <a:rPr sz="1200" b="1">
                <a:solidFill>
                  <a:srgbClr val="203D67"/>
                </a:solidFill>
              </a:rPr>
              <a:t>continue</a:t>
            </a:r>
          </a:p>
        </p:txBody>
      </p:sp>
      <p:cxnSp>
        <p:nvCxnSpPr>
          <p:cNvPr id="15" name="Straight Arrow Connector 14">
            <a:extLst>
              <a:ext uri="{FF2B5EF4-FFF2-40B4-BE49-F238E27FC236}">
                <a16:creationId xmlns:a16="http://schemas.microsoft.com/office/drawing/2014/main" id="{6FD1DB36-7B03-4133-A0DB-0C8E7EC0D30C}"/>
              </a:ext>
            </a:extLst>
          </p:cNvPr>
          <p:cNvCxnSpPr>
            <a:stCxn id="3" idx="3"/>
            <a:endCxn id="5" idx="1"/>
          </p:cNvCxnSpPr>
          <p:nvPr/>
        </p:nvCxnSpPr>
        <p:spPr>
          <a:xfrm>
            <a:off x="2019300" y="3667125"/>
            <a:ext cx="304800" cy="0"/>
          </a:xfrm>
          <a:prstGeom prst="straightConnector1">
            <a:avLst/>
          </a:prstGeom>
          <a:ln w="21431">
            <a:solidFill>
              <a:srgbClr val="175CE5"/>
            </a:solidFill>
            <a:prstDash val="solid"/>
            <a:tailEnd type="arrow" w="med" len="med"/>
          </a:ln>
        </p:spPr>
      </p:cxnSp>
      <p:cxnSp>
        <p:nvCxnSpPr>
          <p:cNvPr id="16" name="Straight Arrow Connector 15">
            <a:extLst>
              <a:ext uri="{FF2B5EF4-FFF2-40B4-BE49-F238E27FC236}">
                <a16:creationId xmlns:a16="http://schemas.microsoft.com/office/drawing/2014/main" id="{27CFD5C0-F32C-40C9-975B-D5935B3858E2}"/>
              </a:ext>
            </a:extLst>
          </p:cNvPr>
          <p:cNvCxnSpPr>
            <a:stCxn id="5" idx="3"/>
            <a:endCxn id="7" idx="1"/>
          </p:cNvCxnSpPr>
          <p:nvPr/>
        </p:nvCxnSpPr>
        <p:spPr>
          <a:xfrm>
            <a:off x="3638550" y="3667125"/>
            <a:ext cx="400050" cy="0"/>
          </a:xfrm>
          <a:prstGeom prst="straightConnector1">
            <a:avLst/>
          </a:prstGeom>
          <a:ln w="21431">
            <a:solidFill>
              <a:srgbClr val="175CE5"/>
            </a:solidFill>
            <a:prstDash val="solid"/>
            <a:tailEnd type="arrow" w="med" len="med"/>
          </a:ln>
        </p:spPr>
      </p:cxnSp>
      <p:cxnSp>
        <p:nvCxnSpPr>
          <p:cNvPr id="17" name="Straight Arrow Connector 16">
            <a:extLst>
              <a:ext uri="{FF2B5EF4-FFF2-40B4-BE49-F238E27FC236}">
                <a16:creationId xmlns:a16="http://schemas.microsoft.com/office/drawing/2014/main" id="{331C817F-38A1-47C2-85C3-CAC4291BD77F}"/>
              </a:ext>
            </a:extLst>
          </p:cNvPr>
          <p:cNvCxnSpPr>
            <a:stCxn id="7" idx="3"/>
            <a:endCxn id="9" idx="1"/>
          </p:cNvCxnSpPr>
          <p:nvPr/>
        </p:nvCxnSpPr>
        <p:spPr>
          <a:xfrm>
            <a:off x="5353050" y="3667125"/>
            <a:ext cx="400050" cy="0"/>
          </a:xfrm>
          <a:prstGeom prst="straightConnector1">
            <a:avLst/>
          </a:prstGeom>
          <a:ln w="21431">
            <a:solidFill>
              <a:srgbClr val="175CE5"/>
            </a:solidFill>
            <a:prstDash val="solid"/>
            <a:tailEnd type="arrow" w="med" len="med"/>
          </a:ln>
        </p:spPr>
      </p:cxnSp>
      <p:cxnSp>
        <p:nvCxnSpPr>
          <p:cNvPr id="18" name="Straight Arrow Connector 17">
            <a:extLst>
              <a:ext uri="{FF2B5EF4-FFF2-40B4-BE49-F238E27FC236}">
                <a16:creationId xmlns:a16="http://schemas.microsoft.com/office/drawing/2014/main" id="{7D217235-F5D1-4F7E-BC04-1B336761CEAA}"/>
              </a:ext>
            </a:extLst>
          </p:cNvPr>
          <p:cNvCxnSpPr>
            <a:stCxn id="9" idx="3"/>
            <a:endCxn id="11" idx="1"/>
          </p:cNvCxnSpPr>
          <p:nvPr/>
        </p:nvCxnSpPr>
        <p:spPr>
          <a:xfrm>
            <a:off x="7067550" y="3667125"/>
            <a:ext cx="590550" cy="0"/>
          </a:xfrm>
          <a:prstGeom prst="straightConnector1">
            <a:avLst/>
          </a:prstGeom>
          <a:ln w="21431">
            <a:solidFill>
              <a:srgbClr val="175CE5"/>
            </a:solidFill>
            <a:prstDash val="solid"/>
            <a:tailEnd type="arrow" w="med" len="med"/>
          </a:ln>
        </p:spPr>
      </p:cxnSp>
      <p:cxnSp>
        <p:nvCxnSpPr>
          <p:cNvPr id="19" name="Straight Arrow Connector 18">
            <a:extLst>
              <a:ext uri="{FF2B5EF4-FFF2-40B4-BE49-F238E27FC236}">
                <a16:creationId xmlns:a16="http://schemas.microsoft.com/office/drawing/2014/main" id="{DA3631D8-78D6-4514-80A7-8DC8DD2CE8E3}"/>
              </a:ext>
            </a:extLst>
          </p:cNvPr>
          <p:cNvCxnSpPr>
            <a:stCxn id="11" idx="3"/>
            <a:endCxn id="13" idx="1"/>
          </p:cNvCxnSpPr>
          <p:nvPr/>
        </p:nvCxnSpPr>
        <p:spPr>
          <a:xfrm>
            <a:off x="8972550" y="3667125"/>
            <a:ext cx="495300" cy="0"/>
          </a:xfrm>
          <a:prstGeom prst="straightConnector1">
            <a:avLst/>
          </a:prstGeom>
          <a:ln w="21431">
            <a:solidFill>
              <a:srgbClr val="175CE5"/>
            </a:solidFill>
            <a:prstDash val="solid"/>
            <a:tailEnd type="arrow" w="med" len="med"/>
          </a:ln>
        </p:spPr>
      </p:cxnSp>
      <p:sp>
        <p:nvSpPr>
          <p:cNvPr id="20" name="Rectangle 19">
            <a:extLst>
              <a:ext uri="{FF2B5EF4-FFF2-40B4-BE49-F238E27FC236}">
                <a16:creationId xmlns:a16="http://schemas.microsoft.com/office/drawing/2014/main" id="{81C91387-E370-4545-ACAD-C7A143D2FB83}"/>
              </a:ext>
            </a:extLst>
          </p:cNvPr>
          <p:cNvSpPr>
            <a:spLocks noGrp="1"/>
          </p:cNvSpPr>
          <p:nvPr/>
        </p:nvSpPr>
        <p:spPr>
          <a:xfrm>
            <a:off x="2190750" y="4667250"/>
            <a:ext cx="7143750" cy="400050"/>
          </a:xfrm>
          <a:prstGeom prst="rect">
            <a:avLst/>
          </a:prstGeom>
          <a:noFill/>
          <a:ln w="0">
            <a:noFill/>
            <a:prstDash val="solid"/>
          </a:ln>
        </p:spPr>
        <p:txBody>
          <a:bodyPr anchor="ctr"/>
          <a:lstStyle>
            <a:defPPr algn="ctr">
              <a:defRPr sz="1500" b="1">
                <a:solidFill>
                  <a:srgbClr val="008A91"/>
                </a:solidFill>
              </a:defRPr>
            </a:defPPr>
          </a:lstStyle>
          <a:p>
            <a:pPr algn="ctr">
              <a:defRPr sz="1500" b="1">
                <a:solidFill>
                  <a:srgbClr val="008A91"/>
                </a:solidFill>
              </a:defRPr>
            </a:pPr>
            <a:r>
              <a:rPr sz="1500" b="1">
                <a:solidFill>
                  <a:srgbClr val="008A91"/>
                </a:solidFill>
              </a:rPr>
              <a:t>The runtime repeats the middle steps until a stopping condition is met</a:t>
            </a:r>
          </a:p>
        </p:txBody>
      </p:sp>
    </p:spTree>
    <p:extLst>
      <p:ext uri="{BB962C8B-B14F-4D97-AF65-F5344CB8AC3E}">
        <p14:creationId xmlns:p14="http://schemas.microsoft.com/office/powerpoint/2010/main" val="104959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0FF0281-C0B7-4349-AB4D-0CC4DAE58C3F}"/>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CFA84C4-8C1E-470D-A42E-00AB496FCC83}"/>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Agency as a spectrum</a:t>
            </a:r>
          </a:p>
        </p:txBody>
      </p:sp>
      <p:sp>
        <p:nvSpPr>
          <p:cNvPr id="3" name="Rounded Rectangle 2">
            <a:extLst>
              <a:ext uri="{FF2B5EF4-FFF2-40B4-BE49-F238E27FC236}">
                <a16:creationId xmlns:a16="http://schemas.microsoft.com/office/drawing/2014/main" id="{59A6D453-2F2D-49CA-A3E3-9E92B4B5470E}"/>
              </a:ext>
            </a:extLst>
          </p:cNvPr>
          <p:cNvSpPr>
            <a:spLocks noGrp="1"/>
          </p:cNvSpPr>
          <p:nvPr/>
        </p:nvSpPr>
        <p:spPr>
          <a:xfrm>
            <a:off x="704850" y="3143250"/>
            <a:ext cx="1600200" cy="914400"/>
          </a:xfrm>
          <a:prstGeom prst="roundRect">
            <a:avLst>
              <a:gd name="adj" fmla="val 12500"/>
            </a:avLst>
          </a:prstGeom>
          <a:solidFill>
            <a:srgbClr val="E7EEFC"/>
          </a:solidFill>
          <a:ln w="9525">
            <a:solidFill>
              <a:srgbClr val="B8C9E5"/>
            </a:solidFill>
            <a:prstDash val="solid"/>
          </a:ln>
        </p:spPr>
        <p:txBody>
          <a:bodyPr/>
          <a:lstStyle/>
          <a:p>
            <a:endParaRPr lang="en-US"/>
          </a:p>
        </p:txBody>
      </p:sp>
      <p:sp>
        <p:nvSpPr>
          <p:cNvPr id="4" name="Rectangle 3">
            <a:extLst>
              <a:ext uri="{FF2B5EF4-FFF2-40B4-BE49-F238E27FC236}">
                <a16:creationId xmlns:a16="http://schemas.microsoft.com/office/drawing/2014/main" id="{05F6B359-5B74-40C8-B4BF-35D7F7663365}"/>
              </a:ext>
            </a:extLst>
          </p:cNvPr>
          <p:cNvSpPr>
            <a:spLocks noGrp="1"/>
          </p:cNvSpPr>
          <p:nvPr/>
        </p:nvSpPr>
        <p:spPr>
          <a:xfrm>
            <a:off x="838200" y="3238500"/>
            <a:ext cx="1333500" cy="43815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Single call</a:t>
            </a:r>
          </a:p>
        </p:txBody>
      </p:sp>
      <p:sp>
        <p:nvSpPr>
          <p:cNvPr id="5" name="Rounded Rectangle 4">
            <a:extLst>
              <a:ext uri="{FF2B5EF4-FFF2-40B4-BE49-F238E27FC236}">
                <a16:creationId xmlns:a16="http://schemas.microsoft.com/office/drawing/2014/main" id="{52BA69A8-B3D2-42A8-9AC5-F3D989EEB446}"/>
              </a:ext>
            </a:extLst>
          </p:cNvPr>
          <p:cNvSpPr>
            <a:spLocks noGrp="1"/>
          </p:cNvSpPr>
          <p:nvPr/>
        </p:nvSpPr>
        <p:spPr>
          <a:xfrm>
            <a:off x="2628900" y="2971800"/>
            <a:ext cx="1600200" cy="1257300"/>
          </a:xfrm>
          <a:prstGeom prst="roundRect">
            <a:avLst>
              <a:gd name="adj" fmla="val 9091"/>
            </a:avLst>
          </a:prstGeom>
          <a:solidFill>
            <a:srgbClr val="E7EEFC"/>
          </a:solidFill>
          <a:ln w="9525">
            <a:solidFill>
              <a:srgbClr val="B8C9E5"/>
            </a:solidFill>
            <a:prstDash val="solid"/>
          </a:ln>
        </p:spPr>
        <p:txBody>
          <a:bodyPr/>
          <a:lstStyle/>
          <a:p>
            <a:endParaRPr lang="en-US"/>
          </a:p>
        </p:txBody>
      </p:sp>
      <p:sp>
        <p:nvSpPr>
          <p:cNvPr id="6" name="Rectangle 5">
            <a:extLst>
              <a:ext uri="{FF2B5EF4-FFF2-40B4-BE49-F238E27FC236}">
                <a16:creationId xmlns:a16="http://schemas.microsoft.com/office/drawing/2014/main" id="{D7D9EA33-EB30-4055-B187-36E9FCFCE5BC}"/>
              </a:ext>
            </a:extLst>
          </p:cNvPr>
          <p:cNvSpPr>
            <a:spLocks noGrp="1"/>
          </p:cNvSpPr>
          <p:nvPr/>
        </p:nvSpPr>
        <p:spPr>
          <a:xfrm>
            <a:off x="2762250" y="3067050"/>
            <a:ext cx="1333500" cy="43815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Fixed chain</a:t>
            </a:r>
          </a:p>
        </p:txBody>
      </p:sp>
      <p:sp>
        <p:nvSpPr>
          <p:cNvPr id="7" name="Rounded Rectangle 6">
            <a:extLst>
              <a:ext uri="{FF2B5EF4-FFF2-40B4-BE49-F238E27FC236}">
                <a16:creationId xmlns:a16="http://schemas.microsoft.com/office/drawing/2014/main" id="{9CC60BA0-7A4C-45F2-AB54-00CA5C14031C}"/>
              </a:ext>
            </a:extLst>
          </p:cNvPr>
          <p:cNvSpPr>
            <a:spLocks noGrp="1"/>
          </p:cNvSpPr>
          <p:nvPr/>
        </p:nvSpPr>
        <p:spPr>
          <a:xfrm>
            <a:off x="4552950" y="2800350"/>
            <a:ext cx="1600200" cy="1600200"/>
          </a:xfrm>
          <a:prstGeom prst="roundRect">
            <a:avLst>
              <a:gd name="adj" fmla="val 7143"/>
            </a:avLst>
          </a:prstGeom>
          <a:solidFill>
            <a:srgbClr val="E1F4F3"/>
          </a:solidFill>
          <a:ln w="9525">
            <a:solidFill>
              <a:srgbClr val="B8C9E5"/>
            </a:solidFill>
            <a:prstDash val="solid"/>
          </a:ln>
        </p:spPr>
        <p:txBody>
          <a:bodyPr/>
          <a:lstStyle/>
          <a:p>
            <a:endParaRPr lang="en-US"/>
          </a:p>
        </p:txBody>
      </p:sp>
      <p:sp>
        <p:nvSpPr>
          <p:cNvPr id="8" name="Rectangle 7">
            <a:extLst>
              <a:ext uri="{FF2B5EF4-FFF2-40B4-BE49-F238E27FC236}">
                <a16:creationId xmlns:a16="http://schemas.microsoft.com/office/drawing/2014/main" id="{3799CA0A-FF67-487F-BDF6-DFF2B24B5FF0}"/>
              </a:ext>
            </a:extLst>
          </p:cNvPr>
          <p:cNvSpPr>
            <a:spLocks noGrp="1"/>
          </p:cNvSpPr>
          <p:nvPr/>
        </p:nvSpPr>
        <p:spPr>
          <a:xfrm>
            <a:off x="4686300" y="2895600"/>
            <a:ext cx="1333500" cy="43815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Router</a:t>
            </a:r>
          </a:p>
        </p:txBody>
      </p:sp>
      <p:sp>
        <p:nvSpPr>
          <p:cNvPr id="9" name="Rounded Rectangle 8">
            <a:extLst>
              <a:ext uri="{FF2B5EF4-FFF2-40B4-BE49-F238E27FC236}">
                <a16:creationId xmlns:a16="http://schemas.microsoft.com/office/drawing/2014/main" id="{03787BFB-5C2F-418D-B362-66E0A4F00B37}"/>
              </a:ext>
            </a:extLst>
          </p:cNvPr>
          <p:cNvSpPr>
            <a:spLocks noGrp="1"/>
          </p:cNvSpPr>
          <p:nvPr/>
        </p:nvSpPr>
        <p:spPr>
          <a:xfrm>
            <a:off x="6477000" y="2628900"/>
            <a:ext cx="1600200" cy="1943100"/>
          </a:xfrm>
          <a:prstGeom prst="roundRect">
            <a:avLst>
              <a:gd name="adj" fmla="val 7143"/>
            </a:avLst>
          </a:prstGeom>
          <a:solidFill>
            <a:srgbClr val="FFF2C2"/>
          </a:solidFill>
          <a:ln w="9525">
            <a:solidFill>
              <a:srgbClr val="B8C9E5"/>
            </a:solidFill>
            <a:prstDash val="solid"/>
          </a:ln>
        </p:spPr>
        <p:txBody>
          <a:bodyPr/>
          <a:lstStyle/>
          <a:p>
            <a:endParaRPr lang="en-US"/>
          </a:p>
        </p:txBody>
      </p:sp>
      <p:sp>
        <p:nvSpPr>
          <p:cNvPr id="10" name="Rectangle 9">
            <a:extLst>
              <a:ext uri="{FF2B5EF4-FFF2-40B4-BE49-F238E27FC236}">
                <a16:creationId xmlns:a16="http://schemas.microsoft.com/office/drawing/2014/main" id="{05D3519D-1DAF-440B-AAB1-0B488664DED5}"/>
              </a:ext>
            </a:extLst>
          </p:cNvPr>
          <p:cNvSpPr>
            <a:spLocks noGrp="1"/>
          </p:cNvSpPr>
          <p:nvPr/>
        </p:nvSpPr>
        <p:spPr>
          <a:xfrm>
            <a:off x="6610350" y="2724150"/>
            <a:ext cx="1333500" cy="43815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Tool agent</a:t>
            </a:r>
          </a:p>
        </p:txBody>
      </p:sp>
      <p:sp>
        <p:nvSpPr>
          <p:cNvPr id="11" name="Rounded Rectangle 10">
            <a:extLst>
              <a:ext uri="{FF2B5EF4-FFF2-40B4-BE49-F238E27FC236}">
                <a16:creationId xmlns:a16="http://schemas.microsoft.com/office/drawing/2014/main" id="{65788B54-1E11-407C-B5A5-A3057D7E687F}"/>
              </a:ext>
            </a:extLst>
          </p:cNvPr>
          <p:cNvSpPr>
            <a:spLocks noGrp="1"/>
          </p:cNvSpPr>
          <p:nvPr/>
        </p:nvSpPr>
        <p:spPr>
          <a:xfrm>
            <a:off x="8401050" y="2457450"/>
            <a:ext cx="1600200" cy="2286000"/>
          </a:xfrm>
          <a:prstGeom prst="roundRect">
            <a:avLst>
              <a:gd name="adj" fmla="val 7143"/>
            </a:avLst>
          </a:prstGeom>
          <a:solidFill>
            <a:srgbClr val="FDE8E1"/>
          </a:solidFill>
          <a:ln w="9525">
            <a:solidFill>
              <a:srgbClr val="B8C9E5"/>
            </a:solidFill>
            <a:prstDash val="solid"/>
          </a:ln>
        </p:spPr>
        <p:txBody>
          <a:bodyPr/>
          <a:lstStyle/>
          <a:p>
            <a:endParaRPr lang="en-US"/>
          </a:p>
        </p:txBody>
      </p:sp>
      <p:sp>
        <p:nvSpPr>
          <p:cNvPr id="12" name="Rectangle 11">
            <a:extLst>
              <a:ext uri="{FF2B5EF4-FFF2-40B4-BE49-F238E27FC236}">
                <a16:creationId xmlns:a16="http://schemas.microsoft.com/office/drawing/2014/main" id="{A37B9314-595A-4E66-89E5-F1EDBD751AD6}"/>
              </a:ext>
            </a:extLst>
          </p:cNvPr>
          <p:cNvSpPr>
            <a:spLocks noGrp="1"/>
          </p:cNvSpPr>
          <p:nvPr/>
        </p:nvSpPr>
        <p:spPr>
          <a:xfrm>
            <a:off x="8534400" y="2552700"/>
            <a:ext cx="1333500" cy="43815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Long-running agent</a:t>
            </a:r>
          </a:p>
        </p:txBody>
      </p:sp>
      <p:sp>
        <p:nvSpPr>
          <p:cNvPr id="13" name="Rectangle 12">
            <a:extLst>
              <a:ext uri="{FF2B5EF4-FFF2-40B4-BE49-F238E27FC236}">
                <a16:creationId xmlns:a16="http://schemas.microsoft.com/office/drawing/2014/main" id="{7F21AE99-94B9-498E-B09E-29CCACEC937C}"/>
              </a:ext>
            </a:extLst>
          </p:cNvPr>
          <p:cNvSpPr>
            <a:spLocks noGrp="1"/>
          </p:cNvSpPr>
          <p:nvPr/>
        </p:nvSpPr>
        <p:spPr>
          <a:xfrm>
            <a:off x="8058150" y="5143500"/>
            <a:ext cx="2000250" cy="304800"/>
          </a:xfrm>
          <a:prstGeom prst="rect">
            <a:avLst/>
          </a:prstGeom>
          <a:noFill/>
          <a:ln w="0">
            <a:noFill/>
            <a:prstDash val="solid"/>
          </a:ln>
        </p:spPr>
        <p:txBody>
          <a:bodyPr anchor="ctr"/>
          <a:lstStyle>
            <a:defPPr algn="r">
              <a:defRPr sz="1200" b="1">
                <a:solidFill>
                  <a:srgbClr val="EE7D5B"/>
                </a:solidFill>
              </a:defRPr>
            </a:defPPr>
          </a:lstStyle>
          <a:p>
            <a:pPr algn="r">
              <a:defRPr sz="1200" b="1">
                <a:solidFill>
                  <a:srgbClr val="EE7D5B"/>
                </a:solidFill>
              </a:defRPr>
            </a:pPr>
            <a:r>
              <a:rPr sz="1200" b="1">
                <a:solidFill>
                  <a:srgbClr val="EE7D5B"/>
                </a:solidFill>
              </a:rPr>
              <a:t>More autonomy</a:t>
            </a:r>
          </a:p>
        </p:txBody>
      </p:sp>
      <p:sp>
        <p:nvSpPr>
          <p:cNvPr id="14" name="Rectangle 13">
            <a:extLst>
              <a:ext uri="{FF2B5EF4-FFF2-40B4-BE49-F238E27FC236}">
                <a16:creationId xmlns:a16="http://schemas.microsoft.com/office/drawing/2014/main" id="{510F00E0-60DD-47FA-B752-500C20FEB103}"/>
              </a:ext>
            </a:extLst>
          </p:cNvPr>
          <p:cNvSpPr>
            <a:spLocks noGrp="1"/>
          </p:cNvSpPr>
          <p:nvPr/>
        </p:nvSpPr>
        <p:spPr>
          <a:xfrm>
            <a:off x="5810250" y="5467350"/>
            <a:ext cx="4248150" cy="323850"/>
          </a:xfrm>
          <a:prstGeom prst="rect">
            <a:avLst/>
          </a:prstGeom>
          <a:noFill/>
          <a:ln w="0">
            <a:noFill/>
            <a:prstDash val="solid"/>
          </a:ln>
        </p:spPr>
        <p:txBody>
          <a:bodyPr anchor="ctr"/>
          <a:lstStyle>
            <a:defPPr algn="r">
              <a:defRPr sz="1350" b="1">
                <a:solidFill>
                  <a:srgbClr val="008A91"/>
                </a:solidFill>
              </a:defRPr>
            </a:defPPr>
          </a:lstStyle>
          <a:p>
            <a:pPr algn="r">
              <a:defRPr sz="1350" b="1">
                <a:solidFill>
                  <a:srgbClr val="008A91"/>
                </a:solidFill>
              </a:defRPr>
            </a:pPr>
            <a:r>
              <a:rPr sz="1350" b="1">
                <a:solidFill>
                  <a:srgbClr val="008A91"/>
                </a:solidFill>
              </a:rPr>
              <a:t>More evaluation and stronger controls</a:t>
            </a:r>
          </a:p>
        </p:txBody>
      </p:sp>
    </p:spTree>
    <p:extLst>
      <p:ext uri="{BB962C8B-B14F-4D97-AF65-F5344CB8AC3E}">
        <p14:creationId xmlns:p14="http://schemas.microsoft.com/office/powerpoint/2010/main" val="1149474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FC4233A-C4CA-4EA3-9A62-E1EB13EC233D}"/>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C7B24EB-DA3A-4AB6-8931-12F1BA325272}"/>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Thought, action and observation</a:t>
            </a:r>
          </a:p>
        </p:txBody>
      </p:sp>
      <p:sp>
        <p:nvSpPr>
          <p:cNvPr id="3" name="Rounded Rectangle 2">
            <a:extLst>
              <a:ext uri="{FF2B5EF4-FFF2-40B4-BE49-F238E27FC236}">
                <a16:creationId xmlns:a16="http://schemas.microsoft.com/office/drawing/2014/main" id="{4ACFD679-034A-4052-90A5-6BDEBA6F8D77}"/>
              </a:ext>
            </a:extLst>
          </p:cNvPr>
          <p:cNvSpPr>
            <a:spLocks noGrp="1"/>
          </p:cNvSpPr>
          <p:nvPr/>
        </p:nvSpPr>
        <p:spPr>
          <a:xfrm>
            <a:off x="1238250" y="3143250"/>
            <a:ext cx="2095500" cy="914400"/>
          </a:xfrm>
          <a:prstGeom prst="roundRect">
            <a:avLst>
              <a:gd name="adj" fmla="val 12500"/>
            </a:avLst>
          </a:prstGeom>
          <a:solidFill>
            <a:srgbClr val="E7EEFC"/>
          </a:solidFill>
          <a:ln w="9525">
            <a:solidFill>
              <a:srgbClr val="B8C9E5"/>
            </a:solidFill>
            <a:prstDash val="solid"/>
          </a:ln>
        </p:spPr>
        <p:txBody>
          <a:bodyPr/>
          <a:lstStyle/>
          <a:p>
            <a:endParaRPr lang="en-US"/>
          </a:p>
        </p:txBody>
      </p:sp>
      <p:sp>
        <p:nvSpPr>
          <p:cNvPr id="4" name="Rectangle 3">
            <a:extLst>
              <a:ext uri="{FF2B5EF4-FFF2-40B4-BE49-F238E27FC236}">
                <a16:creationId xmlns:a16="http://schemas.microsoft.com/office/drawing/2014/main" id="{7010A6BD-E919-4CF8-ABDA-958E853CD973}"/>
              </a:ext>
            </a:extLst>
          </p:cNvPr>
          <p:cNvSpPr>
            <a:spLocks noGrp="1"/>
          </p:cNvSpPr>
          <p:nvPr/>
        </p:nvSpPr>
        <p:spPr>
          <a:xfrm>
            <a:off x="1314450" y="3200400"/>
            <a:ext cx="1943100" cy="8001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THOUGHT</a:t>
            </a:r>
          </a:p>
          <a:p>
            <a:pPr algn="ctr">
              <a:defRPr sz="1275" b="1">
                <a:solidFill>
                  <a:srgbClr val="203D67"/>
                </a:solidFill>
              </a:defRPr>
            </a:pPr>
            <a:r>
              <a:rPr sz="1275" b="1">
                <a:solidFill>
                  <a:srgbClr val="203D67"/>
                </a:solidFill>
              </a:rPr>
              <a:t>What should happen next?</a:t>
            </a:r>
          </a:p>
        </p:txBody>
      </p:sp>
      <p:sp>
        <p:nvSpPr>
          <p:cNvPr id="5" name="Rounded Rectangle 4">
            <a:extLst>
              <a:ext uri="{FF2B5EF4-FFF2-40B4-BE49-F238E27FC236}">
                <a16:creationId xmlns:a16="http://schemas.microsoft.com/office/drawing/2014/main" id="{813AC492-A127-4F27-AD38-EDFBF029077C}"/>
              </a:ext>
            </a:extLst>
          </p:cNvPr>
          <p:cNvSpPr>
            <a:spLocks noGrp="1"/>
          </p:cNvSpPr>
          <p:nvPr/>
        </p:nvSpPr>
        <p:spPr>
          <a:xfrm>
            <a:off x="4381500" y="3143250"/>
            <a:ext cx="2095500" cy="914400"/>
          </a:xfrm>
          <a:prstGeom prst="roundRect">
            <a:avLst>
              <a:gd name="adj" fmla="val 12500"/>
            </a:avLst>
          </a:prstGeom>
          <a:solidFill>
            <a:srgbClr val="FFF2C2"/>
          </a:solidFill>
          <a:ln w="9525">
            <a:solidFill>
              <a:srgbClr val="B8C9E5"/>
            </a:solidFill>
            <a:prstDash val="solid"/>
          </a:ln>
        </p:spPr>
        <p:txBody>
          <a:bodyPr/>
          <a:lstStyle/>
          <a:p>
            <a:endParaRPr lang="en-US"/>
          </a:p>
        </p:txBody>
      </p:sp>
      <p:sp>
        <p:nvSpPr>
          <p:cNvPr id="6" name="Rectangle 5">
            <a:extLst>
              <a:ext uri="{FF2B5EF4-FFF2-40B4-BE49-F238E27FC236}">
                <a16:creationId xmlns:a16="http://schemas.microsoft.com/office/drawing/2014/main" id="{B3732104-87AB-4202-8D30-2FBCF71A9556}"/>
              </a:ext>
            </a:extLst>
          </p:cNvPr>
          <p:cNvSpPr>
            <a:spLocks noGrp="1"/>
          </p:cNvSpPr>
          <p:nvPr/>
        </p:nvSpPr>
        <p:spPr>
          <a:xfrm>
            <a:off x="4457700" y="3200400"/>
            <a:ext cx="1943100" cy="8001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ACTION</a:t>
            </a:r>
          </a:p>
          <a:p>
            <a:pPr algn="ctr">
              <a:defRPr sz="1275" b="1">
                <a:solidFill>
                  <a:srgbClr val="203D67"/>
                </a:solidFill>
              </a:defRPr>
            </a:pPr>
            <a:r>
              <a:rPr sz="1275" b="1">
                <a:solidFill>
                  <a:srgbClr val="203D67"/>
                </a:solidFill>
              </a:rPr>
              <a:t>Call a tool</a:t>
            </a:r>
          </a:p>
        </p:txBody>
      </p:sp>
      <p:sp>
        <p:nvSpPr>
          <p:cNvPr id="7" name="Rounded Rectangle 6">
            <a:extLst>
              <a:ext uri="{FF2B5EF4-FFF2-40B4-BE49-F238E27FC236}">
                <a16:creationId xmlns:a16="http://schemas.microsoft.com/office/drawing/2014/main" id="{A1CB3E28-97E3-4997-A438-7A7ED57C6284}"/>
              </a:ext>
            </a:extLst>
          </p:cNvPr>
          <p:cNvSpPr>
            <a:spLocks noGrp="1"/>
          </p:cNvSpPr>
          <p:nvPr/>
        </p:nvSpPr>
        <p:spPr>
          <a:xfrm>
            <a:off x="7524750" y="3143250"/>
            <a:ext cx="2095500" cy="914400"/>
          </a:xfrm>
          <a:prstGeom prst="roundRect">
            <a:avLst>
              <a:gd name="adj" fmla="val 12500"/>
            </a:avLst>
          </a:prstGeom>
          <a:solidFill>
            <a:srgbClr val="E1F4F3"/>
          </a:solidFill>
          <a:ln w="9525">
            <a:solidFill>
              <a:srgbClr val="B8C9E5"/>
            </a:solidFill>
            <a:prstDash val="solid"/>
          </a:ln>
        </p:spPr>
        <p:txBody>
          <a:bodyPr/>
          <a:lstStyle/>
          <a:p>
            <a:endParaRPr lang="en-US"/>
          </a:p>
        </p:txBody>
      </p:sp>
      <p:sp>
        <p:nvSpPr>
          <p:cNvPr id="8" name="Rectangle 7">
            <a:extLst>
              <a:ext uri="{FF2B5EF4-FFF2-40B4-BE49-F238E27FC236}">
                <a16:creationId xmlns:a16="http://schemas.microsoft.com/office/drawing/2014/main" id="{2FE55FC6-1453-44DB-A62B-BED999322A75}"/>
              </a:ext>
            </a:extLst>
          </p:cNvPr>
          <p:cNvSpPr>
            <a:spLocks noGrp="1"/>
          </p:cNvSpPr>
          <p:nvPr/>
        </p:nvSpPr>
        <p:spPr>
          <a:xfrm>
            <a:off x="7600950" y="3200400"/>
            <a:ext cx="1943100" cy="8001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OBSERVATION</a:t>
            </a:r>
          </a:p>
          <a:p>
            <a:pPr algn="ctr">
              <a:defRPr sz="1275" b="1">
                <a:solidFill>
                  <a:srgbClr val="203D67"/>
                </a:solidFill>
              </a:defRPr>
            </a:pPr>
            <a:r>
              <a:rPr sz="1275" b="1">
                <a:solidFill>
                  <a:srgbClr val="203D67"/>
                </a:solidFill>
              </a:rPr>
              <a:t>What happened?</a:t>
            </a:r>
          </a:p>
        </p:txBody>
      </p:sp>
      <p:cxnSp>
        <p:nvCxnSpPr>
          <p:cNvPr id="9" name="Straight Arrow Connector 8">
            <a:extLst>
              <a:ext uri="{FF2B5EF4-FFF2-40B4-BE49-F238E27FC236}">
                <a16:creationId xmlns:a16="http://schemas.microsoft.com/office/drawing/2014/main" id="{DB22E5A6-F5E8-49A9-9BB5-06E5404B7594}"/>
              </a:ext>
            </a:extLst>
          </p:cNvPr>
          <p:cNvCxnSpPr>
            <a:stCxn id="3" idx="3"/>
            <a:endCxn id="5" idx="1"/>
          </p:cNvCxnSpPr>
          <p:nvPr/>
        </p:nvCxnSpPr>
        <p:spPr>
          <a:xfrm>
            <a:off x="3333750" y="3600450"/>
            <a:ext cx="1047750" cy="0"/>
          </a:xfrm>
          <a:prstGeom prst="straightConnector1">
            <a:avLst/>
          </a:prstGeom>
          <a:ln w="21431">
            <a:solidFill>
              <a:srgbClr val="175CE5"/>
            </a:solidFill>
            <a:prstDash val="solid"/>
            <a:tailEnd type="arrow" w="med" len="med"/>
          </a:ln>
        </p:spPr>
      </p:cxnSp>
      <p:cxnSp>
        <p:nvCxnSpPr>
          <p:cNvPr id="10" name="Straight Arrow Connector 9">
            <a:extLst>
              <a:ext uri="{FF2B5EF4-FFF2-40B4-BE49-F238E27FC236}">
                <a16:creationId xmlns:a16="http://schemas.microsoft.com/office/drawing/2014/main" id="{D13F535C-91E6-4AAC-AA73-FC0BF9C5CF20}"/>
              </a:ext>
            </a:extLst>
          </p:cNvPr>
          <p:cNvCxnSpPr>
            <a:stCxn id="5" idx="3"/>
            <a:endCxn id="7" idx="1"/>
          </p:cNvCxnSpPr>
          <p:nvPr/>
        </p:nvCxnSpPr>
        <p:spPr>
          <a:xfrm>
            <a:off x="6477000" y="3600450"/>
            <a:ext cx="1047750" cy="0"/>
          </a:xfrm>
          <a:prstGeom prst="straightConnector1">
            <a:avLst/>
          </a:prstGeom>
          <a:ln w="21431">
            <a:solidFill>
              <a:srgbClr val="175CE5"/>
            </a:solidFill>
            <a:prstDash val="solid"/>
            <a:tailEnd type="arrow" w="med" len="med"/>
          </a:ln>
        </p:spPr>
      </p:cxnSp>
      <p:cxnSp>
        <p:nvCxnSpPr>
          <p:cNvPr id="11" name="Straight Arrow Connector 10">
            <a:extLst>
              <a:ext uri="{FF2B5EF4-FFF2-40B4-BE49-F238E27FC236}">
                <a16:creationId xmlns:a16="http://schemas.microsoft.com/office/drawing/2014/main" id="{2CF5F70B-0AF8-416C-A616-DD0DD8FB467A}"/>
              </a:ext>
            </a:extLst>
          </p:cNvPr>
          <p:cNvCxnSpPr>
            <a:stCxn id="7" idx="2"/>
            <a:endCxn id="3" idx="2"/>
          </p:cNvCxnSpPr>
          <p:nvPr/>
        </p:nvCxnSpPr>
        <p:spPr>
          <a:xfrm flipH="1">
            <a:off x="2286000" y="4057650"/>
            <a:ext cx="6286500" cy="0"/>
          </a:xfrm>
          <a:prstGeom prst="straightConnector1">
            <a:avLst/>
          </a:prstGeom>
          <a:ln w="21431">
            <a:solidFill>
              <a:srgbClr val="008A91"/>
            </a:solidFill>
            <a:prstDash val="dash"/>
            <a:tailEnd type="arrow" w="med" len="med"/>
          </a:ln>
        </p:spPr>
      </p:cxnSp>
      <p:sp>
        <p:nvSpPr>
          <p:cNvPr id="12" name="Rectangle 11">
            <a:extLst>
              <a:ext uri="{FF2B5EF4-FFF2-40B4-BE49-F238E27FC236}">
                <a16:creationId xmlns:a16="http://schemas.microsoft.com/office/drawing/2014/main" id="{3CE04163-3D7E-4BC9-87F2-EF0C98CAAEDF}"/>
              </a:ext>
            </a:extLst>
          </p:cNvPr>
          <p:cNvSpPr>
            <a:spLocks noGrp="1"/>
          </p:cNvSpPr>
          <p:nvPr/>
        </p:nvSpPr>
        <p:spPr>
          <a:xfrm>
            <a:off x="2000250" y="4857750"/>
            <a:ext cx="7239000" cy="419100"/>
          </a:xfrm>
          <a:prstGeom prst="rect">
            <a:avLst/>
          </a:prstGeom>
          <a:noFill/>
          <a:ln w="0">
            <a:noFill/>
            <a:prstDash val="solid"/>
          </a:ln>
        </p:spPr>
        <p:txBody>
          <a:bodyPr anchor="ctr"/>
          <a:lstStyle>
            <a:defPPr algn="ctr">
              <a:defRPr sz="1500" b="1">
                <a:solidFill>
                  <a:srgbClr val="008A91"/>
                </a:solidFill>
              </a:defRPr>
            </a:defPPr>
          </a:lstStyle>
          <a:p>
            <a:pPr algn="ctr">
              <a:defRPr sz="1500" b="1">
                <a:solidFill>
                  <a:srgbClr val="008A91"/>
                </a:solidFill>
              </a:defRPr>
            </a:pPr>
            <a:r>
              <a:rPr sz="1500" b="1">
                <a:solidFill>
                  <a:srgbClr val="008A91"/>
                </a:solidFill>
              </a:rPr>
              <a:t>Agents alternate between decisions and evidence from the environment</a:t>
            </a:r>
          </a:p>
        </p:txBody>
      </p:sp>
    </p:spTree>
    <p:extLst>
      <p:ext uri="{BB962C8B-B14F-4D97-AF65-F5344CB8AC3E}">
        <p14:creationId xmlns:p14="http://schemas.microsoft.com/office/powerpoint/2010/main" val="1364055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B73CE45-CE37-4A25-8511-82668C34F4E2}"/>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7586929-33E2-449E-A8C0-B26951D43CC9}"/>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What belongs in agent state</a:t>
            </a:r>
          </a:p>
        </p:txBody>
      </p:sp>
      <p:sp>
        <p:nvSpPr>
          <p:cNvPr id="3" name="Rounded Rectangle 2">
            <a:extLst>
              <a:ext uri="{FF2B5EF4-FFF2-40B4-BE49-F238E27FC236}">
                <a16:creationId xmlns:a16="http://schemas.microsoft.com/office/drawing/2014/main" id="{EECEFDCD-84EA-4715-9CDE-94B888CDC7A6}"/>
              </a:ext>
            </a:extLst>
          </p:cNvPr>
          <p:cNvSpPr>
            <a:spLocks noGrp="1"/>
          </p:cNvSpPr>
          <p:nvPr/>
        </p:nvSpPr>
        <p:spPr>
          <a:xfrm>
            <a:off x="857250" y="2667000"/>
            <a:ext cx="3143250" cy="647700"/>
          </a:xfrm>
          <a:prstGeom prst="roundRect">
            <a:avLst>
              <a:gd name="adj" fmla="val 17647"/>
            </a:avLst>
          </a:prstGeom>
          <a:solidFill>
            <a:srgbClr val="E7EEFC"/>
          </a:solidFill>
          <a:ln w="9525">
            <a:solidFill>
              <a:srgbClr val="B8C9E5"/>
            </a:solidFill>
            <a:prstDash val="solid"/>
          </a:ln>
        </p:spPr>
        <p:txBody>
          <a:bodyPr/>
          <a:lstStyle/>
          <a:p>
            <a:endParaRPr lang="en-US"/>
          </a:p>
        </p:txBody>
      </p:sp>
      <p:sp>
        <p:nvSpPr>
          <p:cNvPr id="4" name="Rectangle 3">
            <a:extLst>
              <a:ext uri="{FF2B5EF4-FFF2-40B4-BE49-F238E27FC236}">
                <a16:creationId xmlns:a16="http://schemas.microsoft.com/office/drawing/2014/main" id="{14AE6CD5-8425-43F6-90C1-D5528D551B9F}"/>
              </a:ext>
            </a:extLst>
          </p:cNvPr>
          <p:cNvSpPr>
            <a:spLocks noGrp="1"/>
          </p:cNvSpPr>
          <p:nvPr/>
        </p:nvSpPr>
        <p:spPr>
          <a:xfrm>
            <a:off x="933450" y="2724150"/>
            <a:ext cx="2990850" cy="5334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Original goal</a:t>
            </a:r>
          </a:p>
        </p:txBody>
      </p:sp>
      <p:sp>
        <p:nvSpPr>
          <p:cNvPr id="5" name="Rounded Rectangle 4">
            <a:extLst>
              <a:ext uri="{FF2B5EF4-FFF2-40B4-BE49-F238E27FC236}">
                <a16:creationId xmlns:a16="http://schemas.microsoft.com/office/drawing/2014/main" id="{2E0B959A-1FDF-4144-A0FD-27B369157159}"/>
              </a:ext>
            </a:extLst>
          </p:cNvPr>
          <p:cNvSpPr>
            <a:spLocks noGrp="1"/>
          </p:cNvSpPr>
          <p:nvPr/>
        </p:nvSpPr>
        <p:spPr>
          <a:xfrm>
            <a:off x="4762500" y="2667000"/>
            <a:ext cx="3143250" cy="647700"/>
          </a:xfrm>
          <a:prstGeom prst="roundRect">
            <a:avLst>
              <a:gd name="adj" fmla="val 17647"/>
            </a:avLst>
          </a:prstGeom>
          <a:solidFill>
            <a:srgbClr val="E1F4F3"/>
          </a:solidFill>
          <a:ln w="9525">
            <a:solidFill>
              <a:srgbClr val="B8C9E5"/>
            </a:solidFill>
            <a:prstDash val="solid"/>
          </a:ln>
        </p:spPr>
        <p:txBody>
          <a:bodyPr/>
          <a:lstStyle/>
          <a:p>
            <a:endParaRPr lang="en-US"/>
          </a:p>
        </p:txBody>
      </p:sp>
      <p:sp>
        <p:nvSpPr>
          <p:cNvPr id="6" name="Rectangle 5">
            <a:extLst>
              <a:ext uri="{FF2B5EF4-FFF2-40B4-BE49-F238E27FC236}">
                <a16:creationId xmlns:a16="http://schemas.microsoft.com/office/drawing/2014/main" id="{188E8D5E-17B6-4382-B652-CF30F7D8C5EF}"/>
              </a:ext>
            </a:extLst>
          </p:cNvPr>
          <p:cNvSpPr>
            <a:spLocks noGrp="1"/>
          </p:cNvSpPr>
          <p:nvPr/>
        </p:nvSpPr>
        <p:spPr>
          <a:xfrm>
            <a:off x="4838700" y="2724150"/>
            <a:ext cx="2990850" cy="5334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Current plan</a:t>
            </a:r>
          </a:p>
        </p:txBody>
      </p:sp>
      <p:sp>
        <p:nvSpPr>
          <p:cNvPr id="7" name="Rounded Rectangle 6">
            <a:extLst>
              <a:ext uri="{FF2B5EF4-FFF2-40B4-BE49-F238E27FC236}">
                <a16:creationId xmlns:a16="http://schemas.microsoft.com/office/drawing/2014/main" id="{EB11F72E-75AA-4C28-920A-ACBB1A3462A0}"/>
              </a:ext>
            </a:extLst>
          </p:cNvPr>
          <p:cNvSpPr>
            <a:spLocks noGrp="1"/>
          </p:cNvSpPr>
          <p:nvPr/>
        </p:nvSpPr>
        <p:spPr>
          <a:xfrm>
            <a:off x="857250" y="3619500"/>
            <a:ext cx="3143250" cy="647700"/>
          </a:xfrm>
          <a:prstGeom prst="roundRect">
            <a:avLst>
              <a:gd name="adj" fmla="val 17647"/>
            </a:avLst>
          </a:prstGeom>
          <a:solidFill>
            <a:srgbClr val="FFF2C2"/>
          </a:solidFill>
          <a:ln w="9525">
            <a:solidFill>
              <a:srgbClr val="B8C9E5"/>
            </a:solidFill>
            <a:prstDash val="solid"/>
          </a:ln>
        </p:spPr>
        <p:txBody>
          <a:bodyPr/>
          <a:lstStyle/>
          <a:p>
            <a:endParaRPr lang="en-US"/>
          </a:p>
        </p:txBody>
      </p:sp>
      <p:sp>
        <p:nvSpPr>
          <p:cNvPr id="8" name="Rectangle 7">
            <a:extLst>
              <a:ext uri="{FF2B5EF4-FFF2-40B4-BE49-F238E27FC236}">
                <a16:creationId xmlns:a16="http://schemas.microsoft.com/office/drawing/2014/main" id="{520EBBF9-8C61-42B1-BD00-BC63DEDAF844}"/>
              </a:ext>
            </a:extLst>
          </p:cNvPr>
          <p:cNvSpPr>
            <a:spLocks noGrp="1"/>
          </p:cNvSpPr>
          <p:nvPr/>
        </p:nvSpPr>
        <p:spPr>
          <a:xfrm>
            <a:off x="933450" y="3676650"/>
            <a:ext cx="2990850" cy="5334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Tool results</a:t>
            </a:r>
          </a:p>
        </p:txBody>
      </p:sp>
      <p:sp>
        <p:nvSpPr>
          <p:cNvPr id="9" name="Rounded Rectangle 8">
            <a:extLst>
              <a:ext uri="{FF2B5EF4-FFF2-40B4-BE49-F238E27FC236}">
                <a16:creationId xmlns:a16="http://schemas.microsoft.com/office/drawing/2014/main" id="{E37128EF-D70A-40F5-BA10-7743BB8A041D}"/>
              </a:ext>
            </a:extLst>
          </p:cNvPr>
          <p:cNvSpPr>
            <a:spLocks noGrp="1"/>
          </p:cNvSpPr>
          <p:nvPr/>
        </p:nvSpPr>
        <p:spPr>
          <a:xfrm>
            <a:off x="4762500" y="3619500"/>
            <a:ext cx="3143250" cy="647700"/>
          </a:xfrm>
          <a:prstGeom prst="roundRect">
            <a:avLst>
              <a:gd name="adj" fmla="val 17647"/>
            </a:avLst>
          </a:prstGeom>
          <a:solidFill>
            <a:srgbClr val="FDE8E1"/>
          </a:solidFill>
          <a:ln w="9525">
            <a:solidFill>
              <a:srgbClr val="B8C9E5"/>
            </a:solidFill>
            <a:prstDash val="solid"/>
          </a:ln>
        </p:spPr>
        <p:txBody>
          <a:bodyPr/>
          <a:lstStyle/>
          <a:p>
            <a:endParaRPr lang="en-US"/>
          </a:p>
        </p:txBody>
      </p:sp>
      <p:sp>
        <p:nvSpPr>
          <p:cNvPr id="10" name="Rectangle 9">
            <a:extLst>
              <a:ext uri="{FF2B5EF4-FFF2-40B4-BE49-F238E27FC236}">
                <a16:creationId xmlns:a16="http://schemas.microsoft.com/office/drawing/2014/main" id="{F52B0C03-5502-4D1B-805D-3D5D492CBB73}"/>
              </a:ext>
            </a:extLst>
          </p:cNvPr>
          <p:cNvSpPr>
            <a:spLocks noGrp="1"/>
          </p:cNvSpPr>
          <p:nvPr/>
        </p:nvSpPr>
        <p:spPr>
          <a:xfrm>
            <a:off x="4838700" y="3676650"/>
            <a:ext cx="2990850" cy="5334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Errors</a:t>
            </a:r>
          </a:p>
        </p:txBody>
      </p:sp>
      <p:sp>
        <p:nvSpPr>
          <p:cNvPr id="11" name="Rounded Rectangle 10">
            <a:extLst>
              <a:ext uri="{FF2B5EF4-FFF2-40B4-BE49-F238E27FC236}">
                <a16:creationId xmlns:a16="http://schemas.microsoft.com/office/drawing/2014/main" id="{0FE7860B-739D-42E8-8A47-8C012301B9C1}"/>
              </a:ext>
            </a:extLst>
          </p:cNvPr>
          <p:cNvSpPr>
            <a:spLocks noGrp="1"/>
          </p:cNvSpPr>
          <p:nvPr/>
        </p:nvSpPr>
        <p:spPr>
          <a:xfrm>
            <a:off x="857250" y="4572000"/>
            <a:ext cx="3143250" cy="647700"/>
          </a:xfrm>
          <a:prstGeom prst="roundRect">
            <a:avLst>
              <a:gd name="adj" fmla="val 17647"/>
            </a:avLst>
          </a:prstGeom>
          <a:solidFill>
            <a:srgbClr val="E1F4F3"/>
          </a:solidFill>
          <a:ln w="9525">
            <a:solidFill>
              <a:srgbClr val="B8C9E5"/>
            </a:solidFill>
            <a:prstDash val="solid"/>
          </a:ln>
        </p:spPr>
        <p:txBody>
          <a:bodyPr/>
          <a:lstStyle/>
          <a:p>
            <a:endParaRPr lang="en-US"/>
          </a:p>
        </p:txBody>
      </p:sp>
      <p:sp>
        <p:nvSpPr>
          <p:cNvPr id="12" name="Rectangle 11">
            <a:extLst>
              <a:ext uri="{FF2B5EF4-FFF2-40B4-BE49-F238E27FC236}">
                <a16:creationId xmlns:a16="http://schemas.microsoft.com/office/drawing/2014/main" id="{ECC38738-DB53-4A0E-8B8B-96CE7641CF96}"/>
              </a:ext>
            </a:extLst>
          </p:cNvPr>
          <p:cNvSpPr>
            <a:spLocks noGrp="1"/>
          </p:cNvSpPr>
          <p:nvPr/>
        </p:nvSpPr>
        <p:spPr>
          <a:xfrm>
            <a:off x="933450" y="4629150"/>
            <a:ext cx="2990850" cy="5334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Evidence</a:t>
            </a:r>
          </a:p>
        </p:txBody>
      </p:sp>
      <p:sp>
        <p:nvSpPr>
          <p:cNvPr id="13" name="Rounded Rectangle 12">
            <a:extLst>
              <a:ext uri="{FF2B5EF4-FFF2-40B4-BE49-F238E27FC236}">
                <a16:creationId xmlns:a16="http://schemas.microsoft.com/office/drawing/2014/main" id="{CE375532-9574-4B2D-94A9-70AB8AAC1BED}"/>
              </a:ext>
            </a:extLst>
          </p:cNvPr>
          <p:cNvSpPr>
            <a:spLocks noGrp="1"/>
          </p:cNvSpPr>
          <p:nvPr/>
        </p:nvSpPr>
        <p:spPr>
          <a:xfrm>
            <a:off x="4762500" y="4572000"/>
            <a:ext cx="3143250" cy="647700"/>
          </a:xfrm>
          <a:prstGeom prst="roundRect">
            <a:avLst>
              <a:gd name="adj" fmla="val 17647"/>
            </a:avLst>
          </a:prstGeom>
          <a:solidFill>
            <a:srgbClr val="E7EEFC"/>
          </a:solidFill>
          <a:ln w="9525">
            <a:solidFill>
              <a:srgbClr val="B8C9E5"/>
            </a:solidFill>
            <a:prstDash val="solid"/>
          </a:ln>
        </p:spPr>
        <p:txBody>
          <a:bodyPr/>
          <a:lstStyle/>
          <a:p>
            <a:endParaRPr lang="en-US"/>
          </a:p>
        </p:txBody>
      </p:sp>
      <p:sp>
        <p:nvSpPr>
          <p:cNvPr id="14" name="Rectangle 13">
            <a:extLst>
              <a:ext uri="{FF2B5EF4-FFF2-40B4-BE49-F238E27FC236}">
                <a16:creationId xmlns:a16="http://schemas.microsoft.com/office/drawing/2014/main" id="{52F0446F-7CE4-44DB-89C3-6407B3D3AA52}"/>
              </a:ext>
            </a:extLst>
          </p:cNvPr>
          <p:cNvSpPr>
            <a:spLocks noGrp="1"/>
          </p:cNvSpPr>
          <p:nvPr/>
        </p:nvSpPr>
        <p:spPr>
          <a:xfrm>
            <a:off x="4838700" y="4629150"/>
            <a:ext cx="2990850" cy="5334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Budget remaining</a:t>
            </a:r>
          </a:p>
        </p:txBody>
      </p:sp>
      <p:sp>
        <p:nvSpPr>
          <p:cNvPr id="15" name="Rectangle 14">
            <a:extLst>
              <a:ext uri="{FF2B5EF4-FFF2-40B4-BE49-F238E27FC236}">
                <a16:creationId xmlns:a16="http://schemas.microsoft.com/office/drawing/2014/main" id="{99A2A606-ED13-4ED4-9083-E791C7467EC0}"/>
              </a:ext>
            </a:extLst>
          </p:cNvPr>
          <p:cNvSpPr>
            <a:spLocks noGrp="1"/>
          </p:cNvSpPr>
          <p:nvPr/>
        </p:nvSpPr>
        <p:spPr>
          <a:xfrm>
            <a:off x="1562100" y="5572125"/>
            <a:ext cx="7048500" cy="342900"/>
          </a:xfrm>
          <a:prstGeom prst="rect">
            <a:avLst/>
          </a:prstGeom>
          <a:noFill/>
          <a:ln w="0">
            <a:noFill/>
            <a:prstDash val="solid"/>
          </a:ln>
        </p:spPr>
        <p:txBody>
          <a:bodyPr anchor="ctr"/>
          <a:lstStyle>
            <a:defPPr algn="ctr">
              <a:defRPr sz="1425" b="1">
                <a:solidFill>
                  <a:srgbClr val="008A91"/>
                </a:solidFill>
              </a:defRPr>
            </a:defPPr>
          </a:lstStyle>
          <a:p>
            <a:pPr algn="ctr">
              <a:defRPr sz="1425" b="1">
                <a:solidFill>
                  <a:srgbClr val="008A91"/>
                </a:solidFill>
              </a:defRPr>
            </a:pPr>
            <a:r>
              <a:rPr sz="1425" b="1">
                <a:solidFill>
                  <a:srgbClr val="008A91"/>
                </a:solidFill>
              </a:rPr>
              <a:t>Store raw results and explicit decisions. Avoid keeping only polished prose.</a:t>
            </a:r>
          </a:p>
        </p:txBody>
      </p:sp>
    </p:spTree>
    <p:extLst>
      <p:ext uri="{BB962C8B-B14F-4D97-AF65-F5344CB8AC3E}">
        <p14:creationId xmlns:p14="http://schemas.microsoft.com/office/powerpoint/2010/main" val="342550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11DD3D6A-BF7B-4DD8-A177-927942F6D52C}"/>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8265B529-7416-4258-94E2-8EB124843F35}"/>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Stopping conditions</a:t>
            </a:r>
          </a:p>
        </p:txBody>
      </p:sp>
      <p:sp>
        <p:nvSpPr>
          <p:cNvPr id="3" name="Rounded Rectangle 2">
            <a:extLst>
              <a:ext uri="{FF2B5EF4-FFF2-40B4-BE49-F238E27FC236}">
                <a16:creationId xmlns:a16="http://schemas.microsoft.com/office/drawing/2014/main" id="{C0917647-2C77-42CB-AF68-11E6578998D8}"/>
              </a:ext>
            </a:extLst>
          </p:cNvPr>
          <p:cNvSpPr>
            <a:spLocks noGrp="1"/>
          </p:cNvSpPr>
          <p:nvPr/>
        </p:nvSpPr>
        <p:spPr>
          <a:xfrm>
            <a:off x="895350" y="2781300"/>
            <a:ext cx="104775" cy="104775"/>
          </a:xfrm>
          <a:prstGeom prst="roundRect">
            <a:avLst>
              <a:gd name="adj" fmla="val 18182"/>
            </a:avLst>
          </a:prstGeom>
          <a:solidFill>
            <a:srgbClr val="175CE5"/>
          </a:solidFill>
          <a:ln w="0">
            <a:noFill/>
            <a:prstDash val="solid"/>
          </a:ln>
        </p:spPr>
        <p:txBody>
          <a:bodyPr/>
          <a:lstStyle/>
          <a:p>
            <a:endParaRPr lang="en-US"/>
          </a:p>
        </p:txBody>
      </p:sp>
      <p:sp>
        <p:nvSpPr>
          <p:cNvPr id="4" name="Rectangle 3">
            <a:extLst>
              <a:ext uri="{FF2B5EF4-FFF2-40B4-BE49-F238E27FC236}">
                <a16:creationId xmlns:a16="http://schemas.microsoft.com/office/drawing/2014/main" id="{822AF434-6FE6-4AD8-BABF-FD91537FF747}"/>
              </a:ext>
            </a:extLst>
          </p:cNvPr>
          <p:cNvSpPr>
            <a:spLocks noGrp="1"/>
          </p:cNvSpPr>
          <p:nvPr/>
        </p:nvSpPr>
        <p:spPr>
          <a:xfrm>
            <a:off x="1181100" y="2667000"/>
            <a:ext cx="7239000" cy="53340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The task has a verifiable result</a:t>
            </a:r>
          </a:p>
        </p:txBody>
      </p:sp>
      <p:sp>
        <p:nvSpPr>
          <p:cNvPr id="5" name="Rounded Rectangle 4">
            <a:extLst>
              <a:ext uri="{FF2B5EF4-FFF2-40B4-BE49-F238E27FC236}">
                <a16:creationId xmlns:a16="http://schemas.microsoft.com/office/drawing/2014/main" id="{3C5588C2-77D1-49E5-B82D-0A18800777E1}"/>
              </a:ext>
            </a:extLst>
          </p:cNvPr>
          <p:cNvSpPr>
            <a:spLocks noGrp="1"/>
          </p:cNvSpPr>
          <p:nvPr/>
        </p:nvSpPr>
        <p:spPr>
          <a:xfrm>
            <a:off x="895350" y="3371850"/>
            <a:ext cx="104775" cy="104775"/>
          </a:xfrm>
          <a:prstGeom prst="roundRect">
            <a:avLst>
              <a:gd name="adj" fmla="val 18182"/>
            </a:avLst>
          </a:prstGeom>
          <a:solidFill>
            <a:srgbClr val="42BCC9"/>
          </a:solidFill>
          <a:ln w="0">
            <a:noFill/>
            <a:prstDash val="solid"/>
          </a:ln>
        </p:spPr>
        <p:txBody>
          <a:bodyPr/>
          <a:lstStyle/>
          <a:p>
            <a:endParaRPr lang="en-US"/>
          </a:p>
        </p:txBody>
      </p:sp>
      <p:sp>
        <p:nvSpPr>
          <p:cNvPr id="6" name="Rectangle 5">
            <a:extLst>
              <a:ext uri="{FF2B5EF4-FFF2-40B4-BE49-F238E27FC236}">
                <a16:creationId xmlns:a16="http://schemas.microsoft.com/office/drawing/2014/main" id="{4FCAC179-CAA9-40CD-800A-63A0CFCF3DD2}"/>
              </a:ext>
            </a:extLst>
          </p:cNvPr>
          <p:cNvSpPr>
            <a:spLocks noGrp="1"/>
          </p:cNvSpPr>
          <p:nvPr/>
        </p:nvSpPr>
        <p:spPr>
          <a:xfrm>
            <a:off x="1181100" y="3257550"/>
            <a:ext cx="7239000" cy="53340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The agent reaches its step limit</a:t>
            </a:r>
          </a:p>
        </p:txBody>
      </p:sp>
      <p:sp>
        <p:nvSpPr>
          <p:cNvPr id="7" name="Rounded Rectangle 6">
            <a:extLst>
              <a:ext uri="{FF2B5EF4-FFF2-40B4-BE49-F238E27FC236}">
                <a16:creationId xmlns:a16="http://schemas.microsoft.com/office/drawing/2014/main" id="{F7953622-FEF3-4877-9709-3BF4EE8A0C29}"/>
              </a:ext>
            </a:extLst>
          </p:cNvPr>
          <p:cNvSpPr>
            <a:spLocks noGrp="1"/>
          </p:cNvSpPr>
          <p:nvPr/>
        </p:nvSpPr>
        <p:spPr>
          <a:xfrm>
            <a:off x="895350" y="3962400"/>
            <a:ext cx="104775" cy="104775"/>
          </a:xfrm>
          <a:prstGeom prst="roundRect">
            <a:avLst>
              <a:gd name="adj" fmla="val 18182"/>
            </a:avLst>
          </a:prstGeom>
          <a:solidFill>
            <a:srgbClr val="F4B900"/>
          </a:solidFill>
          <a:ln w="0">
            <a:noFill/>
            <a:prstDash val="solid"/>
          </a:ln>
        </p:spPr>
        <p:txBody>
          <a:bodyPr/>
          <a:lstStyle/>
          <a:p>
            <a:endParaRPr lang="en-US"/>
          </a:p>
        </p:txBody>
      </p:sp>
      <p:sp>
        <p:nvSpPr>
          <p:cNvPr id="8" name="Rectangle 7">
            <a:extLst>
              <a:ext uri="{FF2B5EF4-FFF2-40B4-BE49-F238E27FC236}">
                <a16:creationId xmlns:a16="http://schemas.microsoft.com/office/drawing/2014/main" id="{2CDBD0A5-59B3-47C6-8CC5-AB0626D6E724}"/>
              </a:ext>
            </a:extLst>
          </p:cNvPr>
          <p:cNvSpPr>
            <a:spLocks noGrp="1"/>
          </p:cNvSpPr>
          <p:nvPr/>
        </p:nvSpPr>
        <p:spPr>
          <a:xfrm>
            <a:off x="1181100" y="3848100"/>
            <a:ext cx="7239000" cy="53340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The time or cost budget is exhausted</a:t>
            </a:r>
          </a:p>
        </p:txBody>
      </p:sp>
      <p:sp>
        <p:nvSpPr>
          <p:cNvPr id="9" name="Rounded Rectangle 8">
            <a:extLst>
              <a:ext uri="{FF2B5EF4-FFF2-40B4-BE49-F238E27FC236}">
                <a16:creationId xmlns:a16="http://schemas.microsoft.com/office/drawing/2014/main" id="{7E6A5D84-A0C6-4ABC-BED9-A68D5F7258E6}"/>
              </a:ext>
            </a:extLst>
          </p:cNvPr>
          <p:cNvSpPr>
            <a:spLocks noGrp="1"/>
          </p:cNvSpPr>
          <p:nvPr/>
        </p:nvSpPr>
        <p:spPr>
          <a:xfrm>
            <a:off x="895350" y="4552950"/>
            <a:ext cx="104775" cy="104775"/>
          </a:xfrm>
          <a:prstGeom prst="roundRect">
            <a:avLst>
              <a:gd name="adj" fmla="val 18182"/>
            </a:avLst>
          </a:prstGeom>
          <a:solidFill>
            <a:srgbClr val="EE7D5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6CA71C3A-623C-4FEB-8A88-F3C146A41127}"/>
              </a:ext>
            </a:extLst>
          </p:cNvPr>
          <p:cNvSpPr>
            <a:spLocks noGrp="1"/>
          </p:cNvSpPr>
          <p:nvPr/>
        </p:nvSpPr>
        <p:spPr>
          <a:xfrm>
            <a:off x="1181100" y="4438650"/>
            <a:ext cx="7239000" cy="53340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The runtime detects repeated actions</a:t>
            </a:r>
          </a:p>
        </p:txBody>
      </p:sp>
      <p:sp>
        <p:nvSpPr>
          <p:cNvPr id="11" name="Rounded Rectangle 10">
            <a:extLst>
              <a:ext uri="{FF2B5EF4-FFF2-40B4-BE49-F238E27FC236}">
                <a16:creationId xmlns:a16="http://schemas.microsoft.com/office/drawing/2014/main" id="{30D87F9A-DE6D-440F-8855-1D524B1808A1}"/>
              </a:ext>
            </a:extLst>
          </p:cNvPr>
          <p:cNvSpPr>
            <a:spLocks noGrp="1"/>
          </p:cNvSpPr>
          <p:nvPr/>
        </p:nvSpPr>
        <p:spPr>
          <a:xfrm>
            <a:off x="895350" y="5143500"/>
            <a:ext cx="104775" cy="104775"/>
          </a:xfrm>
          <a:prstGeom prst="roundRect">
            <a:avLst>
              <a:gd name="adj" fmla="val 18182"/>
            </a:avLst>
          </a:prstGeom>
          <a:solidFill>
            <a:srgbClr val="008A91"/>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27885404-E991-4692-9055-6B751F9135E4}"/>
              </a:ext>
            </a:extLst>
          </p:cNvPr>
          <p:cNvSpPr>
            <a:spLocks noGrp="1"/>
          </p:cNvSpPr>
          <p:nvPr/>
        </p:nvSpPr>
        <p:spPr>
          <a:xfrm>
            <a:off x="1181100" y="5029200"/>
            <a:ext cx="7239000" cy="53340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The next action requires human approval</a:t>
            </a:r>
          </a:p>
        </p:txBody>
      </p:sp>
      <p:sp>
        <p:nvSpPr>
          <p:cNvPr id="13" name="Rectangle 12">
            <a:extLst>
              <a:ext uri="{FF2B5EF4-FFF2-40B4-BE49-F238E27FC236}">
                <a16:creationId xmlns:a16="http://schemas.microsoft.com/office/drawing/2014/main" id="{92F20900-F9DF-47B6-B52E-FC3B3DAE91AB}"/>
              </a:ext>
            </a:extLst>
          </p:cNvPr>
          <p:cNvSpPr>
            <a:spLocks noGrp="1"/>
          </p:cNvSpPr>
          <p:nvPr/>
        </p:nvSpPr>
        <p:spPr>
          <a:xfrm>
            <a:off x="6991350" y="4762500"/>
            <a:ext cx="3714750" cy="685800"/>
          </a:xfrm>
          <a:prstGeom prst="rect">
            <a:avLst/>
          </a:prstGeom>
          <a:noFill/>
          <a:ln w="0">
            <a:noFill/>
            <a:prstDash val="solid"/>
          </a:ln>
        </p:spPr>
        <p:txBody>
          <a:bodyPr anchor="ctr"/>
          <a:lstStyle>
            <a:defPPr algn="ctr">
              <a:defRPr sz="1425" b="1">
                <a:solidFill>
                  <a:srgbClr val="203D67"/>
                </a:solidFill>
              </a:defRPr>
            </a:defPPr>
          </a:lstStyle>
          <a:p>
            <a:pPr algn="ctr">
              <a:defRPr sz="1425" b="1">
                <a:solidFill>
                  <a:srgbClr val="203D67"/>
                </a:solidFill>
              </a:defRPr>
            </a:pPr>
            <a:r>
              <a:rPr sz="1425" b="1">
                <a:solidFill>
                  <a:srgbClr val="203D67"/>
                </a:solidFill>
              </a:rPr>
              <a:t>A maximum-step limit protects the system. A success condition tells it when to stop early.</a:t>
            </a:r>
          </a:p>
        </p:txBody>
      </p:sp>
    </p:spTree>
    <p:extLst>
      <p:ext uri="{BB962C8B-B14F-4D97-AF65-F5344CB8AC3E}">
        <p14:creationId xmlns:p14="http://schemas.microsoft.com/office/powerpoint/2010/main" val="403404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9A9B447-13E4-4AFE-B814-02205BA97C81}"/>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66D3DB6-773E-4394-9B5B-FE3583E808AF}"/>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Common agent-loop failures</a:t>
            </a:r>
          </a:p>
        </p:txBody>
      </p:sp>
      <p:sp>
        <p:nvSpPr>
          <p:cNvPr id="3" name="Rectangle 2">
            <a:extLst>
              <a:ext uri="{FF2B5EF4-FFF2-40B4-BE49-F238E27FC236}">
                <a16:creationId xmlns:a16="http://schemas.microsoft.com/office/drawing/2014/main" id="{A4E718FA-2B1B-49F2-8D7D-A57D3389828E}"/>
              </a:ext>
            </a:extLst>
          </p:cNvPr>
          <p:cNvSpPr>
            <a:spLocks noGrp="1"/>
          </p:cNvSpPr>
          <p:nvPr/>
        </p:nvSpPr>
        <p:spPr>
          <a:xfrm>
            <a:off x="857250" y="2571750"/>
            <a:ext cx="2095500" cy="361950"/>
          </a:xfrm>
          <a:prstGeom prst="rect">
            <a:avLst/>
          </a:prstGeom>
          <a:noFill/>
          <a:ln w="0">
            <a:noFill/>
            <a:prstDash val="solid"/>
          </a:ln>
        </p:spPr>
        <p:txBody>
          <a:bodyPr anchor="ctr"/>
          <a:lstStyle>
            <a:defPPr algn="l">
              <a:defRPr sz="1425" b="1">
                <a:solidFill>
                  <a:srgbClr val="EE7D5B"/>
                </a:solidFill>
              </a:defRPr>
            </a:defPPr>
          </a:lstStyle>
          <a:p>
            <a:pPr algn="l">
              <a:defRPr sz="1425" b="1">
                <a:solidFill>
                  <a:srgbClr val="EE7D5B"/>
                </a:solidFill>
              </a:defRPr>
            </a:pPr>
            <a:r>
              <a:rPr sz="1425" b="1">
                <a:solidFill>
                  <a:srgbClr val="EE7D5B"/>
                </a:solidFill>
              </a:rPr>
              <a:t>Looping</a:t>
            </a:r>
          </a:p>
        </p:txBody>
      </p:sp>
      <p:sp>
        <p:nvSpPr>
          <p:cNvPr id="4" name="Rectangle 3">
            <a:extLst>
              <a:ext uri="{FF2B5EF4-FFF2-40B4-BE49-F238E27FC236}">
                <a16:creationId xmlns:a16="http://schemas.microsoft.com/office/drawing/2014/main" id="{474A623F-913D-4FA7-8321-0C70B1207ABA}"/>
              </a:ext>
            </a:extLst>
          </p:cNvPr>
          <p:cNvSpPr>
            <a:spLocks noGrp="1"/>
          </p:cNvSpPr>
          <p:nvPr/>
        </p:nvSpPr>
        <p:spPr>
          <a:xfrm>
            <a:off x="3124200" y="2571750"/>
            <a:ext cx="4953000" cy="361950"/>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Repeats a tool call without learning</a:t>
            </a:r>
          </a:p>
        </p:txBody>
      </p:sp>
      <p:sp>
        <p:nvSpPr>
          <p:cNvPr id="5" name="Rectangle 4">
            <a:extLst>
              <a:ext uri="{FF2B5EF4-FFF2-40B4-BE49-F238E27FC236}">
                <a16:creationId xmlns:a16="http://schemas.microsoft.com/office/drawing/2014/main" id="{C49EABA7-E5A0-4DC7-869A-27AC136C01F0}"/>
              </a:ext>
            </a:extLst>
          </p:cNvPr>
          <p:cNvSpPr>
            <a:spLocks noGrp="1"/>
          </p:cNvSpPr>
          <p:nvPr/>
        </p:nvSpPr>
        <p:spPr>
          <a:xfrm>
            <a:off x="857250" y="3200400"/>
            <a:ext cx="2095500" cy="361950"/>
          </a:xfrm>
          <a:prstGeom prst="rect">
            <a:avLst/>
          </a:prstGeom>
          <a:noFill/>
          <a:ln w="0">
            <a:noFill/>
            <a:prstDash val="solid"/>
          </a:ln>
        </p:spPr>
        <p:txBody>
          <a:bodyPr anchor="ctr"/>
          <a:lstStyle>
            <a:defPPr algn="l">
              <a:defRPr sz="1425" b="1">
                <a:solidFill>
                  <a:srgbClr val="008A91"/>
                </a:solidFill>
              </a:defRPr>
            </a:defPPr>
          </a:lstStyle>
          <a:p>
            <a:pPr algn="l">
              <a:defRPr sz="1425" b="1">
                <a:solidFill>
                  <a:srgbClr val="008A91"/>
                </a:solidFill>
              </a:defRPr>
            </a:pPr>
            <a:r>
              <a:rPr sz="1425" b="1">
                <a:solidFill>
                  <a:srgbClr val="008A91"/>
                </a:solidFill>
              </a:rPr>
              <a:t>Bad arguments</a:t>
            </a:r>
          </a:p>
        </p:txBody>
      </p:sp>
      <p:sp>
        <p:nvSpPr>
          <p:cNvPr id="6" name="Rectangle 5">
            <a:extLst>
              <a:ext uri="{FF2B5EF4-FFF2-40B4-BE49-F238E27FC236}">
                <a16:creationId xmlns:a16="http://schemas.microsoft.com/office/drawing/2014/main" id="{F346D0A1-0349-40AB-A8EC-4528297BA27B}"/>
              </a:ext>
            </a:extLst>
          </p:cNvPr>
          <p:cNvSpPr>
            <a:spLocks noGrp="1"/>
          </p:cNvSpPr>
          <p:nvPr/>
        </p:nvSpPr>
        <p:spPr>
          <a:xfrm>
            <a:off x="3124200" y="3200400"/>
            <a:ext cx="4953000" cy="361950"/>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Produces malformed or unsafe inputs</a:t>
            </a:r>
          </a:p>
        </p:txBody>
      </p:sp>
      <p:sp>
        <p:nvSpPr>
          <p:cNvPr id="7" name="Rectangle 6">
            <a:extLst>
              <a:ext uri="{FF2B5EF4-FFF2-40B4-BE49-F238E27FC236}">
                <a16:creationId xmlns:a16="http://schemas.microsoft.com/office/drawing/2014/main" id="{789A21C2-94BD-424A-B8C8-787ED16D92BE}"/>
              </a:ext>
            </a:extLst>
          </p:cNvPr>
          <p:cNvSpPr>
            <a:spLocks noGrp="1"/>
          </p:cNvSpPr>
          <p:nvPr/>
        </p:nvSpPr>
        <p:spPr>
          <a:xfrm>
            <a:off x="857250" y="3829050"/>
            <a:ext cx="2095500" cy="361950"/>
          </a:xfrm>
          <a:prstGeom prst="rect">
            <a:avLst/>
          </a:prstGeom>
          <a:noFill/>
          <a:ln w="0">
            <a:noFill/>
            <a:prstDash val="solid"/>
          </a:ln>
        </p:spPr>
        <p:txBody>
          <a:bodyPr anchor="ctr"/>
          <a:lstStyle>
            <a:defPPr algn="l">
              <a:defRPr sz="1425" b="1">
                <a:solidFill>
                  <a:srgbClr val="EE7D5B"/>
                </a:solidFill>
              </a:defRPr>
            </a:defPPr>
          </a:lstStyle>
          <a:p>
            <a:pPr algn="l">
              <a:defRPr sz="1425" b="1">
                <a:solidFill>
                  <a:srgbClr val="EE7D5B"/>
                </a:solidFill>
              </a:defRPr>
            </a:pPr>
            <a:r>
              <a:rPr sz="1425" b="1">
                <a:solidFill>
                  <a:srgbClr val="EE7D5B"/>
                </a:solidFill>
              </a:rPr>
              <a:t>Error blindness</a:t>
            </a:r>
          </a:p>
        </p:txBody>
      </p:sp>
      <p:sp>
        <p:nvSpPr>
          <p:cNvPr id="8" name="Rectangle 7">
            <a:extLst>
              <a:ext uri="{FF2B5EF4-FFF2-40B4-BE49-F238E27FC236}">
                <a16:creationId xmlns:a16="http://schemas.microsoft.com/office/drawing/2014/main" id="{D1A5B53F-1A66-4838-8B61-E1C8AB75E69B}"/>
              </a:ext>
            </a:extLst>
          </p:cNvPr>
          <p:cNvSpPr>
            <a:spLocks noGrp="1"/>
          </p:cNvSpPr>
          <p:nvPr/>
        </p:nvSpPr>
        <p:spPr>
          <a:xfrm>
            <a:off x="3124200" y="3829050"/>
            <a:ext cx="4953000" cy="361950"/>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Ignores tool failures</a:t>
            </a:r>
          </a:p>
        </p:txBody>
      </p:sp>
      <p:sp>
        <p:nvSpPr>
          <p:cNvPr id="9" name="Rectangle 8">
            <a:extLst>
              <a:ext uri="{FF2B5EF4-FFF2-40B4-BE49-F238E27FC236}">
                <a16:creationId xmlns:a16="http://schemas.microsoft.com/office/drawing/2014/main" id="{3DB44574-434C-4D96-9B25-19180D9805AE}"/>
              </a:ext>
            </a:extLst>
          </p:cNvPr>
          <p:cNvSpPr>
            <a:spLocks noGrp="1"/>
          </p:cNvSpPr>
          <p:nvPr/>
        </p:nvSpPr>
        <p:spPr>
          <a:xfrm>
            <a:off x="857250" y="4457700"/>
            <a:ext cx="2095500" cy="361950"/>
          </a:xfrm>
          <a:prstGeom prst="rect">
            <a:avLst/>
          </a:prstGeom>
          <a:noFill/>
          <a:ln w="0">
            <a:noFill/>
            <a:prstDash val="solid"/>
          </a:ln>
        </p:spPr>
        <p:txBody>
          <a:bodyPr anchor="ctr"/>
          <a:lstStyle>
            <a:defPPr algn="l">
              <a:defRPr sz="1425" b="1">
                <a:solidFill>
                  <a:srgbClr val="008A91"/>
                </a:solidFill>
              </a:defRPr>
            </a:defPPr>
          </a:lstStyle>
          <a:p>
            <a:pPr algn="l">
              <a:defRPr sz="1425" b="1">
                <a:solidFill>
                  <a:srgbClr val="008A91"/>
                </a:solidFill>
              </a:defRPr>
            </a:pPr>
            <a:r>
              <a:rPr sz="1425" b="1">
                <a:solidFill>
                  <a:srgbClr val="008A91"/>
                </a:solidFill>
              </a:rPr>
              <a:t>Early answer</a:t>
            </a:r>
          </a:p>
        </p:txBody>
      </p:sp>
      <p:sp>
        <p:nvSpPr>
          <p:cNvPr id="10" name="Rectangle 9">
            <a:extLst>
              <a:ext uri="{FF2B5EF4-FFF2-40B4-BE49-F238E27FC236}">
                <a16:creationId xmlns:a16="http://schemas.microsoft.com/office/drawing/2014/main" id="{03791102-BBFE-4B11-82EF-A36CE10368CF}"/>
              </a:ext>
            </a:extLst>
          </p:cNvPr>
          <p:cNvSpPr>
            <a:spLocks noGrp="1"/>
          </p:cNvSpPr>
          <p:nvPr/>
        </p:nvSpPr>
        <p:spPr>
          <a:xfrm>
            <a:off x="3124200" y="4457700"/>
            <a:ext cx="4953000" cy="361950"/>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Stops before gathering enough evidence</a:t>
            </a:r>
          </a:p>
        </p:txBody>
      </p:sp>
      <p:sp>
        <p:nvSpPr>
          <p:cNvPr id="11" name="Rectangle 10">
            <a:extLst>
              <a:ext uri="{FF2B5EF4-FFF2-40B4-BE49-F238E27FC236}">
                <a16:creationId xmlns:a16="http://schemas.microsoft.com/office/drawing/2014/main" id="{37A2B9BA-BF20-44CB-B522-22FE713DF791}"/>
              </a:ext>
            </a:extLst>
          </p:cNvPr>
          <p:cNvSpPr>
            <a:spLocks noGrp="1"/>
          </p:cNvSpPr>
          <p:nvPr/>
        </p:nvSpPr>
        <p:spPr>
          <a:xfrm>
            <a:off x="857250" y="5086350"/>
            <a:ext cx="2095500" cy="361950"/>
          </a:xfrm>
          <a:prstGeom prst="rect">
            <a:avLst/>
          </a:prstGeom>
          <a:noFill/>
          <a:ln w="0">
            <a:noFill/>
            <a:prstDash val="solid"/>
          </a:ln>
        </p:spPr>
        <p:txBody>
          <a:bodyPr anchor="ctr"/>
          <a:lstStyle>
            <a:defPPr algn="l">
              <a:defRPr sz="1425" b="1">
                <a:solidFill>
                  <a:srgbClr val="EE7D5B"/>
                </a:solidFill>
              </a:defRPr>
            </a:defPPr>
          </a:lstStyle>
          <a:p>
            <a:pPr algn="l">
              <a:defRPr sz="1425" b="1">
                <a:solidFill>
                  <a:srgbClr val="EE7D5B"/>
                </a:solidFill>
              </a:defRPr>
            </a:pPr>
            <a:r>
              <a:rPr sz="1425" b="1">
                <a:solidFill>
                  <a:srgbClr val="EE7D5B"/>
                </a:solidFill>
              </a:rPr>
              <a:t>Context overload</a:t>
            </a:r>
          </a:p>
        </p:txBody>
      </p:sp>
      <p:sp>
        <p:nvSpPr>
          <p:cNvPr id="12" name="Rectangle 11">
            <a:extLst>
              <a:ext uri="{FF2B5EF4-FFF2-40B4-BE49-F238E27FC236}">
                <a16:creationId xmlns:a16="http://schemas.microsoft.com/office/drawing/2014/main" id="{95BD2FDC-6406-4475-A028-4709F9F62CEC}"/>
              </a:ext>
            </a:extLst>
          </p:cNvPr>
          <p:cNvSpPr>
            <a:spLocks noGrp="1"/>
          </p:cNvSpPr>
          <p:nvPr/>
        </p:nvSpPr>
        <p:spPr>
          <a:xfrm>
            <a:off x="3124200" y="5086350"/>
            <a:ext cx="4953000" cy="361950"/>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Carries too much irrelevant history</a:t>
            </a:r>
          </a:p>
        </p:txBody>
      </p:sp>
      <p:sp>
        <p:nvSpPr>
          <p:cNvPr id="13" name="Rectangle 12">
            <a:extLst>
              <a:ext uri="{FF2B5EF4-FFF2-40B4-BE49-F238E27FC236}">
                <a16:creationId xmlns:a16="http://schemas.microsoft.com/office/drawing/2014/main" id="{0D483CA0-F867-4087-A2F1-07627E37DBA6}"/>
              </a:ext>
            </a:extLst>
          </p:cNvPr>
          <p:cNvSpPr>
            <a:spLocks noGrp="1"/>
          </p:cNvSpPr>
          <p:nvPr/>
        </p:nvSpPr>
        <p:spPr>
          <a:xfrm>
            <a:off x="6191250" y="5391150"/>
            <a:ext cx="4381500" cy="3810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Most failures become visible only when the full trace is recorded</a:t>
            </a:r>
          </a:p>
        </p:txBody>
      </p:sp>
    </p:spTree>
    <p:extLst>
      <p:ext uri="{BB962C8B-B14F-4D97-AF65-F5344CB8AC3E}">
        <p14:creationId xmlns:p14="http://schemas.microsoft.com/office/powerpoint/2010/main" val="1602483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117EDCB-321D-4DDF-8D45-47F676416AF7}"/>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07AA53D-D01E-40D0-BDCF-3A96E37758D9}"/>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Tools give agents capabilities</a:t>
            </a:r>
          </a:p>
        </p:txBody>
      </p:sp>
      <p:sp>
        <p:nvSpPr>
          <p:cNvPr id="3" name="Rectangle 2">
            <a:extLst>
              <a:ext uri="{FF2B5EF4-FFF2-40B4-BE49-F238E27FC236}">
                <a16:creationId xmlns:a16="http://schemas.microsoft.com/office/drawing/2014/main" id="{FC9756EC-B468-4675-AAE7-F02A4263ADA4}"/>
              </a:ext>
            </a:extLst>
          </p:cNvPr>
          <p:cNvSpPr>
            <a:spLocks noGrp="1"/>
          </p:cNvSpPr>
          <p:nvPr/>
        </p:nvSpPr>
        <p:spPr>
          <a:xfrm>
            <a:off x="781050" y="2533650"/>
            <a:ext cx="1714500" cy="438150"/>
          </a:xfrm>
          <a:prstGeom prst="rect">
            <a:avLst/>
          </a:prstGeom>
          <a:solidFill>
            <a:srgbClr val="E7EEFC"/>
          </a:solidFill>
          <a:ln w="0">
            <a:noFill/>
            <a:prstDash val="solid"/>
          </a:ln>
        </p:spPr>
        <p:txBody>
          <a:bodyPr anchor="ctr"/>
          <a:lstStyle>
            <a:defPPr algn="ctr">
              <a:defRPr sz="1425" b="1">
                <a:solidFill>
                  <a:srgbClr val="203D67"/>
                </a:solidFill>
              </a:defRPr>
            </a:defPPr>
          </a:lstStyle>
          <a:p>
            <a:pPr algn="ctr">
              <a:defRPr sz="1425" b="1">
                <a:solidFill>
                  <a:srgbClr val="203D67"/>
                </a:solidFill>
              </a:defRPr>
            </a:pPr>
            <a:r>
              <a:rPr sz="1425" b="1">
                <a:solidFill>
                  <a:srgbClr val="203D67"/>
                </a:solidFill>
              </a:rPr>
              <a:t>Search</a:t>
            </a:r>
          </a:p>
        </p:txBody>
      </p:sp>
      <p:sp>
        <p:nvSpPr>
          <p:cNvPr id="4" name="Rectangle 3">
            <a:extLst>
              <a:ext uri="{FF2B5EF4-FFF2-40B4-BE49-F238E27FC236}">
                <a16:creationId xmlns:a16="http://schemas.microsoft.com/office/drawing/2014/main" id="{474964D1-F48F-47EE-ADE9-E2E978D07C8F}"/>
              </a:ext>
            </a:extLst>
          </p:cNvPr>
          <p:cNvSpPr>
            <a:spLocks noGrp="1"/>
          </p:cNvSpPr>
          <p:nvPr/>
        </p:nvSpPr>
        <p:spPr>
          <a:xfrm>
            <a:off x="2819400" y="2533650"/>
            <a:ext cx="4572000" cy="4381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Current information</a:t>
            </a:r>
          </a:p>
        </p:txBody>
      </p:sp>
      <p:sp>
        <p:nvSpPr>
          <p:cNvPr id="5" name="Rectangle 4">
            <a:extLst>
              <a:ext uri="{FF2B5EF4-FFF2-40B4-BE49-F238E27FC236}">
                <a16:creationId xmlns:a16="http://schemas.microsoft.com/office/drawing/2014/main" id="{5C3B3045-B006-4F38-B253-AEB78A07211A}"/>
              </a:ext>
            </a:extLst>
          </p:cNvPr>
          <p:cNvSpPr>
            <a:spLocks noGrp="1"/>
          </p:cNvSpPr>
          <p:nvPr/>
        </p:nvSpPr>
        <p:spPr>
          <a:xfrm>
            <a:off x="781050" y="3143250"/>
            <a:ext cx="1714500" cy="438150"/>
          </a:xfrm>
          <a:prstGeom prst="rect">
            <a:avLst/>
          </a:prstGeom>
          <a:solidFill>
            <a:srgbClr val="E1F4F3"/>
          </a:solidFill>
          <a:ln w="0">
            <a:noFill/>
            <a:prstDash val="solid"/>
          </a:ln>
        </p:spPr>
        <p:txBody>
          <a:bodyPr anchor="ctr"/>
          <a:lstStyle>
            <a:defPPr algn="ctr">
              <a:defRPr sz="1425" b="1">
                <a:solidFill>
                  <a:srgbClr val="203D67"/>
                </a:solidFill>
              </a:defRPr>
            </a:defPPr>
          </a:lstStyle>
          <a:p>
            <a:pPr algn="ctr">
              <a:defRPr sz="1425" b="1">
                <a:solidFill>
                  <a:srgbClr val="203D67"/>
                </a:solidFill>
              </a:defRPr>
            </a:pPr>
            <a:r>
              <a:rPr sz="1425" b="1">
                <a:solidFill>
                  <a:srgbClr val="203D67"/>
                </a:solidFill>
              </a:rPr>
              <a:t>Retrieval</a:t>
            </a:r>
          </a:p>
        </p:txBody>
      </p:sp>
      <p:sp>
        <p:nvSpPr>
          <p:cNvPr id="6" name="Rectangle 5">
            <a:extLst>
              <a:ext uri="{FF2B5EF4-FFF2-40B4-BE49-F238E27FC236}">
                <a16:creationId xmlns:a16="http://schemas.microsoft.com/office/drawing/2014/main" id="{5525A0EA-9D37-43BD-8E04-5F5932453417}"/>
              </a:ext>
            </a:extLst>
          </p:cNvPr>
          <p:cNvSpPr>
            <a:spLocks noGrp="1"/>
          </p:cNvSpPr>
          <p:nvPr/>
        </p:nvSpPr>
        <p:spPr>
          <a:xfrm>
            <a:off x="2819400" y="3143250"/>
            <a:ext cx="4572000" cy="4381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Private knowledge</a:t>
            </a:r>
          </a:p>
        </p:txBody>
      </p:sp>
      <p:sp>
        <p:nvSpPr>
          <p:cNvPr id="7" name="Rectangle 6">
            <a:extLst>
              <a:ext uri="{FF2B5EF4-FFF2-40B4-BE49-F238E27FC236}">
                <a16:creationId xmlns:a16="http://schemas.microsoft.com/office/drawing/2014/main" id="{5A1363B7-EA57-40F2-9ACD-4D72AA0931DC}"/>
              </a:ext>
            </a:extLst>
          </p:cNvPr>
          <p:cNvSpPr>
            <a:spLocks noGrp="1"/>
          </p:cNvSpPr>
          <p:nvPr/>
        </p:nvSpPr>
        <p:spPr>
          <a:xfrm>
            <a:off x="781050" y="3752850"/>
            <a:ext cx="1714500" cy="438150"/>
          </a:xfrm>
          <a:prstGeom prst="rect">
            <a:avLst/>
          </a:prstGeom>
          <a:solidFill>
            <a:srgbClr val="FFF2C2"/>
          </a:solidFill>
          <a:ln w="0">
            <a:noFill/>
            <a:prstDash val="solid"/>
          </a:ln>
        </p:spPr>
        <p:txBody>
          <a:bodyPr anchor="ctr"/>
          <a:lstStyle>
            <a:defPPr algn="ctr">
              <a:defRPr sz="1425" b="1">
                <a:solidFill>
                  <a:srgbClr val="203D67"/>
                </a:solidFill>
              </a:defRPr>
            </a:defPPr>
          </a:lstStyle>
          <a:p>
            <a:pPr algn="ctr">
              <a:defRPr sz="1425" b="1">
                <a:solidFill>
                  <a:srgbClr val="203D67"/>
                </a:solidFill>
              </a:defRPr>
            </a:pPr>
            <a:r>
              <a:rPr sz="1425" b="1">
                <a:solidFill>
                  <a:srgbClr val="203D67"/>
                </a:solidFill>
              </a:rPr>
              <a:t>Calculator</a:t>
            </a:r>
          </a:p>
        </p:txBody>
      </p:sp>
      <p:sp>
        <p:nvSpPr>
          <p:cNvPr id="8" name="Rectangle 7">
            <a:extLst>
              <a:ext uri="{FF2B5EF4-FFF2-40B4-BE49-F238E27FC236}">
                <a16:creationId xmlns:a16="http://schemas.microsoft.com/office/drawing/2014/main" id="{BB60AEC1-CD89-4B63-96DD-5E283A313F98}"/>
              </a:ext>
            </a:extLst>
          </p:cNvPr>
          <p:cNvSpPr>
            <a:spLocks noGrp="1"/>
          </p:cNvSpPr>
          <p:nvPr/>
        </p:nvSpPr>
        <p:spPr>
          <a:xfrm>
            <a:off x="2819400" y="3752850"/>
            <a:ext cx="4572000" cy="4381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Exact computation</a:t>
            </a:r>
          </a:p>
        </p:txBody>
      </p:sp>
      <p:sp>
        <p:nvSpPr>
          <p:cNvPr id="9" name="Rectangle 8">
            <a:extLst>
              <a:ext uri="{FF2B5EF4-FFF2-40B4-BE49-F238E27FC236}">
                <a16:creationId xmlns:a16="http://schemas.microsoft.com/office/drawing/2014/main" id="{B3AC34C7-646A-4FB4-80D6-FBE42678926F}"/>
              </a:ext>
            </a:extLst>
          </p:cNvPr>
          <p:cNvSpPr>
            <a:spLocks noGrp="1"/>
          </p:cNvSpPr>
          <p:nvPr/>
        </p:nvSpPr>
        <p:spPr>
          <a:xfrm>
            <a:off x="781050" y="4362450"/>
            <a:ext cx="1714500" cy="438150"/>
          </a:xfrm>
          <a:prstGeom prst="rect">
            <a:avLst/>
          </a:prstGeom>
          <a:solidFill>
            <a:srgbClr val="FDE8E1"/>
          </a:solidFill>
          <a:ln w="0">
            <a:noFill/>
            <a:prstDash val="solid"/>
          </a:ln>
        </p:spPr>
        <p:txBody>
          <a:bodyPr anchor="ctr"/>
          <a:lstStyle>
            <a:defPPr algn="ctr">
              <a:defRPr sz="1425" b="1">
                <a:solidFill>
                  <a:srgbClr val="203D67"/>
                </a:solidFill>
              </a:defRPr>
            </a:defPPr>
          </a:lstStyle>
          <a:p>
            <a:pPr algn="ctr">
              <a:defRPr sz="1425" b="1">
                <a:solidFill>
                  <a:srgbClr val="203D67"/>
                </a:solidFill>
              </a:defRPr>
            </a:pPr>
            <a:r>
              <a:rPr sz="1425" b="1">
                <a:solidFill>
                  <a:srgbClr val="203D67"/>
                </a:solidFill>
              </a:rPr>
              <a:t>API</a:t>
            </a:r>
          </a:p>
        </p:txBody>
      </p:sp>
      <p:sp>
        <p:nvSpPr>
          <p:cNvPr id="10" name="Rectangle 9">
            <a:extLst>
              <a:ext uri="{FF2B5EF4-FFF2-40B4-BE49-F238E27FC236}">
                <a16:creationId xmlns:a16="http://schemas.microsoft.com/office/drawing/2014/main" id="{E0B6ED89-D46F-4EE9-B1D0-D2D8E4879AE3}"/>
              </a:ext>
            </a:extLst>
          </p:cNvPr>
          <p:cNvSpPr>
            <a:spLocks noGrp="1"/>
          </p:cNvSpPr>
          <p:nvPr/>
        </p:nvSpPr>
        <p:spPr>
          <a:xfrm>
            <a:off x="2819400" y="4362450"/>
            <a:ext cx="4572000" cy="4381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External systems</a:t>
            </a:r>
          </a:p>
        </p:txBody>
      </p:sp>
      <p:sp>
        <p:nvSpPr>
          <p:cNvPr id="11" name="Rectangle 10">
            <a:extLst>
              <a:ext uri="{FF2B5EF4-FFF2-40B4-BE49-F238E27FC236}">
                <a16:creationId xmlns:a16="http://schemas.microsoft.com/office/drawing/2014/main" id="{37D11679-8215-40CB-8E74-2BE3681DE6C1}"/>
              </a:ext>
            </a:extLst>
          </p:cNvPr>
          <p:cNvSpPr>
            <a:spLocks noGrp="1"/>
          </p:cNvSpPr>
          <p:nvPr/>
        </p:nvSpPr>
        <p:spPr>
          <a:xfrm>
            <a:off x="781050" y="4972050"/>
            <a:ext cx="1714500" cy="438150"/>
          </a:xfrm>
          <a:prstGeom prst="rect">
            <a:avLst/>
          </a:prstGeom>
          <a:solidFill>
            <a:srgbClr val="E7EEFC"/>
          </a:solidFill>
          <a:ln w="0">
            <a:noFill/>
            <a:prstDash val="solid"/>
          </a:ln>
        </p:spPr>
        <p:txBody>
          <a:bodyPr anchor="ctr"/>
          <a:lstStyle>
            <a:defPPr algn="ctr">
              <a:defRPr sz="1425" b="1">
                <a:solidFill>
                  <a:srgbClr val="203D67"/>
                </a:solidFill>
              </a:defRPr>
            </a:defPPr>
          </a:lstStyle>
          <a:p>
            <a:pPr algn="ctr">
              <a:defRPr sz="1425" b="1">
                <a:solidFill>
                  <a:srgbClr val="203D67"/>
                </a:solidFill>
              </a:defRPr>
            </a:pPr>
            <a:r>
              <a:rPr sz="1425" b="1">
                <a:solidFill>
                  <a:srgbClr val="203D67"/>
                </a:solidFill>
              </a:rPr>
              <a:t>Files</a:t>
            </a:r>
          </a:p>
        </p:txBody>
      </p:sp>
      <p:sp>
        <p:nvSpPr>
          <p:cNvPr id="12" name="Rectangle 11">
            <a:extLst>
              <a:ext uri="{FF2B5EF4-FFF2-40B4-BE49-F238E27FC236}">
                <a16:creationId xmlns:a16="http://schemas.microsoft.com/office/drawing/2014/main" id="{9FCC2167-62D6-4038-9946-5AF407F4202F}"/>
              </a:ext>
            </a:extLst>
          </p:cNvPr>
          <p:cNvSpPr>
            <a:spLocks noGrp="1"/>
          </p:cNvSpPr>
          <p:nvPr/>
        </p:nvSpPr>
        <p:spPr>
          <a:xfrm>
            <a:off x="2819400" y="4972050"/>
            <a:ext cx="4572000" cy="4381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Read or create artifacts</a:t>
            </a:r>
          </a:p>
        </p:txBody>
      </p:sp>
      <p:sp>
        <p:nvSpPr>
          <p:cNvPr id="13" name="Rectangle 12">
            <a:extLst>
              <a:ext uri="{FF2B5EF4-FFF2-40B4-BE49-F238E27FC236}">
                <a16:creationId xmlns:a16="http://schemas.microsoft.com/office/drawing/2014/main" id="{F8E75DB9-C945-40A3-9558-7F928BCAE707}"/>
              </a:ext>
            </a:extLst>
          </p:cNvPr>
          <p:cNvSpPr>
            <a:spLocks noGrp="1"/>
          </p:cNvSpPr>
          <p:nvPr/>
        </p:nvSpPr>
        <p:spPr>
          <a:xfrm>
            <a:off x="6381750" y="4905375"/>
            <a:ext cx="3905250" cy="609600"/>
          </a:xfrm>
          <a:prstGeom prst="rect">
            <a:avLst/>
          </a:prstGeom>
          <a:noFill/>
          <a:ln w="0">
            <a:noFill/>
            <a:prstDash val="solid"/>
          </a:ln>
        </p:spPr>
        <p:txBody>
          <a:bodyPr anchor="ctr"/>
          <a:lstStyle>
            <a:defPPr algn="ctr">
              <a:defRPr sz="1500" b="1">
                <a:solidFill>
                  <a:srgbClr val="008A91"/>
                </a:solidFill>
              </a:defRPr>
            </a:defPPr>
          </a:lstStyle>
          <a:p>
            <a:pPr algn="ctr">
              <a:defRPr sz="1500" b="1">
                <a:solidFill>
                  <a:srgbClr val="008A91"/>
                </a:solidFill>
              </a:defRPr>
            </a:pPr>
            <a:r>
              <a:rPr sz="1500" b="1">
                <a:solidFill>
                  <a:srgbClr val="008A91"/>
                </a:solidFill>
              </a:rPr>
              <a:t>A tool should provide a capability the model does not reliably possess</a:t>
            </a:r>
          </a:p>
        </p:txBody>
      </p:sp>
    </p:spTree>
    <p:extLst>
      <p:ext uri="{BB962C8B-B14F-4D97-AF65-F5344CB8AC3E}">
        <p14:creationId xmlns:p14="http://schemas.microsoft.com/office/powerpoint/2010/main" val="1493932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941BBF7-C201-4968-A484-3238F3C56BEF}"/>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CE8AC88-5C8B-4639-A4EB-BB81C449C16B}"/>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The anatomy of a good tool</a:t>
            </a:r>
          </a:p>
        </p:txBody>
      </p:sp>
      <p:sp>
        <p:nvSpPr>
          <p:cNvPr id="3" name="Rounded Rectangle 2">
            <a:extLst>
              <a:ext uri="{FF2B5EF4-FFF2-40B4-BE49-F238E27FC236}">
                <a16:creationId xmlns:a16="http://schemas.microsoft.com/office/drawing/2014/main" id="{DD432740-CFD2-4C72-971D-60070DB38CF1}"/>
              </a:ext>
            </a:extLst>
          </p:cNvPr>
          <p:cNvSpPr>
            <a:spLocks noGrp="1"/>
          </p:cNvSpPr>
          <p:nvPr/>
        </p:nvSpPr>
        <p:spPr>
          <a:xfrm>
            <a:off x="4238625" y="2800350"/>
            <a:ext cx="2476500" cy="742950"/>
          </a:xfrm>
          <a:prstGeom prst="roundRect">
            <a:avLst>
              <a:gd name="adj" fmla="val 15385"/>
            </a:avLst>
          </a:prstGeom>
          <a:solidFill>
            <a:srgbClr val="E1F4F3"/>
          </a:solidFill>
          <a:ln w="9525">
            <a:solidFill>
              <a:srgbClr val="B8C9E5"/>
            </a:solidFill>
            <a:prstDash val="solid"/>
          </a:ln>
        </p:spPr>
        <p:txBody>
          <a:bodyPr/>
          <a:lstStyle/>
          <a:p>
            <a:endParaRPr lang="en-US"/>
          </a:p>
        </p:txBody>
      </p:sp>
      <p:sp>
        <p:nvSpPr>
          <p:cNvPr id="4" name="Rectangle 3">
            <a:extLst>
              <a:ext uri="{FF2B5EF4-FFF2-40B4-BE49-F238E27FC236}">
                <a16:creationId xmlns:a16="http://schemas.microsoft.com/office/drawing/2014/main" id="{FF25D9BE-7323-4857-9E72-1876EB957E9E}"/>
              </a:ext>
            </a:extLst>
          </p:cNvPr>
          <p:cNvSpPr>
            <a:spLocks noGrp="1"/>
          </p:cNvSpPr>
          <p:nvPr/>
        </p:nvSpPr>
        <p:spPr>
          <a:xfrm>
            <a:off x="4314825" y="2857500"/>
            <a:ext cx="2324100" cy="628650"/>
          </a:xfrm>
          <a:prstGeom prst="rect">
            <a:avLst/>
          </a:prstGeom>
          <a:noFill/>
          <a:ln w="0">
            <a:noFill/>
            <a:prstDash val="solid"/>
          </a:ln>
        </p:spPr>
        <p:txBody>
          <a:bodyPr anchor="ctr"/>
          <a:lstStyle>
            <a:defPPr algn="ctr">
              <a:defRPr sz="1575" b="1">
                <a:solidFill>
                  <a:srgbClr val="203D67"/>
                </a:solidFill>
              </a:defRPr>
            </a:defPPr>
          </a:lstStyle>
          <a:p>
            <a:pPr algn="ctr">
              <a:defRPr sz="1575" b="1">
                <a:solidFill>
                  <a:srgbClr val="203D67"/>
                </a:solidFill>
              </a:defRPr>
            </a:pPr>
            <a:r>
              <a:rPr sz="1575" b="1">
                <a:solidFill>
                  <a:srgbClr val="203D67"/>
                </a:solidFill>
              </a:rPr>
              <a:t>search_papers</a:t>
            </a:r>
          </a:p>
        </p:txBody>
      </p:sp>
      <p:sp>
        <p:nvSpPr>
          <p:cNvPr id="5" name="Rounded Rectangle 4">
            <a:extLst>
              <a:ext uri="{FF2B5EF4-FFF2-40B4-BE49-F238E27FC236}">
                <a16:creationId xmlns:a16="http://schemas.microsoft.com/office/drawing/2014/main" id="{41CF20C7-BC57-4F5D-9413-C0F5B7355308}"/>
              </a:ext>
            </a:extLst>
          </p:cNvPr>
          <p:cNvSpPr>
            <a:spLocks noGrp="1"/>
          </p:cNvSpPr>
          <p:nvPr/>
        </p:nvSpPr>
        <p:spPr>
          <a:xfrm>
            <a:off x="1047750" y="2724150"/>
            <a:ext cx="2095500" cy="609600"/>
          </a:xfrm>
          <a:prstGeom prst="roundRect">
            <a:avLst>
              <a:gd name="adj" fmla="val 18750"/>
            </a:avLst>
          </a:prstGeom>
          <a:solidFill>
            <a:srgbClr val="FFFFFF"/>
          </a:solidFill>
          <a:ln w="9525">
            <a:solidFill>
              <a:srgbClr val="B8C9E5"/>
            </a:solidFill>
            <a:prstDash val="solid"/>
          </a:ln>
        </p:spPr>
        <p:txBody>
          <a:bodyPr/>
          <a:lstStyle/>
          <a:p>
            <a:endParaRPr lang="en-US"/>
          </a:p>
        </p:txBody>
      </p:sp>
      <p:sp>
        <p:nvSpPr>
          <p:cNvPr id="6" name="Rectangle 5">
            <a:extLst>
              <a:ext uri="{FF2B5EF4-FFF2-40B4-BE49-F238E27FC236}">
                <a16:creationId xmlns:a16="http://schemas.microsoft.com/office/drawing/2014/main" id="{0575C754-05A5-4B14-8C47-B49B14E17388}"/>
              </a:ext>
            </a:extLst>
          </p:cNvPr>
          <p:cNvSpPr>
            <a:spLocks noGrp="1"/>
          </p:cNvSpPr>
          <p:nvPr/>
        </p:nvSpPr>
        <p:spPr>
          <a:xfrm>
            <a:off x="1123950" y="2781300"/>
            <a:ext cx="1943100" cy="495300"/>
          </a:xfrm>
          <a:prstGeom prst="rect">
            <a:avLst/>
          </a:prstGeom>
          <a:noFill/>
          <a:ln w="0">
            <a:noFill/>
            <a:prstDash val="solid"/>
          </a:ln>
        </p:spPr>
        <p:txBody>
          <a:bodyPr anchor="ctr"/>
          <a:lstStyle>
            <a:defPPr algn="ctr">
              <a:defRPr sz="1275" b="1">
                <a:solidFill>
                  <a:srgbClr val="223047"/>
                </a:solidFill>
              </a:defRPr>
            </a:defPPr>
          </a:lstStyle>
          <a:p>
            <a:pPr algn="ctr">
              <a:defRPr sz="1275" b="1">
                <a:solidFill>
                  <a:srgbClr val="223047"/>
                </a:solidFill>
              </a:defRPr>
            </a:pPr>
            <a:r>
              <a:rPr sz="1275" b="1">
                <a:solidFill>
                  <a:srgbClr val="223047"/>
                </a:solidFill>
              </a:rPr>
              <a:t>Clear name</a:t>
            </a:r>
          </a:p>
        </p:txBody>
      </p:sp>
      <p:cxnSp>
        <p:nvCxnSpPr>
          <p:cNvPr id="7" name="Straight Arrow Connector 6">
            <a:extLst>
              <a:ext uri="{FF2B5EF4-FFF2-40B4-BE49-F238E27FC236}">
                <a16:creationId xmlns:a16="http://schemas.microsoft.com/office/drawing/2014/main" id="{C7DBBD18-03F1-4026-87BD-9358960ED68E}"/>
              </a:ext>
            </a:extLst>
          </p:cNvPr>
          <p:cNvCxnSpPr>
            <a:stCxn id="5" idx="3"/>
            <a:endCxn id="3" idx="1"/>
          </p:cNvCxnSpPr>
          <p:nvPr/>
        </p:nvCxnSpPr>
        <p:spPr>
          <a:xfrm>
            <a:off x="3143250" y="3028950"/>
            <a:ext cx="1095375" cy="142875"/>
          </a:xfrm>
          <a:prstGeom prst="straightConnector1">
            <a:avLst/>
          </a:prstGeom>
          <a:ln w="21431">
            <a:solidFill>
              <a:srgbClr val="175CE5"/>
            </a:solidFill>
            <a:prstDash val="solid"/>
            <a:tailEnd type="arrow" w="med" len="med"/>
          </a:ln>
        </p:spPr>
      </p:cxnSp>
      <p:sp>
        <p:nvSpPr>
          <p:cNvPr id="8" name="Rounded Rectangle 7">
            <a:extLst>
              <a:ext uri="{FF2B5EF4-FFF2-40B4-BE49-F238E27FC236}">
                <a16:creationId xmlns:a16="http://schemas.microsoft.com/office/drawing/2014/main" id="{217896D9-E6FE-4ACF-9FD2-3383387D50C6}"/>
              </a:ext>
            </a:extLst>
          </p:cNvPr>
          <p:cNvSpPr>
            <a:spLocks noGrp="1"/>
          </p:cNvSpPr>
          <p:nvPr/>
        </p:nvSpPr>
        <p:spPr>
          <a:xfrm>
            <a:off x="876300" y="4095750"/>
            <a:ext cx="2095500" cy="609600"/>
          </a:xfrm>
          <a:prstGeom prst="roundRect">
            <a:avLst>
              <a:gd name="adj" fmla="val 18750"/>
            </a:avLst>
          </a:prstGeom>
          <a:solidFill>
            <a:srgbClr val="FFFFFF"/>
          </a:solidFill>
          <a:ln w="9525">
            <a:solidFill>
              <a:srgbClr val="B8C9E5"/>
            </a:solidFill>
            <a:prstDash val="solid"/>
          </a:ln>
        </p:spPr>
        <p:txBody>
          <a:bodyPr/>
          <a:lstStyle/>
          <a:p>
            <a:endParaRPr lang="en-US"/>
          </a:p>
        </p:txBody>
      </p:sp>
      <p:sp>
        <p:nvSpPr>
          <p:cNvPr id="9" name="Rectangle 8">
            <a:extLst>
              <a:ext uri="{FF2B5EF4-FFF2-40B4-BE49-F238E27FC236}">
                <a16:creationId xmlns:a16="http://schemas.microsoft.com/office/drawing/2014/main" id="{0AA86030-8928-4549-B5FB-30082E20750D}"/>
              </a:ext>
            </a:extLst>
          </p:cNvPr>
          <p:cNvSpPr>
            <a:spLocks noGrp="1"/>
          </p:cNvSpPr>
          <p:nvPr/>
        </p:nvSpPr>
        <p:spPr>
          <a:xfrm>
            <a:off x="952500" y="4152900"/>
            <a:ext cx="1943100" cy="495300"/>
          </a:xfrm>
          <a:prstGeom prst="rect">
            <a:avLst/>
          </a:prstGeom>
          <a:noFill/>
          <a:ln w="0">
            <a:noFill/>
            <a:prstDash val="solid"/>
          </a:ln>
        </p:spPr>
        <p:txBody>
          <a:bodyPr anchor="ctr"/>
          <a:lstStyle>
            <a:defPPr algn="ctr">
              <a:defRPr sz="1275" b="1">
                <a:solidFill>
                  <a:srgbClr val="223047"/>
                </a:solidFill>
              </a:defRPr>
            </a:defPPr>
          </a:lstStyle>
          <a:p>
            <a:pPr algn="ctr">
              <a:defRPr sz="1275" b="1">
                <a:solidFill>
                  <a:srgbClr val="223047"/>
                </a:solidFill>
              </a:defRPr>
            </a:pPr>
            <a:r>
              <a:rPr sz="1275" b="1">
                <a:solidFill>
                  <a:srgbClr val="223047"/>
                </a:solidFill>
              </a:rPr>
              <a:t>Specific description</a:t>
            </a:r>
          </a:p>
        </p:txBody>
      </p:sp>
      <p:cxnSp>
        <p:nvCxnSpPr>
          <p:cNvPr id="10" name="Straight Arrow Connector 9">
            <a:extLst>
              <a:ext uri="{FF2B5EF4-FFF2-40B4-BE49-F238E27FC236}">
                <a16:creationId xmlns:a16="http://schemas.microsoft.com/office/drawing/2014/main" id="{782F83AF-5766-4BF2-AE62-5CD3173CE578}"/>
              </a:ext>
            </a:extLst>
          </p:cNvPr>
          <p:cNvCxnSpPr>
            <a:stCxn id="8" idx="3"/>
            <a:endCxn id="3" idx="1"/>
          </p:cNvCxnSpPr>
          <p:nvPr/>
        </p:nvCxnSpPr>
        <p:spPr>
          <a:xfrm flipV="1">
            <a:off x="2971800" y="3171825"/>
            <a:ext cx="1266825" cy="1228725"/>
          </a:xfrm>
          <a:prstGeom prst="straightConnector1">
            <a:avLst/>
          </a:prstGeom>
          <a:ln w="21431">
            <a:solidFill>
              <a:srgbClr val="42BCC9"/>
            </a:solidFill>
            <a:prstDash val="solid"/>
            <a:tailEnd type="arrow" w="med" len="med"/>
          </a:ln>
        </p:spPr>
      </p:cxnSp>
      <p:sp>
        <p:nvSpPr>
          <p:cNvPr id="11" name="Rounded Rectangle 10">
            <a:extLst>
              <a:ext uri="{FF2B5EF4-FFF2-40B4-BE49-F238E27FC236}">
                <a16:creationId xmlns:a16="http://schemas.microsoft.com/office/drawing/2014/main" id="{872A1A54-B834-43C4-B3D4-E2792D43593A}"/>
              </a:ext>
            </a:extLst>
          </p:cNvPr>
          <p:cNvSpPr>
            <a:spLocks noGrp="1"/>
          </p:cNvSpPr>
          <p:nvPr/>
        </p:nvSpPr>
        <p:spPr>
          <a:xfrm>
            <a:off x="7715250" y="2724150"/>
            <a:ext cx="2095500" cy="609600"/>
          </a:xfrm>
          <a:prstGeom prst="roundRect">
            <a:avLst>
              <a:gd name="adj" fmla="val 18750"/>
            </a:avLst>
          </a:prstGeom>
          <a:solidFill>
            <a:srgbClr val="FFFFFF"/>
          </a:solidFill>
          <a:ln w="9525">
            <a:solidFill>
              <a:srgbClr val="B8C9E5"/>
            </a:solidFill>
            <a:prstDash val="solid"/>
          </a:ln>
        </p:spPr>
        <p:txBody>
          <a:bodyPr/>
          <a:lstStyle/>
          <a:p>
            <a:endParaRPr lang="en-US"/>
          </a:p>
        </p:txBody>
      </p:sp>
      <p:sp>
        <p:nvSpPr>
          <p:cNvPr id="12" name="Rectangle 11">
            <a:extLst>
              <a:ext uri="{FF2B5EF4-FFF2-40B4-BE49-F238E27FC236}">
                <a16:creationId xmlns:a16="http://schemas.microsoft.com/office/drawing/2014/main" id="{E3885D2A-908C-4A88-9720-C4C34382EC18}"/>
              </a:ext>
            </a:extLst>
          </p:cNvPr>
          <p:cNvSpPr>
            <a:spLocks noGrp="1"/>
          </p:cNvSpPr>
          <p:nvPr/>
        </p:nvSpPr>
        <p:spPr>
          <a:xfrm>
            <a:off x="7791450" y="2781300"/>
            <a:ext cx="1943100" cy="495300"/>
          </a:xfrm>
          <a:prstGeom prst="rect">
            <a:avLst/>
          </a:prstGeom>
          <a:noFill/>
          <a:ln w="0">
            <a:noFill/>
            <a:prstDash val="solid"/>
          </a:ln>
        </p:spPr>
        <p:txBody>
          <a:bodyPr anchor="ctr"/>
          <a:lstStyle>
            <a:defPPr algn="ctr">
              <a:defRPr sz="1275" b="1">
                <a:solidFill>
                  <a:srgbClr val="223047"/>
                </a:solidFill>
              </a:defRPr>
            </a:defPPr>
          </a:lstStyle>
          <a:p>
            <a:pPr algn="ctr">
              <a:defRPr sz="1275" b="1">
                <a:solidFill>
                  <a:srgbClr val="223047"/>
                </a:solidFill>
              </a:defRPr>
            </a:pPr>
            <a:r>
              <a:rPr sz="1275" b="1">
                <a:solidFill>
                  <a:srgbClr val="223047"/>
                </a:solidFill>
              </a:rPr>
              <a:t>Typed inputs</a:t>
            </a:r>
          </a:p>
        </p:txBody>
      </p:sp>
      <p:cxnSp>
        <p:nvCxnSpPr>
          <p:cNvPr id="13" name="Straight Arrow Connector 12">
            <a:extLst>
              <a:ext uri="{FF2B5EF4-FFF2-40B4-BE49-F238E27FC236}">
                <a16:creationId xmlns:a16="http://schemas.microsoft.com/office/drawing/2014/main" id="{4D2E830F-D5DD-43EF-BFAA-386832728080}"/>
              </a:ext>
            </a:extLst>
          </p:cNvPr>
          <p:cNvCxnSpPr>
            <a:stCxn id="11" idx="1"/>
            <a:endCxn id="3" idx="3"/>
          </p:cNvCxnSpPr>
          <p:nvPr/>
        </p:nvCxnSpPr>
        <p:spPr>
          <a:xfrm flipH="1">
            <a:off x="6715125" y="3028950"/>
            <a:ext cx="1000125" cy="142875"/>
          </a:xfrm>
          <a:prstGeom prst="straightConnector1">
            <a:avLst/>
          </a:prstGeom>
          <a:ln w="21431">
            <a:solidFill>
              <a:srgbClr val="F4B900"/>
            </a:solidFill>
            <a:prstDash val="solid"/>
            <a:tailEnd type="arrow" w="med" len="med"/>
          </a:ln>
        </p:spPr>
      </p:cxnSp>
      <p:sp>
        <p:nvSpPr>
          <p:cNvPr id="14" name="Rounded Rectangle 13">
            <a:extLst>
              <a:ext uri="{FF2B5EF4-FFF2-40B4-BE49-F238E27FC236}">
                <a16:creationId xmlns:a16="http://schemas.microsoft.com/office/drawing/2014/main" id="{557CA672-B72B-4225-B6A2-564F67ABF67B}"/>
              </a:ext>
            </a:extLst>
          </p:cNvPr>
          <p:cNvSpPr>
            <a:spLocks noGrp="1"/>
          </p:cNvSpPr>
          <p:nvPr/>
        </p:nvSpPr>
        <p:spPr>
          <a:xfrm>
            <a:off x="7810500" y="4095750"/>
            <a:ext cx="2095500" cy="609600"/>
          </a:xfrm>
          <a:prstGeom prst="roundRect">
            <a:avLst>
              <a:gd name="adj" fmla="val 18750"/>
            </a:avLst>
          </a:prstGeom>
          <a:solidFill>
            <a:srgbClr val="FFFFFF"/>
          </a:solidFill>
          <a:ln w="9525">
            <a:solidFill>
              <a:srgbClr val="B8C9E5"/>
            </a:solidFill>
            <a:prstDash val="solid"/>
          </a:ln>
        </p:spPr>
        <p:txBody>
          <a:bodyPr/>
          <a:lstStyle/>
          <a:p>
            <a:endParaRPr lang="en-US"/>
          </a:p>
        </p:txBody>
      </p:sp>
      <p:sp>
        <p:nvSpPr>
          <p:cNvPr id="15" name="Rectangle 14">
            <a:extLst>
              <a:ext uri="{FF2B5EF4-FFF2-40B4-BE49-F238E27FC236}">
                <a16:creationId xmlns:a16="http://schemas.microsoft.com/office/drawing/2014/main" id="{D0C10AD5-9DB8-48A7-AA27-8D2114E7A9F1}"/>
              </a:ext>
            </a:extLst>
          </p:cNvPr>
          <p:cNvSpPr>
            <a:spLocks noGrp="1"/>
          </p:cNvSpPr>
          <p:nvPr/>
        </p:nvSpPr>
        <p:spPr>
          <a:xfrm>
            <a:off x="7886700" y="4152900"/>
            <a:ext cx="1943100" cy="495300"/>
          </a:xfrm>
          <a:prstGeom prst="rect">
            <a:avLst/>
          </a:prstGeom>
          <a:noFill/>
          <a:ln w="0">
            <a:noFill/>
            <a:prstDash val="solid"/>
          </a:ln>
        </p:spPr>
        <p:txBody>
          <a:bodyPr anchor="ctr"/>
          <a:lstStyle>
            <a:defPPr algn="ctr">
              <a:defRPr sz="1275" b="1">
                <a:solidFill>
                  <a:srgbClr val="223047"/>
                </a:solidFill>
              </a:defRPr>
            </a:defPPr>
          </a:lstStyle>
          <a:p>
            <a:pPr algn="ctr">
              <a:defRPr sz="1275" b="1">
                <a:solidFill>
                  <a:srgbClr val="223047"/>
                </a:solidFill>
              </a:defRPr>
            </a:pPr>
            <a:r>
              <a:rPr sz="1275" b="1">
                <a:solidFill>
                  <a:srgbClr val="223047"/>
                </a:solidFill>
              </a:rPr>
              <a:t>Defined output</a:t>
            </a:r>
          </a:p>
        </p:txBody>
      </p:sp>
      <p:cxnSp>
        <p:nvCxnSpPr>
          <p:cNvPr id="16" name="Straight Arrow Connector 15">
            <a:extLst>
              <a:ext uri="{FF2B5EF4-FFF2-40B4-BE49-F238E27FC236}">
                <a16:creationId xmlns:a16="http://schemas.microsoft.com/office/drawing/2014/main" id="{F922185F-0378-47E9-9B8C-CBE03B5B9128}"/>
              </a:ext>
            </a:extLst>
          </p:cNvPr>
          <p:cNvCxnSpPr>
            <a:stCxn id="14" idx="1"/>
            <a:endCxn id="3" idx="3"/>
          </p:cNvCxnSpPr>
          <p:nvPr/>
        </p:nvCxnSpPr>
        <p:spPr>
          <a:xfrm flipH="1" flipV="1">
            <a:off x="6715125" y="3171825"/>
            <a:ext cx="1095375" cy="1228725"/>
          </a:xfrm>
          <a:prstGeom prst="straightConnector1">
            <a:avLst/>
          </a:prstGeom>
          <a:ln w="21431">
            <a:solidFill>
              <a:srgbClr val="EE7D5B"/>
            </a:solidFill>
            <a:prstDash val="solid"/>
            <a:tailEnd type="arrow" w="med" len="med"/>
          </a:ln>
        </p:spPr>
      </p:cxnSp>
      <p:sp>
        <p:nvSpPr>
          <p:cNvPr id="17" name="Rectangle 16">
            <a:extLst>
              <a:ext uri="{FF2B5EF4-FFF2-40B4-BE49-F238E27FC236}">
                <a16:creationId xmlns:a16="http://schemas.microsoft.com/office/drawing/2014/main" id="{EE8F3603-0F11-454D-B704-88E1597E5D45}"/>
              </a:ext>
            </a:extLst>
          </p:cNvPr>
          <p:cNvSpPr>
            <a:spLocks noGrp="1"/>
          </p:cNvSpPr>
          <p:nvPr/>
        </p:nvSpPr>
        <p:spPr>
          <a:xfrm>
            <a:off x="3429000" y="4895850"/>
            <a:ext cx="4095750" cy="381000"/>
          </a:xfrm>
          <a:prstGeom prst="rect">
            <a:avLst/>
          </a:prstGeom>
          <a:noFill/>
          <a:ln w="0">
            <a:noFill/>
            <a:prstDash val="solid"/>
          </a:ln>
        </p:spPr>
        <p:txBody>
          <a:bodyPr anchor="ctr"/>
          <a:lstStyle>
            <a:defPPr algn="ctr">
              <a:defRPr sz="1425" b="1">
                <a:solidFill>
                  <a:srgbClr val="008A91"/>
                </a:solidFill>
              </a:defRPr>
            </a:defPPr>
          </a:lstStyle>
          <a:p>
            <a:pPr algn="ctr">
              <a:defRPr sz="1425" b="1">
                <a:solidFill>
                  <a:srgbClr val="008A91"/>
                </a:solidFill>
              </a:defRPr>
            </a:pPr>
            <a:r>
              <a:rPr sz="1425" b="1">
                <a:solidFill>
                  <a:srgbClr val="008A91"/>
                </a:solidFill>
              </a:rPr>
              <a:t>Failure behaviour belongs in the contract too</a:t>
            </a:r>
          </a:p>
        </p:txBody>
      </p:sp>
    </p:spTree>
    <p:extLst>
      <p:ext uri="{BB962C8B-B14F-4D97-AF65-F5344CB8AC3E}">
        <p14:creationId xmlns:p14="http://schemas.microsoft.com/office/powerpoint/2010/main" val="845406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14868626-191B-40CC-B429-DF721C065349}"/>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0B7413CF-3936-479D-B498-48A0467E1C44}"/>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How tool selection works</a:t>
            </a:r>
          </a:p>
        </p:txBody>
      </p:sp>
      <p:sp>
        <p:nvSpPr>
          <p:cNvPr id="3" name="Rounded Rectangle 2">
            <a:extLst>
              <a:ext uri="{FF2B5EF4-FFF2-40B4-BE49-F238E27FC236}">
                <a16:creationId xmlns:a16="http://schemas.microsoft.com/office/drawing/2014/main" id="{41DB085C-5668-487F-8832-CBB0A92B66E1}"/>
              </a:ext>
            </a:extLst>
          </p:cNvPr>
          <p:cNvSpPr>
            <a:spLocks noGrp="1"/>
          </p:cNvSpPr>
          <p:nvPr/>
        </p:nvSpPr>
        <p:spPr>
          <a:xfrm>
            <a:off x="685800" y="3238500"/>
            <a:ext cx="1428750" cy="762000"/>
          </a:xfrm>
          <a:prstGeom prst="roundRect">
            <a:avLst>
              <a:gd name="adj" fmla="val 15000"/>
            </a:avLst>
          </a:prstGeom>
          <a:solidFill>
            <a:srgbClr val="E7EEFC"/>
          </a:solidFill>
          <a:ln w="9525">
            <a:solidFill>
              <a:srgbClr val="B8C9E5"/>
            </a:solidFill>
            <a:prstDash val="solid"/>
          </a:ln>
        </p:spPr>
        <p:txBody>
          <a:bodyPr/>
          <a:lstStyle/>
          <a:p>
            <a:endParaRPr lang="en-US"/>
          </a:p>
        </p:txBody>
      </p:sp>
      <p:sp>
        <p:nvSpPr>
          <p:cNvPr id="4" name="Rectangle 3">
            <a:extLst>
              <a:ext uri="{FF2B5EF4-FFF2-40B4-BE49-F238E27FC236}">
                <a16:creationId xmlns:a16="http://schemas.microsoft.com/office/drawing/2014/main" id="{3C1F2FCE-A389-4903-A06B-DA3EADA40E4A}"/>
              </a:ext>
            </a:extLst>
          </p:cNvPr>
          <p:cNvSpPr>
            <a:spLocks noGrp="1"/>
          </p:cNvSpPr>
          <p:nvPr/>
        </p:nvSpPr>
        <p:spPr>
          <a:xfrm>
            <a:off x="762000" y="3295650"/>
            <a:ext cx="1276350" cy="64770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Tool</a:t>
            </a:r>
          </a:p>
          <a:p>
            <a:pPr algn="ctr">
              <a:defRPr sz="1200" b="1">
                <a:solidFill>
                  <a:srgbClr val="203D67"/>
                </a:solidFill>
              </a:defRPr>
            </a:pPr>
            <a:r>
              <a:rPr sz="1200" b="1">
                <a:solidFill>
                  <a:srgbClr val="203D67"/>
                </a:solidFill>
              </a:rPr>
              <a:t>descriptions</a:t>
            </a:r>
          </a:p>
        </p:txBody>
      </p:sp>
      <p:sp>
        <p:nvSpPr>
          <p:cNvPr id="5" name="Rounded Rectangle 4">
            <a:extLst>
              <a:ext uri="{FF2B5EF4-FFF2-40B4-BE49-F238E27FC236}">
                <a16:creationId xmlns:a16="http://schemas.microsoft.com/office/drawing/2014/main" id="{975B2531-6C58-41A7-9C0B-7935C0977F87}"/>
              </a:ext>
            </a:extLst>
          </p:cNvPr>
          <p:cNvSpPr>
            <a:spLocks noGrp="1"/>
          </p:cNvSpPr>
          <p:nvPr/>
        </p:nvSpPr>
        <p:spPr>
          <a:xfrm>
            <a:off x="2686050" y="3238500"/>
            <a:ext cx="1428750" cy="762000"/>
          </a:xfrm>
          <a:prstGeom prst="roundRect">
            <a:avLst>
              <a:gd name="adj" fmla="val 15000"/>
            </a:avLst>
          </a:prstGeom>
          <a:solidFill>
            <a:srgbClr val="E1F4F3"/>
          </a:solidFill>
          <a:ln w="9525">
            <a:solidFill>
              <a:srgbClr val="B8C9E5"/>
            </a:solidFill>
            <a:prstDash val="solid"/>
          </a:ln>
        </p:spPr>
        <p:txBody>
          <a:bodyPr/>
          <a:lstStyle/>
          <a:p>
            <a:endParaRPr lang="en-US"/>
          </a:p>
        </p:txBody>
      </p:sp>
      <p:sp>
        <p:nvSpPr>
          <p:cNvPr id="6" name="Rectangle 5">
            <a:extLst>
              <a:ext uri="{FF2B5EF4-FFF2-40B4-BE49-F238E27FC236}">
                <a16:creationId xmlns:a16="http://schemas.microsoft.com/office/drawing/2014/main" id="{7425A0B6-C243-495B-83C6-F1214C321A33}"/>
              </a:ext>
            </a:extLst>
          </p:cNvPr>
          <p:cNvSpPr>
            <a:spLocks noGrp="1"/>
          </p:cNvSpPr>
          <p:nvPr/>
        </p:nvSpPr>
        <p:spPr>
          <a:xfrm>
            <a:off x="2762250" y="3295650"/>
            <a:ext cx="1276350" cy="64770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Model</a:t>
            </a:r>
          </a:p>
          <a:p>
            <a:pPr algn="ctr">
              <a:defRPr sz="1200" b="1">
                <a:solidFill>
                  <a:srgbClr val="203D67"/>
                </a:solidFill>
              </a:defRPr>
            </a:pPr>
            <a:r>
              <a:rPr sz="1200" b="1">
                <a:solidFill>
                  <a:srgbClr val="203D67"/>
                </a:solidFill>
              </a:rPr>
              <a:t>decision</a:t>
            </a:r>
          </a:p>
        </p:txBody>
      </p:sp>
      <p:sp>
        <p:nvSpPr>
          <p:cNvPr id="7" name="Rounded Rectangle 6">
            <a:extLst>
              <a:ext uri="{FF2B5EF4-FFF2-40B4-BE49-F238E27FC236}">
                <a16:creationId xmlns:a16="http://schemas.microsoft.com/office/drawing/2014/main" id="{39BA7F1E-12AB-48DE-B3B0-CD2544F41FD9}"/>
              </a:ext>
            </a:extLst>
          </p:cNvPr>
          <p:cNvSpPr>
            <a:spLocks noGrp="1"/>
          </p:cNvSpPr>
          <p:nvPr/>
        </p:nvSpPr>
        <p:spPr>
          <a:xfrm>
            <a:off x="4686300" y="3238500"/>
            <a:ext cx="1428750" cy="762000"/>
          </a:xfrm>
          <a:prstGeom prst="roundRect">
            <a:avLst>
              <a:gd name="adj" fmla="val 15000"/>
            </a:avLst>
          </a:prstGeom>
          <a:solidFill>
            <a:srgbClr val="FFF2C2"/>
          </a:solidFill>
          <a:ln w="9525">
            <a:solidFill>
              <a:srgbClr val="B8C9E5"/>
            </a:solidFill>
            <a:prstDash val="solid"/>
          </a:ln>
        </p:spPr>
        <p:txBody>
          <a:bodyPr/>
          <a:lstStyle/>
          <a:p>
            <a:endParaRPr lang="en-US"/>
          </a:p>
        </p:txBody>
      </p:sp>
      <p:sp>
        <p:nvSpPr>
          <p:cNvPr id="8" name="Rectangle 7">
            <a:extLst>
              <a:ext uri="{FF2B5EF4-FFF2-40B4-BE49-F238E27FC236}">
                <a16:creationId xmlns:a16="http://schemas.microsoft.com/office/drawing/2014/main" id="{CBD34703-2BED-45E6-A87B-3B391A69DBDD}"/>
              </a:ext>
            </a:extLst>
          </p:cNvPr>
          <p:cNvSpPr>
            <a:spLocks noGrp="1"/>
          </p:cNvSpPr>
          <p:nvPr/>
        </p:nvSpPr>
        <p:spPr>
          <a:xfrm>
            <a:off x="4762500" y="3295650"/>
            <a:ext cx="1276350" cy="64770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Structured</a:t>
            </a:r>
          </a:p>
          <a:p>
            <a:pPr algn="ctr">
              <a:defRPr sz="1200" b="1">
                <a:solidFill>
                  <a:srgbClr val="203D67"/>
                </a:solidFill>
              </a:defRPr>
            </a:pPr>
            <a:r>
              <a:rPr sz="1200" b="1">
                <a:solidFill>
                  <a:srgbClr val="203D67"/>
                </a:solidFill>
              </a:rPr>
              <a:t>arguments</a:t>
            </a:r>
          </a:p>
        </p:txBody>
      </p:sp>
      <p:sp>
        <p:nvSpPr>
          <p:cNvPr id="9" name="Rounded Rectangle 8">
            <a:extLst>
              <a:ext uri="{FF2B5EF4-FFF2-40B4-BE49-F238E27FC236}">
                <a16:creationId xmlns:a16="http://schemas.microsoft.com/office/drawing/2014/main" id="{23DD8DAC-2991-4D5C-92A0-2F63EB813896}"/>
              </a:ext>
            </a:extLst>
          </p:cNvPr>
          <p:cNvSpPr>
            <a:spLocks noGrp="1"/>
          </p:cNvSpPr>
          <p:nvPr/>
        </p:nvSpPr>
        <p:spPr>
          <a:xfrm>
            <a:off x="6686550" y="3238500"/>
            <a:ext cx="1428750" cy="762000"/>
          </a:xfrm>
          <a:prstGeom prst="roundRect">
            <a:avLst>
              <a:gd name="adj" fmla="val 15000"/>
            </a:avLst>
          </a:prstGeom>
          <a:solidFill>
            <a:srgbClr val="FDE8E1"/>
          </a:solidFill>
          <a:ln w="9525">
            <a:solidFill>
              <a:srgbClr val="B8C9E5"/>
            </a:solidFill>
            <a:prstDash val="solid"/>
          </a:ln>
        </p:spPr>
        <p:txBody>
          <a:bodyPr/>
          <a:lstStyle/>
          <a:p>
            <a:endParaRPr lang="en-US"/>
          </a:p>
        </p:txBody>
      </p:sp>
      <p:sp>
        <p:nvSpPr>
          <p:cNvPr id="10" name="Rectangle 9">
            <a:extLst>
              <a:ext uri="{FF2B5EF4-FFF2-40B4-BE49-F238E27FC236}">
                <a16:creationId xmlns:a16="http://schemas.microsoft.com/office/drawing/2014/main" id="{71676E89-665F-4AFD-A070-9DE12152C25E}"/>
              </a:ext>
            </a:extLst>
          </p:cNvPr>
          <p:cNvSpPr>
            <a:spLocks noGrp="1"/>
          </p:cNvSpPr>
          <p:nvPr/>
        </p:nvSpPr>
        <p:spPr>
          <a:xfrm>
            <a:off x="6762750" y="3295650"/>
            <a:ext cx="1276350" cy="64770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Runtime</a:t>
            </a:r>
          </a:p>
          <a:p>
            <a:pPr algn="ctr">
              <a:defRPr sz="1200" b="1">
                <a:solidFill>
                  <a:srgbClr val="203D67"/>
                </a:solidFill>
              </a:defRPr>
            </a:pPr>
            <a:r>
              <a:rPr sz="1200" b="1">
                <a:solidFill>
                  <a:srgbClr val="203D67"/>
                </a:solidFill>
              </a:rPr>
              <a:t>validation</a:t>
            </a:r>
          </a:p>
        </p:txBody>
      </p:sp>
      <p:sp>
        <p:nvSpPr>
          <p:cNvPr id="11" name="Rounded Rectangle 10">
            <a:extLst>
              <a:ext uri="{FF2B5EF4-FFF2-40B4-BE49-F238E27FC236}">
                <a16:creationId xmlns:a16="http://schemas.microsoft.com/office/drawing/2014/main" id="{A4CB1CB6-63B4-4CC8-8A90-AC63BD4B5D06}"/>
              </a:ext>
            </a:extLst>
          </p:cNvPr>
          <p:cNvSpPr>
            <a:spLocks noGrp="1"/>
          </p:cNvSpPr>
          <p:nvPr/>
        </p:nvSpPr>
        <p:spPr>
          <a:xfrm>
            <a:off x="8686800" y="3238500"/>
            <a:ext cx="1428750" cy="762000"/>
          </a:xfrm>
          <a:prstGeom prst="roundRect">
            <a:avLst>
              <a:gd name="adj" fmla="val 15000"/>
            </a:avLst>
          </a:prstGeom>
          <a:solidFill>
            <a:srgbClr val="E7EEFC"/>
          </a:solidFill>
          <a:ln w="9525">
            <a:solidFill>
              <a:srgbClr val="B8C9E5"/>
            </a:solidFill>
            <a:prstDash val="solid"/>
          </a:ln>
        </p:spPr>
        <p:txBody>
          <a:bodyPr/>
          <a:lstStyle/>
          <a:p>
            <a:endParaRPr lang="en-US"/>
          </a:p>
        </p:txBody>
      </p:sp>
      <p:sp>
        <p:nvSpPr>
          <p:cNvPr id="12" name="Rectangle 11">
            <a:extLst>
              <a:ext uri="{FF2B5EF4-FFF2-40B4-BE49-F238E27FC236}">
                <a16:creationId xmlns:a16="http://schemas.microsoft.com/office/drawing/2014/main" id="{296948A6-A26D-42BF-99A2-35FD74D17034}"/>
              </a:ext>
            </a:extLst>
          </p:cNvPr>
          <p:cNvSpPr>
            <a:spLocks noGrp="1"/>
          </p:cNvSpPr>
          <p:nvPr/>
        </p:nvSpPr>
        <p:spPr>
          <a:xfrm>
            <a:off x="8763000" y="3295650"/>
            <a:ext cx="1276350" cy="64770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Tool</a:t>
            </a:r>
          </a:p>
          <a:p>
            <a:pPr algn="ctr">
              <a:defRPr sz="1200" b="1">
                <a:solidFill>
                  <a:srgbClr val="203D67"/>
                </a:solidFill>
              </a:defRPr>
            </a:pPr>
            <a:r>
              <a:rPr sz="1200" b="1">
                <a:solidFill>
                  <a:srgbClr val="203D67"/>
                </a:solidFill>
              </a:rPr>
              <a:t>result</a:t>
            </a:r>
          </a:p>
        </p:txBody>
      </p:sp>
      <p:cxnSp>
        <p:nvCxnSpPr>
          <p:cNvPr id="13" name="Straight Arrow Connector 12">
            <a:extLst>
              <a:ext uri="{FF2B5EF4-FFF2-40B4-BE49-F238E27FC236}">
                <a16:creationId xmlns:a16="http://schemas.microsoft.com/office/drawing/2014/main" id="{74F5E1FA-B71C-4862-86B6-1DF0BAE32B2C}"/>
              </a:ext>
            </a:extLst>
          </p:cNvPr>
          <p:cNvCxnSpPr>
            <a:stCxn id="3" idx="3"/>
            <a:endCxn id="5" idx="1"/>
          </p:cNvCxnSpPr>
          <p:nvPr/>
        </p:nvCxnSpPr>
        <p:spPr>
          <a:xfrm>
            <a:off x="2114550" y="3619500"/>
            <a:ext cx="571500" cy="0"/>
          </a:xfrm>
          <a:prstGeom prst="straightConnector1">
            <a:avLst/>
          </a:prstGeom>
          <a:ln w="21431">
            <a:solidFill>
              <a:srgbClr val="175CE5"/>
            </a:solidFill>
            <a:prstDash val="solid"/>
            <a:tailEnd type="arrow" w="med" len="med"/>
          </a:ln>
        </p:spPr>
      </p:cxnSp>
      <p:cxnSp>
        <p:nvCxnSpPr>
          <p:cNvPr id="14" name="Straight Arrow Connector 13">
            <a:extLst>
              <a:ext uri="{FF2B5EF4-FFF2-40B4-BE49-F238E27FC236}">
                <a16:creationId xmlns:a16="http://schemas.microsoft.com/office/drawing/2014/main" id="{74F28579-29A1-443A-96CB-3060555CD54B}"/>
              </a:ext>
            </a:extLst>
          </p:cNvPr>
          <p:cNvCxnSpPr>
            <a:stCxn id="5" idx="3"/>
            <a:endCxn id="7" idx="1"/>
          </p:cNvCxnSpPr>
          <p:nvPr/>
        </p:nvCxnSpPr>
        <p:spPr>
          <a:xfrm>
            <a:off x="4114800" y="3619500"/>
            <a:ext cx="571500" cy="0"/>
          </a:xfrm>
          <a:prstGeom prst="straightConnector1">
            <a:avLst/>
          </a:prstGeom>
          <a:ln w="21431">
            <a:solidFill>
              <a:srgbClr val="175CE5"/>
            </a:solidFill>
            <a:prstDash val="solid"/>
            <a:tailEnd type="arrow" w="med" len="med"/>
          </a:ln>
        </p:spPr>
      </p:cxnSp>
      <p:cxnSp>
        <p:nvCxnSpPr>
          <p:cNvPr id="15" name="Straight Arrow Connector 14">
            <a:extLst>
              <a:ext uri="{FF2B5EF4-FFF2-40B4-BE49-F238E27FC236}">
                <a16:creationId xmlns:a16="http://schemas.microsoft.com/office/drawing/2014/main" id="{5783CEE5-F477-485B-A8B1-A0DB8EBBB40B}"/>
              </a:ext>
            </a:extLst>
          </p:cNvPr>
          <p:cNvCxnSpPr>
            <a:stCxn id="7" idx="3"/>
            <a:endCxn id="9" idx="1"/>
          </p:cNvCxnSpPr>
          <p:nvPr/>
        </p:nvCxnSpPr>
        <p:spPr>
          <a:xfrm>
            <a:off x="6115050" y="3619500"/>
            <a:ext cx="571500" cy="0"/>
          </a:xfrm>
          <a:prstGeom prst="straightConnector1">
            <a:avLst/>
          </a:prstGeom>
          <a:ln w="21431">
            <a:solidFill>
              <a:srgbClr val="175CE5"/>
            </a:solidFill>
            <a:prstDash val="solid"/>
            <a:tailEnd type="arrow" w="med" len="med"/>
          </a:ln>
        </p:spPr>
      </p:cxnSp>
      <p:cxnSp>
        <p:nvCxnSpPr>
          <p:cNvPr id="16" name="Straight Arrow Connector 15">
            <a:extLst>
              <a:ext uri="{FF2B5EF4-FFF2-40B4-BE49-F238E27FC236}">
                <a16:creationId xmlns:a16="http://schemas.microsoft.com/office/drawing/2014/main" id="{0641F800-DDC2-4EC7-9BDB-89849628CF37}"/>
              </a:ext>
            </a:extLst>
          </p:cNvPr>
          <p:cNvCxnSpPr>
            <a:stCxn id="9" idx="3"/>
            <a:endCxn id="11" idx="1"/>
          </p:cNvCxnSpPr>
          <p:nvPr/>
        </p:nvCxnSpPr>
        <p:spPr>
          <a:xfrm>
            <a:off x="8115300" y="3619500"/>
            <a:ext cx="571500" cy="0"/>
          </a:xfrm>
          <a:prstGeom prst="straightConnector1">
            <a:avLst/>
          </a:prstGeom>
          <a:ln w="21431">
            <a:solidFill>
              <a:srgbClr val="175CE5"/>
            </a:solidFill>
            <a:prstDash val="solid"/>
            <a:tailEnd type="arrow" w="med" len="med"/>
          </a:ln>
        </p:spPr>
      </p:cxnSp>
      <p:sp>
        <p:nvSpPr>
          <p:cNvPr id="17" name="Rectangle 16">
            <a:extLst>
              <a:ext uri="{FF2B5EF4-FFF2-40B4-BE49-F238E27FC236}">
                <a16:creationId xmlns:a16="http://schemas.microsoft.com/office/drawing/2014/main" id="{C863DB45-1064-4CDA-AEDC-E217DE67F772}"/>
              </a:ext>
            </a:extLst>
          </p:cNvPr>
          <p:cNvSpPr>
            <a:spLocks noGrp="1"/>
          </p:cNvSpPr>
          <p:nvPr/>
        </p:nvSpPr>
        <p:spPr>
          <a:xfrm>
            <a:off x="2857500" y="4705350"/>
            <a:ext cx="5143500" cy="381000"/>
          </a:xfrm>
          <a:prstGeom prst="rect">
            <a:avLst/>
          </a:prstGeom>
          <a:noFill/>
          <a:ln w="0">
            <a:noFill/>
            <a:prstDash val="solid"/>
          </a:ln>
        </p:spPr>
        <p:txBody>
          <a:bodyPr anchor="ctr"/>
          <a:lstStyle>
            <a:defPPr algn="ctr">
              <a:defRPr sz="1575" b="1">
                <a:solidFill>
                  <a:srgbClr val="008A91"/>
                </a:solidFill>
              </a:defRPr>
            </a:defPPr>
          </a:lstStyle>
          <a:p>
            <a:pPr algn="ctr">
              <a:defRPr sz="1575" b="1">
                <a:solidFill>
                  <a:srgbClr val="008A91"/>
                </a:solidFill>
              </a:defRPr>
            </a:pPr>
            <a:r>
              <a:rPr sz="1575" b="1">
                <a:solidFill>
                  <a:srgbClr val="008A91"/>
                </a:solidFill>
              </a:rPr>
              <a:t>The model requests an action. The runtime performs it.</a:t>
            </a:r>
          </a:p>
        </p:txBody>
      </p:sp>
    </p:spTree>
    <p:extLst>
      <p:ext uri="{BB962C8B-B14F-4D97-AF65-F5344CB8AC3E}">
        <p14:creationId xmlns:p14="http://schemas.microsoft.com/office/powerpoint/2010/main" val="1516941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82474F99-C078-448E-A6B3-FEA1EECA4DE6}"/>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FD6F54CE-252C-44EB-B685-4C12E594BECE}"/>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Code agents and tool-calling agents</a:t>
            </a:r>
          </a:p>
        </p:txBody>
      </p:sp>
      <p:sp>
        <p:nvSpPr>
          <p:cNvPr id="3" name="Rectangle 2">
            <a:extLst>
              <a:ext uri="{FF2B5EF4-FFF2-40B4-BE49-F238E27FC236}">
                <a16:creationId xmlns:a16="http://schemas.microsoft.com/office/drawing/2014/main" id="{E12F465B-03E0-4479-BB88-FE4A9E466F2E}"/>
              </a:ext>
            </a:extLst>
          </p:cNvPr>
          <p:cNvSpPr>
            <a:spLocks noGrp="1"/>
          </p:cNvSpPr>
          <p:nvPr/>
        </p:nvSpPr>
        <p:spPr>
          <a:xfrm>
            <a:off x="1104900" y="2571750"/>
            <a:ext cx="3429000" cy="342900"/>
          </a:xfrm>
          <a:prstGeom prst="rect">
            <a:avLst/>
          </a:prstGeom>
          <a:noFill/>
          <a:ln w="0">
            <a:noFill/>
            <a:prstDash val="solid"/>
          </a:ln>
        </p:spPr>
        <p:txBody>
          <a:bodyPr anchor="ctr"/>
          <a:lstStyle>
            <a:defPPr algn="l">
              <a:defRPr sz="1575" b="1">
                <a:solidFill>
                  <a:srgbClr val="175CE5"/>
                </a:solidFill>
              </a:defRPr>
            </a:defPPr>
          </a:lstStyle>
          <a:p>
            <a:pPr algn="l">
              <a:defRPr sz="1575" b="1">
                <a:solidFill>
                  <a:srgbClr val="175CE5"/>
                </a:solidFill>
              </a:defRPr>
            </a:pPr>
            <a:r>
              <a:rPr sz="1575" b="1">
                <a:solidFill>
                  <a:srgbClr val="175CE5"/>
                </a:solidFill>
              </a:rPr>
              <a:t>CODE AGENT</a:t>
            </a:r>
          </a:p>
        </p:txBody>
      </p:sp>
      <p:sp>
        <p:nvSpPr>
          <p:cNvPr id="4" name="Rectangle 3">
            <a:extLst>
              <a:ext uri="{FF2B5EF4-FFF2-40B4-BE49-F238E27FC236}">
                <a16:creationId xmlns:a16="http://schemas.microsoft.com/office/drawing/2014/main" id="{0E73F747-915C-454E-8C00-3661A5B3490A}"/>
              </a:ext>
            </a:extLst>
          </p:cNvPr>
          <p:cNvSpPr>
            <a:spLocks noGrp="1"/>
          </p:cNvSpPr>
          <p:nvPr/>
        </p:nvSpPr>
        <p:spPr>
          <a:xfrm>
            <a:off x="6153150" y="2571750"/>
            <a:ext cx="3714750" cy="342900"/>
          </a:xfrm>
          <a:prstGeom prst="rect">
            <a:avLst/>
          </a:prstGeom>
          <a:noFill/>
          <a:ln w="0">
            <a:noFill/>
            <a:prstDash val="solid"/>
          </a:ln>
        </p:spPr>
        <p:txBody>
          <a:bodyPr anchor="ctr"/>
          <a:lstStyle>
            <a:defPPr algn="l">
              <a:defRPr sz="1575" b="1">
                <a:solidFill>
                  <a:srgbClr val="008A91"/>
                </a:solidFill>
              </a:defRPr>
            </a:defPPr>
          </a:lstStyle>
          <a:p>
            <a:pPr algn="l">
              <a:defRPr sz="1575" b="1">
                <a:solidFill>
                  <a:srgbClr val="008A91"/>
                </a:solidFill>
              </a:defRPr>
            </a:pPr>
            <a:r>
              <a:rPr sz="1575" b="1">
                <a:solidFill>
                  <a:srgbClr val="008A91"/>
                </a:solidFill>
              </a:rPr>
              <a:t>TOOL-CALLING AGENT</a:t>
            </a:r>
          </a:p>
        </p:txBody>
      </p:sp>
      <p:sp>
        <p:nvSpPr>
          <p:cNvPr id="5" name="Rounded Rectangle 4">
            <a:extLst>
              <a:ext uri="{FF2B5EF4-FFF2-40B4-BE49-F238E27FC236}">
                <a16:creationId xmlns:a16="http://schemas.microsoft.com/office/drawing/2014/main" id="{0863B100-2CB7-40CE-B9C6-C8A7F8D33B80}"/>
              </a:ext>
            </a:extLst>
          </p:cNvPr>
          <p:cNvSpPr>
            <a:spLocks noGrp="1"/>
          </p:cNvSpPr>
          <p:nvPr/>
        </p:nvSpPr>
        <p:spPr>
          <a:xfrm>
            <a:off x="1066800" y="3219450"/>
            <a:ext cx="104775" cy="104775"/>
          </a:xfrm>
          <a:prstGeom prst="roundRect">
            <a:avLst>
              <a:gd name="adj" fmla="val 18182"/>
            </a:avLst>
          </a:prstGeom>
          <a:solidFill>
            <a:srgbClr val="175CE5"/>
          </a:solidFill>
          <a:ln w="0">
            <a:noFill/>
            <a:prstDash val="solid"/>
          </a:ln>
        </p:spPr>
        <p:txBody>
          <a:bodyPr/>
          <a:lstStyle/>
          <a:p>
            <a:endParaRPr lang="en-US"/>
          </a:p>
        </p:txBody>
      </p:sp>
      <p:sp>
        <p:nvSpPr>
          <p:cNvPr id="6" name="Rectangle 5">
            <a:extLst>
              <a:ext uri="{FF2B5EF4-FFF2-40B4-BE49-F238E27FC236}">
                <a16:creationId xmlns:a16="http://schemas.microsoft.com/office/drawing/2014/main" id="{3957A15B-6BC5-4066-A37F-07378A5BEC4E}"/>
              </a:ext>
            </a:extLst>
          </p:cNvPr>
          <p:cNvSpPr>
            <a:spLocks noGrp="1"/>
          </p:cNvSpPr>
          <p:nvPr/>
        </p:nvSpPr>
        <p:spPr>
          <a:xfrm>
            <a:off x="1352550" y="3105150"/>
            <a:ext cx="3714750" cy="485775"/>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Emits Python actions</a:t>
            </a:r>
          </a:p>
        </p:txBody>
      </p:sp>
      <p:sp>
        <p:nvSpPr>
          <p:cNvPr id="7" name="Rounded Rectangle 6">
            <a:extLst>
              <a:ext uri="{FF2B5EF4-FFF2-40B4-BE49-F238E27FC236}">
                <a16:creationId xmlns:a16="http://schemas.microsoft.com/office/drawing/2014/main" id="{777E7D25-E9FA-4ACC-A0B3-6654D2231212}"/>
              </a:ext>
            </a:extLst>
          </p:cNvPr>
          <p:cNvSpPr>
            <a:spLocks noGrp="1"/>
          </p:cNvSpPr>
          <p:nvPr/>
        </p:nvSpPr>
        <p:spPr>
          <a:xfrm>
            <a:off x="1066800" y="3762375"/>
            <a:ext cx="104775" cy="104775"/>
          </a:xfrm>
          <a:prstGeom prst="roundRect">
            <a:avLst>
              <a:gd name="adj" fmla="val 18182"/>
            </a:avLst>
          </a:prstGeom>
          <a:solidFill>
            <a:srgbClr val="175CE5"/>
          </a:solidFill>
          <a:ln w="0">
            <a:noFill/>
            <a:prstDash val="solid"/>
          </a:ln>
        </p:spPr>
        <p:txBody>
          <a:bodyPr/>
          <a:lstStyle/>
          <a:p>
            <a:endParaRPr lang="en-US"/>
          </a:p>
        </p:txBody>
      </p:sp>
      <p:sp>
        <p:nvSpPr>
          <p:cNvPr id="8" name="Rectangle 7">
            <a:extLst>
              <a:ext uri="{FF2B5EF4-FFF2-40B4-BE49-F238E27FC236}">
                <a16:creationId xmlns:a16="http://schemas.microsoft.com/office/drawing/2014/main" id="{E89E49BB-2CF1-4305-A6A9-FC072D2C2841}"/>
              </a:ext>
            </a:extLst>
          </p:cNvPr>
          <p:cNvSpPr>
            <a:spLocks noGrp="1"/>
          </p:cNvSpPr>
          <p:nvPr/>
        </p:nvSpPr>
        <p:spPr>
          <a:xfrm>
            <a:off x="1352550" y="3648075"/>
            <a:ext cx="3714750" cy="485775"/>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Expresses calculations naturally</a:t>
            </a:r>
          </a:p>
        </p:txBody>
      </p:sp>
      <p:sp>
        <p:nvSpPr>
          <p:cNvPr id="9" name="Rounded Rectangle 8">
            <a:extLst>
              <a:ext uri="{FF2B5EF4-FFF2-40B4-BE49-F238E27FC236}">
                <a16:creationId xmlns:a16="http://schemas.microsoft.com/office/drawing/2014/main" id="{DFC8DE65-C964-4332-B63F-E4F031FA0AA9}"/>
              </a:ext>
            </a:extLst>
          </p:cNvPr>
          <p:cNvSpPr>
            <a:spLocks noGrp="1"/>
          </p:cNvSpPr>
          <p:nvPr/>
        </p:nvSpPr>
        <p:spPr>
          <a:xfrm>
            <a:off x="1066800" y="4305300"/>
            <a:ext cx="104775" cy="104775"/>
          </a:xfrm>
          <a:prstGeom prst="roundRect">
            <a:avLst>
              <a:gd name="adj" fmla="val 18182"/>
            </a:avLst>
          </a:prstGeom>
          <a:solidFill>
            <a:srgbClr val="175CE5"/>
          </a:solidFill>
          <a:ln w="0">
            <a:noFill/>
            <a:prstDash val="solid"/>
          </a:ln>
        </p:spPr>
        <p:txBody>
          <a:bodyPr/>
          <a:lstStyle/>
          <a:p>
            <a:endParaRPr lang="en-US"/>
          </a:p>
        </p:txBody>
      </p:sp>
      <p:sp>
        <p:nvSpPr>
          <p:cNvPr id="10" name="Rectangle 9">
            <a:extLst>
              <a:ext uri="{FF2B5EF4-FFF2-40B4-BE49-F238E27FC236}">
                <a16:creationId xmlns:a16="http://schemas.microsoft.com/office/drawing/2014/main" id="{670C751C-E8A1-4068-BA0C-E63AE1A926E9}"/>
              </a:ext>
            </a:extLst>
          </p:cNvPr>
          <p:cNvSpPr>
            <a:spLocks noGrp="1"/>
          </p:cNvSpPr>
          <p:nvPr/>
        </p:nvSpPr>
        <p:spPr>
          <a:xfrm>
            <a:off x="1352550" y="4191000"/>
            <a:ext cx="3714750" cy="485775"/>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Can reuse variables across steps</a:t>
            </a:r>
          </a:p>
        </p:txBody>
      </p:sp>
      <p:sp>
        <p:nvSpPr>
          <p:cNvPr id="11" name="Rounded Rectangle 10">
            <a:extLst>
              <a:ext uri="{FF2B5EF4-FFF2-40B4-BE49-F238E27FC236}">
                <a16:creationId xmlns:a16="http://schemas.microsoft.com/office/drawing/2014/main" id="{68F2CCE7-2D6A-419D-BE7C-AF494D2355C1}"/>
              </a:ext>
            </a:extLst>
          </p:cNvPr>
          <p:cNvSpPr>
            <a:spLocks noGrp="1"/>
          </p:cNvSpPr>
          <p:nvPr/>
        </p:nvSpPr>
        <p:spPr>
          <a:xfrm>
            <a:off x="1066800" y="4848225"/>
            <a:ext cx="104775" cy="104775"/>
          </a:xfrm>
          <a:prstGeom prst="roundRect">
            <a:avLst>
              <a:gd name="adj" fmla="val 18182"/>
            </a:avLst>
          </a:prstGeom>
          <a:solidFill>
            <a:srgbClr val="175CE5"/>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2D273BF5-BE8B-4F81-8A7C-87863277D1E2}"/>
              </a:ext>
            </a:extLst>
          </p:cNvPr>
          <p:cNvSpPr>
            <a:spLocks noGrp="1"/>
          </p:cNvSpPr>
          <p:nvPr/>
        </p:nvSpPr>
        <p:spPr>
          <a:xfrm>
            <a:off x="1352550" y="4733925"/>
            <a:ext cx="3714750" cy="485775"/>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Requires tightly controlled execution</a:t>
            </a:r>
          </a:p>
        </p:txBody>
      </p:sp>
      <p:sp>
        <p:nvSpPr>
          <p:cNvPr id="13" name="Rounded Rectangle 12">
            <a:extLst>
              <a:ext uri="{FF2B5EF4-FFF2-40B4-BE49-F238E27FC236}">
                <a16:creationId xmlns:a16="http://schemas.microsoft.com/office/drawing/2014/main" id="{A3EB18B0-DB95-422A-A6B7-F57CDF51B809}"/>
              </a:ext>
            </a:extLst>
          </p:cNvPr>
          <p:cNvSpPr>
            <a:spLocks noGrp="1"/>
          </p:cNvSpPr>
          <p:nvPr/>
        </p:nvSpPr>
        <p:spPr>
          <a:xfrm>
            <a:off x="6115050" y="3219450"/>
            <a:ext cx="104775" cy="104775"/>
          </a:xfrm>
          <a:prstGeom prst="roundRect">
            <a:avLst>
              <a:gd name="adj" fmla="val 18182"/>
            </a:avLst>
          </a:prstGeom>
          <a:solidFill>
            <a:srgbClr val="008A91"/>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DB3D26C1-A87D-4D18-9D7E-E734271C8253}"/>
              </a:ext>
            </a:extLst>
          </p:cNvPr>
          <p:cNvSpPr>
            <a:spLocks noGrp="1"/>
          </p:cNvSpPr>
          <p:nvPr/>
        </p:nvSpPr>
        <p:spPr>
          <a:xfrm>
            <a:off x="6400800" y="3105150"/>
            <a:ext cx="3810000" cy="485775"/>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Emits structured calls</a:t>
            </a:r>
          </a:p>
        </p:txBody>
      </p:sp>
      <p:sp>
        <p:nvSpPr>
          <p:cNvPr id="15" name="Rounded Rectangle 14">
            <a:extLst>
              <a:ext uri="{FF2B5EF4-FFF2-40B4-BE49-F238E27FC236}">
                <a16:creationId xmlns:a16="http://schemas.microsoft.com/office/drawing/2014/main" id="{8FB12C03-60A9-4DF7-B3C2-6EBC93DFBBF9}"/>
              </a:ext>
            </a:extLst>
          </p:cNvPr>
          <p:cNvSpPr>
            <a:spLocks noGrp="1"/>
          </p:cNvSpPr>
          <p:nvPr/>
        </p:nvSpPr>
        <p:spPr>
          <a:xfrm>
            <a:off x="6115050" y="3762375"/>
            <a:ext cx="104775" cy="104775"/>
          </a:xfrm>
          <a:prstGeom prst="roundRect">
            <a:avLst>
              <a:gd name="adj" fmla="val 18182"/>
            </a:avLst>
          </a:prstGeom>
          <a:solidFill>
            <a:srgbClr val="008A91"/>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508A1CA0-E02C-44FE-8F06-EB45A45E5394}"/>
              </a:ext>
            </a:extLst>
          </p:cNvPr>
          <p:cNvSpPr>
            <a:spLocks noGrp="1"/>
          </p:cNvSpPr>
          <p:nvPr/>
        </p:nvSpPr>
        <p:spPr>
          <a:xfrm>
            <a:off x="6400800" y="3648075"/>
            <a:ext cx="3810000" cy="485775"/>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Narrower action surface</a:t>
            </a:r>
          </a:p>
        </p:txBody>
      </p:sp>
      <p:sp>
        <p:nvSpPr>
          <p:cNvPr id="17" name="Rounded Rectangle 16">
            <a:extLst>
              <a:ext uri="{FF2B5EF4-FFF2-40B4-BE49-F238E27FC236}">
                <a16:creationId xmlns:a16="http://schemas.microsoft.com/office/drawing/2014/main" id="{13D14F6F-08A6-453B-AC9F-481270AF4D90}"/>
              </a:ext>
            </a:extLst>
          </p:cNvPr>
          <p:cNvSpPr>
            <a:spLocks noGrp="1"/>
          </p:cNvSpPr>
          <p:nvPr/>
        </p:nvSpPr>
        <p:spPr>
          <a:xfrm>
            <a:off x="6115050" y="4305300"/>
            <a:ext cx="104775" cy="104775"/>
          </a:xfrm>
          <a:prstGeom prst="roundRect">
            <a:avLst>
              <a:gd name="adj" fmla="val 18182"/>
            </a:avLst>
          </a:prstGeom>
          <a:solidFill>
            <a:srgbClr val="008A91"/>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1F874C01-AA23-4D29-887E-D7382B973177}"/>
              </a:ext>
            </a:extLst>
          </p:cNvPr>
          <p:cNvSpPr>
            <a:spLocks noGrp="1"/>
          </p:cNvSpPr>
          <p:nvPr/>
        </p:nvSpPr>
        <p:spPr>
          <a:xfrm>
            <a:off x="6400800" y="4191000"/>
            <a:ext cx="3810000" cy="485775"/>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Arguments are easy to validate</a:t>
            </a:r>
          </a:p>
        </p:txBody>
      </p:sp>
      <p:sp>
        <p:nvSpPr>
          <p:cNvPr id="19" name="Rounded Rectangle 18">
            <a:extLst>
              <a:ext uri="{FF2B5EF4-FFF2-40B4-BE49-F238E27FC236}">
                <a16:creationId xmlns:a16="http://schemas.microsoft.com/office/drawing/2014/main" id="{92959442-1A1F-4FB5-ABB7-69D6DD6EE48F}"/>
              </a:ext>
            </a:extLst>
          </p:cNvPr>
          <p:cNvSpPr>
            <a:spLocks noGrp="1"/>
          </p:cNvSpPr>
          <p:nvPr/>
        </p:nvSpPr>
        <p:spPr>
          <a:xfrm>
            <a:off x="6115050" y="4848225"/>
            <a:ext cx="104775" cy="104775"/>
          </a:xfrm>
          <a:prstGeom prst="roundRect">
            <a:avLst>
              <a:gd name="adj" fmla="val 18182"/>
            </a:avLst>
          </a:prstGeom>
          <a:solidFill>
            <a:srgbClr val="008A91"/>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BCFBC0D9-0720-4AFE-B23B-8FC6C764BBCC}"/>
              </a:ext>
            </a:extLst>
          </p:cNvPr>
          <p:cNvSpPr>
            <a:spLocks noGrp="1"/>
          </p:cNvSpPr>
          <p:nvPr/>
        </p:nvSpPr>
        <p:spPr>
          <a:xfrm>
            <a:off x="6400800" y="4733925"/>
            <a:ext cx="3810000" cy="485775"/>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Complex transformations need more calls</a:t>
            </a:r>
          </a:p>
        </p:txBody>
      </p:sp>
      <p:sp>
        <p:nvSpPr>
          <p:cNvPr id="21" name="Rectangle 20">
            <a:extLst>
              <a:ext uri="{FF2B5EF4-FFF2-40B4-BE49-F238E27FC236}">
                <a16:creationId xmlns:a16="http://schemas.microsoft.com/office/drawing/2014/main" id="{EA0C4CD5-FD74-40F4-8BFA-39F48556E181}"/>
              </a:ext>
            </a:extLst>
          </p:cNvPr>
          <p:cNvSpPr>
            <a:spLocks noGrp="1"/>
          </p:cNvSpPr>
          <p:nvPr/>
        </p:nvSpPr>
        <p:spPr>
          <a:xfrm>
            <a:off x="5467350" y="2857500"/>
            <a:ext cx="19050" cy="2571750"/>
          </a:xfrm>
          <a:prstGeom prst="rect">
            <a:avLst/>
          </a:prstGeom>
          <a:solidFill>
            <a:srgbClr val="BFD0EE"/>
          </a:solidFill>
          <a:ln w="0">
            <a:noFill/>
            <a:prstDash val="solid"/>
          </a:ln>
        </p:spPr>
        <p:txBody>
          <a:bodyPr/>
          <a:lstStyle/>
          <a:p>
            <a:endParaRPr lang="en-US"/>
          </a:p>
        </p:txBody>
      </p:sp>
    </p:spTree>
    <p:extLst>
      <p:ext uri="{BB962C8B-B14F-4D97-AF65-F5344CB8AC3E}">
        <p14:creationId xmlns:p14="http://schemas.microsoft.com/office/powerpoint/2010/main" val="1867064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8C59F19-2555-43D7-A84E-3CA26122465F}"/>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B0191027-CD26-4857-BD19-ECC4CF5657D6}"/>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Human approval in the action path</a:t>
            </a:r>
          </a:p>
        </p:txBody>
      </p:sp>
      <p:sp>
        <p:nvSpPr>
          <p:cNvPr id="3" name="Rounded Rectangle 2">
            <a:extLst>
              <a:ext uri="{FF2B5EF4-FFF2-40B4-BE49-F238E27FC236}">
                <a16:creationId xmlns:a16="http://schemas.microsoft.com/office/drawing/2014/main" id="{EFE831B2-E4FB-4ADD-B2E7-5B45D8A2B34D}"/>
              </a:ext>
            </a:extLst>
          </p:cNvPr>
          <p:cNvSpPr>
            <a:spLocks noGrp="1"/>
          </p:cNvSpPr>
          <p:nvPr/>
        </p:nvSpPr>
        <p:spPr>
          <a:xfrm>
            <a:off x="1047750" y="3257550"/>
            <a:ext cx="1524000" cy="800100"/>
          </a:xfrm>
          <a:prstGeom prst="roundRect">
            <a:avLst>
              <a:gd name="adj" fmla="val 14286"/>
            </a:avLst>
          </a:prstGeom>
          <a:solidFill>
            <a:srgbClr val="E7EEFC"/>
          </a:solidFill>
          <a:ln w="9525">
            <a:solidFill>
              <a:srgbClr val="B8C9E5"/>
            </a:solidFill>
            <a:prstDash val="solid"/>
          </a:ln>
        </p:spPr>
        <p:txBody>
          <a:bodyPr/>
          <a:lstStyle/>
          <a:p>
            <a:endParaRPr lang="en-US"/>
          </a:p>
        </p:txBody>
      </p:sp>
      <p:sp>
        <p:nvSpPr>
          <p:cNvPr id="4" name="Rectangle 3">
            <a:extLst>
              <a:ext uri="{FF2B5EF4-FFF2-40B4-BE49-F238E27FC236}">
                <a16:creationId xmlns:a16="http://schemas.microsoft.com/office/drawing/2014/main" id="{BAB2C68C-5408-4E73-9A01-840D475EFB80}"/>
              </a:ext>
            </a:extLst>
          </p:cNvPr>
          <p:cNvSpPr>
            <a:spLocks noGrp="1"/>
          </p:cNvSpPr>
          <p:nvPr/>
        </p:nvSpPr>
        <p:spPr>
          <a:xfrm>
            <a:off x="1123950" y="3314700"/>
            <a:ext cx="1371600" cy="6858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Proposed</a:t>
            </a:r>
          </a:p>
          <a:p>
            <a:pPr algn="ctr">
              <a:defRPr sz="1275" b="1">
                <a:solidFill>
                  <a:srgbClr val="203D67"/>
                </a:solidFill>
              </a:defRPr>
            </a:pPr>
            <a:r>
              <a:rPr sz="1275" b="1">
                <a:solidFill>
                  <a:srgbClr val="203D67"/>
                </a:solidFill>
              </a:rPr>
              <a:t>action</a:t>
            </a:r>
          </a:p>
        </p:txBody>
      </p:sp>
      <p:sp>
        <p:nvSpPr>
          <p:cNvPr id="5" name="Rounded Rectangle 4">
            <a:extLst>
              <a:ext uri="{FF2B5EF4-FFF2-40B4-BE49-F238E27FC236}">
                <a16:creationId xmlns:a16="http://schemas.microsoft.com/office/drawing/2014/main" id="{15C3BC00-D8D4-44D2-86DD-02113754AA88}"/>
              </a:ext>
            </a:extLst>
          </p:cNvPr>
          <p:cNvSpPr>
            <a:spLocks noGrp="1"/>
          </p:cNvSpPr>
          <p:nvPr/>
        </p:nvSpPr>
        <p:spPr>
          <a:xfrm>
            <a:off x="3409950" y="3257550"/>
            <a:ext cx="1524000" cy="800100"/>
          </a:xfrm>
          <a:prstGeom prst="roundRect">
            <a:avLst>
              <a:gd name="adj" fmla="val 14286"/>
            </a:avLst>
          </a:prstGeom>
          <a:solidFill>
            <a:srgbClr val="E1F4F3"/>
          </a:solidFill>
          <a:ln w="9525">
            <a:solidFill>
              <a:srgbClr val="B8C9E5"/>
            </a:solidFill>
            <a:prstDash val="solid"/>
          </a:ln>
        </p:spPr>
        <p:txBody>
          <a:bodyPr/>
          <a:lstStyle/>
          <a:p>
            <a:endParaRPr lang="en-US"/>
          </a:p>
        </p:txBody>
      </p:sp>
      <p:sp>
        <p:nvSpPr>
          <p:cNvPr id="6" name="Rectangle 5">
            <a:extLst>
              <a:ext uri="{FF2B5EF4-FFF2-40B4-BE49-F238E27FC236}">
                <a16:creationId xmlns:a16="http://schemas.microsoft.com/office/drawing/2014/main" id="{77F87097-5079-4D71-91ED-268CFEF3E033}"/>
              </a:ext>
            </a:extLst>
          </p:cNvPr>
          <p:cNvSpPr>
            <a:spLocks noGrp="1"/>
          </p:cNvSpPr>
          <p:nvPr/>
        </p:nvSpPr>
        <p:spPr>
          <a:xfrm>
            <a:off x="3486150" y="3314700"/>
            <a:ext cx="1371600" cy="6858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Policy</a:t>
            </a:r>
          </a:p>
          <a:p>
            <a:pPr algn="ctr">
              <a:defRPr sz="1275" b="1">
                <a:solidFill>
                  <a:srgbClr val="203D67"/>
                </a:solidFill>
              </a:defRPr>
            </a:pPr>
            <a:r>
              <a:rPr sz="1275" b="1">
                <a:solidFill>
                  <a:srgbClr val="203D67"/>
                </a:solidFill>
              </a:rPr>
              <a:t>check</a:t>
            </a:r>
          </a:p>
        </p:txBody>
      </p:sp>
      <p:sp>
        <p:nvSpPr>
          <p:cNvPr id="7" name="Rounded Rectangle 6">
            <a:extLst>
              <a:ext uri="{FF2B5EF4-FFF2-40B4-BE49-F238E27FC236}">
                <a16:creationId xmlns:a16="http://schemas.microsoft.com/office/drawing/2014/main" id="{1900E7B8-C60D-4ACD-9D51-F2C0133E45B8}"/>
              </a:ext>
            </a:extLst>
          </p:cNvPr>
          <p:cNvSpPr>
            <a:spLocks noGrp="1"/>
          </p:cNvSpPr>
          <p:nvPr/>
        </p:nvSpPr>
        <p:spPr>
          <a:xfrm>
            <a:off x="5772150" y="3257550"/>
            <a:ext cx="1524000" cy="800100"/>
          </a:xfrm>
          <a:prstGeom prst="roundRect">
            <a:avLst>
              <a:gd name="adj" fmla="val 14286"/>
            </a:avLst>
          </a:prstGeom>
          <a:solidFill>
            <a:srgbClr val="FFF2C2"/>
          </a:solidFill>
          <a:ln w="9525">
            <a:solidFill>
              <a:srgbClr val="B8C9E5"/>
            </a:solidFill>
            <a:prstDash val="solid"/>
          </a:ln>
        </p:spPr>
        <p:txBody>
          <a:bodyPr/>
          <a:lstStyle/>
          <a:p>
            <a:endParaRPr lang="en-US"/>
          </a:p>
        </p:txBody>
      </p:sp>
      <p:sp>
        <p:nvSpPr>
          <p:cNvPr id="8" name="Rectangle 7">
            <a:extLst>
              <a:ext uri="{FF2B5EF4-FFF2-40B4-BE49-F238E27FC236}">
                <a16:creationId xmlns:a16="http://schemas.microsoft.com/office/drawing/2014/main" id="{ECFD1B7F-AC06-46A0-9F42-4FAF3635A0F4}"/>
              </a:ext>
            </a:extLst>
          </p:cNvPr>
          <p:cNvSpPr>
            <a:spLocks noGrp="1"/>
          </p:cNvSpPr>
          <p:nvPr/>
        </p:nvSpPr>
        <p:spPr>
          <a:xfrm>
            <a:off x="5848350" y="3314700"/>
            <a:ext cx="1371600" cy="6858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Human</a:t>
            </a:r>
          </a:p>
          <a:p>
            <a:pPr algn="ctr">
              <a:defRPr sz="1275" b="1">
                <a:solidFill>
                  <a:srgbClr val="203D67"/>
                </a:solidFill>
              </a:defRPr>
            </a:pPr>
            <a:r>
              <a:rPr sz="1275" b="1">
                <a:solidFill>
                  <a:srgbClr val="203D67"/>
                </a:solidFill>
              </a:rPr>
              <a:t>approval</a:t>
            </a:r>
          </a:p>
        </p:txBody>
      </p:sp>
      <p:sp>
        <p:nvSpPr>
          <p:cNvPr id="9" name="Rounded Rectangle 8">
            <a:extLst>
              <a:ext uri="{FF2B5EF4-FFF2-40B4-BE49-F238E27FC236}">
                <a16:creationId xmlns:a16="http://schemas.microsoft.com/office/drawing/2014/main" id="{92E406F0-9E0B-4EE6-8636-AC964615D0BF}"/>
              </a:ext>
            </a:extLst>
          </p:cNvPr>
          <p:cNvSpPr>
            <a:spLocks noGrp="1"/>
          </p:cNvSpPr>
          <p:nvPr/>
        </p:nvSpPr>
        <p:spPr>
          <a:xfrm>
            <a:off x="8134350" y="3257550"/>
            <a:ext cx="1524000" cy="800100"/>
          </a:xfrm>
          <a:prstGeom prst="roundRect">
            <a:avLst>
              <a:gd name="adj" fmla="val 14286"/>
            </a:avLst>
          </a:prstGeom>
          <a:solidFill>
            <a:srgbClr val="FDE8E1"/>
          </a:solidFill>
          <a:ln w="9525">
            <a:solidFill>
              <a:srgbClr val="B8C9E5"/>
            </a:solidFill>
            <a:prstDash val="solid"/>
          </a:ln>
        </p:spPr>
        <p:txBody>
          <a:bodyPr/>
          <a:lstStyle/>
          <a:p>
            <a:endParaRPr lang="en-US"/>
          </a:p>
        </p:txBody>
      </p:sp>
      <p:sp>
        <p:nvSpPr>
          <p:cNvPr id="10" name="Rectangle 9">
            <a:extLst>
              <a:ext uri="{FF2B5EF4-FFF2-40B4-BE49-F238E27FC236}">
                <a16:creationId xmlns:a16="http://schemas.microsoft.com/office/drawing/2014/main" id="{FE92C22E-DEF4-45B4-95AE-C5842EDDEE44}"/>
              </a:ext>
            </a:extLst>
          </p:cNvPr>
          <p:cNvSpPr>
            <a:spLocks noGrp="1"/>
          </p:cNvSpPr>
          <p:nvPr/>
        </p:nvSpPr>
        <p:spPr>
          <a:xfrm>
            <a:off x="8210550" y="3314700"/>
            <a:ext cx="1371600" cy="6858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Execute</a:t>
            </a:r>
          </a:p>
        </p:txBody>
      </p:sp>
      <p:cxnSp>
        <p:nvCxnSpPr>
          <p:cNvPr id="11" name="Straight Arrow Connector 10">
            <a:extLst>
              <a:ext uri="{FF2B5EF4-FFF2-40B4-BE49-F238E27FC236}">
                <a16:creationId xmlns:a16="http://schemas.microsoft.com/office/drawing/2014/main" id="{9652A617-3F7D-4E49-94AA-78FEBD8711EA}"/>
              </a:ext>
            </a:extLst>
          </p:cNvPr>
          <p:cNvCxnSpPr>
            <a:stCxn id="3" idx="3"/>
            <a:endCxn id="5" idx="1"/>
          </p:cNvCxnSpPr>
          <p:nvPr/>
        </p:nvCxnSpPr>
        <p:spPr>
          <a:xfrm>
            <a:off x="2571750" y="3657600"/>
            <a:ext cx="838200" cy="0"/>
          </a:xfrm>
          <a:prstGeom prst="straightConnector1">
            <a:avLst/>
          </a:prstGeom>
          <a:ln w="21431">
            <a:solidFill>
              <a:srgbClr val="175CE5"/>
            </a:solidFill>
            <a:prstDash val="solid"/>
            <a:tailEnd type="arrow" w="med" len="med"/>
          </a:ln>
        </p:spPr>
      </p:cxnSp>
      <p:cxnSp>
        <p:nvCxnSpPr>
          <p:cNvPr id="12" name="Straight Arrow Connector 11">
            <a:extLst>
              <a:ext uri="{FF2B5EF4-FFF2-40B4-BE49-F238E27FC236}">
                <a16:creationId xmlns:a16="http://schemas.microsoft.com/office/drawing/2014/main" id="{D5AAEF22-0CA4-40D4-8C9F-07368D2272C4}"/>
              </a:ext>
            </a:extLst>
          </p:cNvPr>
          <p:cNvCxnSpPr>
            <a:stCxn id="5" idx="3"/>
            <a:endCxn id="7" idx="1"/>
          </p:cNvCxnSpPr>
          <p:nvPr/>
        </p:nvCxnSpPr>
        <p:spPr>
          <a:xfrm>
            <a:off x="4933950" y="3657600"/>
            <a:ext cx="838200" cy="0"/>
          </a:xfrm>
          <a:prstGeom prst="straightConnector1">
            <a:avLst/>
          </a:prstGeom>
          <a:ln w="21431">
            <a:solidFill>
              <a:srgbClr val="175CE5"/>
            </a:solidFill>
            <a:prstDash val="solid"/>
            <a:tailEnd type="arrow" w="med" len="med"/>
          </a:ln>
        </p:spPr>
      </p:cxnSp>
      <p:cxnSp>
        <p:nvCxnSpPr>
          <p:cNvPr id="13" name="Straight Arrow Connector 12">
            <a:extLst>
              <a:ext uri="{FF2B5EF4-FFF2-40B4-BE49-F238E27FC236}">
                <a16:creationId xmlns:a16="http://schemas.microsoft.com/office/drawing/2014/main" id="{B7D3C42F-E8E3-46BB-83DF-547ACCFFB4AF}"/>
              </a:ext>
            </a:extLst>
          </p:cNvPr>
          <p:cNvCxnSpPr>
            <a:stCxn id="7" idx="3"/>
            <a:endCxn id="9" idx="1"/>
          </p:cNvCxnSpPr>
          <p:nvPr/>
        </p:nvCxnSpPr>
        <p:spPr>
          <a:xfrm>
            <a:off x="7296150" y="3657600"/>
            <a:ext cx="838200" cy="0"/>
          </a:xfrm>
          <a:prstGeom prst="straightConnector1">
            <a:avLst/>
          </a:prstGeom>
          <a:ln w="21431">
            <a:solidFill>
              <a:srgbClr val="175CE5"/>
            </a:solidFill>
            <a:prstDash val="solid"/>
            <a:tailEnd type="arrow" w="med" len="med"/>
          </a:ln>
        </p:spPr>
      </p:cxnSp>
      <p:sp>
        <p:nvSpPr>
          <p:cNvPr id="14" name="Rectangle 13">
            <a:extLst>
              <a:ext uri="{FF2B5EF4-FFF2-40B4-BE49-F238E27FC236}">
                <a16:creationId xmlns:a16="http://schemas.microsoft.com/office/drawing/2014/main" id="{25FDE907-65C2-465F-9F91-DAE88B503EB9}"/>
              </a:ext>
            </a:extLst>
          </p:cNvPr>
          <p:cNvSpPr>
            <a:spLocks noGrp="1"/>
          </p:cNvSpPr>
          <p:nvPr/>
        </p:nvSpPr>
        <p:spPr>
          <a:xfrm>
            <a:off x="1524000" y="4686300"/>
            <a:ext cx="7620000" cy="438150"/>
          </a:xfrm>
          <a:prstGeom prst="rect">
            <a:avLst/>
          </a:prstGeom>
          <a:noFill/>
          <a:ln w="0">
            <a:noFill/>
            <a:prstDash val="solid"/>
          </a:ln>
        </p:spPr>
        <p:txBody>
          <a:bodyPr anchor="ctr"/>
          <a:lstStyle>
            <a:defPPr algn="ctr">
              <a:defRPr sz="1350" b="1">
                <a:solidFill>
                  <a:srgbClr val="008A91"/>
                </a:solidFill>
              </a:defRPr>
            </a:defPPr>
          </a:lstStyle>
          <a:p>
            <a:pPr algn="ctr">
              <a:defRPr sz="1350" b="1">
                <a:solidFill>
                  <a:srgbClr val="008A91"/>
                </a:solidFill>
              </a:defRPr>
            </a:pPr>
            <a:r>
              <a:rPr sz="1350" b="1">
                <a:solidFill>
                  <a:srgbClr val="008A91"/>
                </a:solidFill>
              </a:rPr>
              <a:t>Examples: sending a message, purchasing, deleting data, changing access</a:t>
            </a:r>
          </a:p>
        </p:txBody>
      </p:sp>
    </p:spTree>
    <p:extLst>
      <p:ext uri="{BB962C8B-B14F-4D97-AF65-F5344CB8AC3E}">
        <p14:creationId xmlns:p14="http://schemas.microsoft.com/office/powerpoint/2010/main" val="995503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65A98BA-6E4F-461B-A57E-BD91E7E3B974}"/>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0B76FD76-045C-4996-AD04-DEB100B9CF2D}"/>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Context, retrieval and memory</a:t>
            </a:r>
          </a:p>
        </p:txBody>
      </p:sp>
      <p:sp>
        <p:nvSpPr>
          <p:cNvPr id="3" name="Rectangle 2">
            <a:extLst>
              <a:ext uri="{FF2B5EF4-FFF2-40B4-BE49-F238E27FC236}">
                <a16:creationId xmlns:a16="http://schemas.microsoft.com/office/drawing/2014/main" id="{E54A563A-1146-4CE6-8542-AEDF5B34CEFC}"/>
              </a:ext>
            </a:extLst>
          </p:cNvPr>
          <p:cNvSpPr>
            <a:spLocks noGrp="1"/>
          </p:cNvSpPr>
          <p:nvPr/>
        </p:nvSpPr>
        <p:spPr>
          <a:xfrm>
            <a:off x="781050" y="2686050"/>
            <a:ext cx="2476500" cy="400050"/>
          </a:xfrm>
          <a:prstGeom prst="rect">
            <a:avLst/>
          </a:prstGeom>
          <a:noFill/>
          <a:ln w="0">
            <a:noFill/>
            <a:prstDash val="solid"/>
          </a:ln>
        </p:spPr>
        <p:txBody>
          <a:bodyPr anchor="ctr"/>
          <a:lstStyle>
            <a:defPPr algn="l">
              <a:defRPr sz="1650" b="1">
                <a:solidFill>
                  <a:srgbClr val="203D67"/>
                </a:solidFill>
              </a:defRPr>
            </a:defPPr>
          </a:lstStyle>
          <a:p>
            <a:pPr algn="l">
              <a:defRPr sz="1650" b="1">
                <a:solidFill>
                  <a:srgbClr val="203D67"/>
                </a:solidFill>
              </a:defRPr>
            </a:pPr>
            <a:r>
              <a:rPr sz="1650" b="1">
                <a:solidFill>
                  <a:srgbClr val="203D67"/>
                </a:solidFill>
              </a:rPr>
              <a:t>Context</a:t>
            </a:r>
          </a:p>
        </p:txBody>
      </p:sp>
      <p:sp>
        <p:nvSpPr>
          <p:cNvPr id="4" name="Rectangle 3">
            <a:extLst>
              <a:ext uri="{FF2B5EF4-FFF2-40B4-BE49-F238E27FC236}">
                <a16:creationId xmlns:a16="http://schemas.microsoft.com/office/drawing/2014/main" id="{2D463C7B-272D-40DF-8E31-CF3F8EF9749E}"/>
              </a:ext>
            </a:extLst>
          </p:cNvPr>
          <p:cNvSpPr>
            <a:spLocks noGrp="1"/>
          </p:cNvSpPr>
          <p:nvPr/>
        </p:nvSpPr>
        <p:spPr>
          <a:xfrm>
            <a:off x="781050" y="3162300"/>
            <a:ext cx="2381250" cy="38100"/>
          </a:xfrm>
          <a:prstGeom prst="rect">
            <a:avLst/>
          </a:prstGeom>
          <a:solidFill>
            <a:srgbClr val="175CE5"/>
          </a:solidFill>
          <a:ln w="0">
            <a:noFill/>
            <a:prstDash val="solid"/>
          </a:ln>
        </p:spPr>
        <p:txBody>
          <a:bodyPr/>
          <a:lstStyle/>
          <a:p>
            <a:endParaRPr lang="en-US"/>
          </a:p>
        </p:txBody>
      </p:sp>
      <p:sp>
        <p:nvSpPr>
          <p:cNvPr id="5" name="Rectangle 4">
            <a:extLst>
              <a:ext uri="{FF2B5EF4-FFF2-40B4-BE49-F238E27FC236}">
                <a16:creationId xmlns:a16="http://schemas.microsoft.com/office/drawing/2014/main" id="{D501B3DC-F870-4036-B637-0794DE0AB4A7}"/>
              </a:ext>
            </a:extLst>
          </p:cNvPr>
          <p:cNvSpPr>
            <a:spLocks noGrp="1"/>
          </p:cNvSpPr>
          <p:nvPr/>
        </p:nvSpPr>
        <p:spPr>
          <a:xfrm>
            <a:off x="781050" y="3409950"/>
            <a:ext cx="2476500" cy="12001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Information visible to the current model call</a:t>
            </a:r>
          </a:p>
        </p:txBody>
      </p:sp>
      <p:sp>
        <p:nvSpPr>
          <p:cNvPr id="6" name="Rectangle 5">
            <a:extLst>
              <a:ext uri="{FF2B5EF4-FFF2-40B4-BE49-F238E27FC236}">
                <a16:creationId xmlns:a16="http://schemas.microsoft.com/office/drawing/2014/main" id="{04E12929-A0FF-4594-90AD-3BE3BDD445DB}"/>
              </a:ext>
            </a:extLst>
          </p:cNvPr>
          <p:cNvSpPr>
            <a:spLocks noGrp="1"/>
          </p:cNvSpPr>
          <p:nvPr/>
        </p:nvSpPr>
        <p:spPr>
          <a:xfrm>
            <a:off x="3790950" y="2686050"/>
            <a:ext cx="2476500" cy="400050"/>
          </a:xfrm>
          <a:prstGeom prst="rect">
            <a:avLst/>
          </a:prstGeom>
          <a:noFill/>
          <a:ln w="0">
            <a:noFill/>
            <a:prstDash val="solid"/>
          </a:ln>
        </p:spPr>
        <p:txBody>
          <a:bodyPr anchor="ctr"/>
          <a:lstStyle>
            <a:defPPr algn="l">
              <a:defRPr sz="1650" b="1">
                <a:solidFill>
                  <a:srgbClr val="203D67"/>
                </a:solidFill>
              </a:defRPr>
            </a:defPPr>
          </a:lstStyle>
          <a:p>
            <a:pPr algn="l">
              <a:defRPr sz="1650" b="1">
                <a:solidFill>
                  <a:srgbClr val="203D67"/>
                </a:solidFill>
              </a:defRPr>
            </a:pPr>
            <a:r>
              <a:rPr sz="1650" b="1">
                <a:solidFill>
                  <a:srgbClr val="203D67"/>
                </a:solidFill>
              </a:rPr>
              <a:t>Retrieval</a:t>
            </a:r>
          </a:p>
        </p:txBody>
      </p:sp>
      <p:sp>
        <p:nvSpPr>
          <p:cNvPr id="7" name="Rectangle 6">
            <a:extLst>
              <a:ext uri="{FF2B5EF4-FFF2-40B4-BE49-F238E27FC236}">
                <a16:creationId xmlns:a16="http://schemas.microsoft.com/office/drawing/2014/main" id="{0A21525C-7D64-4974-BE3F-010A177AA397}"/>
              </a:ext>
            </a:extLst>
          </p:cNvPr>
          <p:cNvSpPr>
            <a:spLocks noGrp="1"/>
          </p:cNvSpPr>
          <p:nvPr/>
        </p:nvSpPr>
        <p:spPr>
          <a:xfrm>
            <a:off x="3790950" y="3162300"/>
            <a:ext cx="2381250" cy="38100"/>
          </a:xfrm>
          <a:prstGeom prst="rect">
            <a:avLst/>
          </a:prstGeom>
          <a:solidFill>
            <a:srgbClr val="42BCC9"/>
          </a:solidFill>
          <a:ln w="0">
            <a:noFill/>
            <a:prstDash val="solid"/>
          </a:ln>
        </p:spPr>
        <p:txBody>
          <a:bodyPr/>
          <a:lstStyle/>
          <a:p>
            <a:endParaRPr lang="en-US"/>
          </a:p>
        </p:txBody>
      </p:sp>
      <p:sp>
        <p:nvSpPr>
          <p:cNvPr id="8" name="Rectangle 7">
            <a:extLst>
              <a:ext uri="{FF2B5EF4-FFF2-40B4-BE49-F238E27FC236}">
                <a16:creationId xmlns:a16="http://schemas.microsoft.com/office/drawing/2014/main" id="{7E598CDE-0D9E-4D6A-813F-55B4CD7F0BF3}"/>
              </a:ext>
            </a:extLst>
          </p:cNvPr>
          <p:cNvSpPr>
            <a:spLocks noGrp="1"/>
          </p:cNvSpPr>
          <p:nvPr/>
        </p:nvSpPr>
        <p:spPr>
          <a:xfrm>
            <a:off x="3790950" y="3409950"/>
            <a:ext cx="2476500" cy="12001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A method for locating relevant external information</a:t>
            </a:r>
          </a:p>
        </p:txBody>
      </p:sp>
      <p:sp>
        <p:nvSpPr>
          <p:cNvPr id="9" name="Rectangle 8">
            <a:extLst>
              <a:ext uri="{FF2B5EF4-FFF2-40B4-BE49-F238E27FC236}">
                <a16:creationId xmlns:a16="http://schemas.microsoft.com/office/drawing/2014/main" id="{DEB2D0B4-E70E-4350-841F-F77EE26AC7CA}"/>
              </a:ext>
            </a:extLst>
          </p:cNvPr>
          <p:cNvSpPr>
            <a:spLocks noGrp="1"/>
          </p:cNvSpPr>
          <p:nvPr/>
        </p:nvSpPr>
        <p:spPr>
          <a:xfrm>
            <a:off x="6800850" y="2686050"/>
            <a:ext cx="2476500" cy="400050"/>
          </a:xfrm>
          <a:prstGeom prst="rect">
            <a:avLst/>
          </a:prstGeom>
          <a:noFill/>
          <a:ln w="0">
            <a:noFill/>
            <a:prstDash val="solid"/>
          </a:ln>
        </p:spPr>
        <p:txBody>
          <a:bodyPr anchor="ctr"/>
          <a:lstStyle>
            <a:defPPr algn="l">
              <a:defRPr sz="1650" b="1">
                <a:solidFill>
                  <a:srgbClr val="203D67"/>
                </a:solidFill>
              </a:defRPr>
            </a:defPPr>
          </a:lstStyle>
          <a:p>
            <a:pPr algn="l">
              <a:defRPr sz="1650" b="1">
                <a:solidFill>
                  <a:srgbClr val="203D67"/>
                </a:solidFill>
              </a:defRPr>
            </a:pPr>
            <a:r>
              <a:rPr sz="1650" b="1">
                <a:solidFill>
                  <a:srgbClr val="203D67"/>
                </a:solidFill>
              </a:rPr>
              <a:t>Memory</a:t>
            </a:r>
          </a:p>
        </p:txBody>
      </p:sp>
      <p:sp>
        <p:nvSpPr>
          <p:cNvPr id="10" name="Rectangle 9">
            <a:extLst>
              <a:ext uri="{FF2B5EF4-FFF2-40B4-BE49-F238E27FC236}">
                <a16:creationId xmlns:a16="http://schemas.microsoft.com/office/drawing/2014/main" id="{444583DA-C3BC-43D8-A26B-B8E46AC5D4C1}"/>
              </a:ext>
            </a:extLst>
          </p:cNvPr>
          <p:cNvSpPr>
            <a:spLocks noGrp="1"/>
          </p:cNvSpPr>
          <p:nvPr/>
        </p:nvSpPr>
        <p:spPr>
          <a:xfrm>
            <a:off x="6800850" y="3162300"/>
            <a:ext cx="2381250" cy="38100"/>
          </a:xfrm>
          <a:prstGeom prst="rect">
            <a:avLst/>
          </a:prstGeom>
          <a:solidFill>
            <a:srgbClr val="F4B900"/>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808A043B-E2B4-4959-A896-29A4455F19C2}"/>
              </a:ext>
            </a:extLst>
          </p:cNvPr>
          <p:cNvSpPr>
            <a:spLocks noGrp="1"/>
          </p:cNvSpPr>
          <p:nvPr/>
        </p:nvSpPr>
        <p:spPr>
          <a:xfrm>
            <a:off x="6800850" y="3409950"/>
            <a:ext cx="2476500" cy="12001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Selected information preserved across steps or sessions</a:t>
            </a:r>
          </a:p>
        </p:txBody>
      </p:sp>
      <p:sp>
        <p:nvSpPr>
          <p:cNvPr id="12" name="Rectangle 11">
            <a:extLst>
              <a:ext uri="{FF2B5EF4-FFF2-40B4-BE49-F238E27FC236}">
                <a16:creationId xmlns:a16="http://schemas.microsoft.com/office/drawing/2014/main" id="{B028297C-D954-42DE-8F3A-023DD354005C}"/>
              </a:ext>
            </a:extLst>
          </p:cNvPr>
          <p:cNvSpPr>
            <a:spLocks noGrp="1"/>
          </p:cNvSpPr>
          <p:nvPr/>
        </p:nvSpPr>
        <p:spPr>
          <a:xfrm>
            <a:off x="2857500" y="5048250"/>
            <a:ext cx="4953000" cy="400050"/>
          </a:xfrm>
          <a:prstGeom prst="rect">
            <a:avLst/>
          </a:prstGeom>
          <a:noFill/>
          <a:ln w="0">
            <a:noFill/>
            <a:prstDash val="solid"/>
          </a:ln>
        </p:spPr>
        <p:txBody>
          <a:bodyPr anchor="ctr"/>
          <a:lstStyle>
            <a:defPPr algn="ctr">
              <a:defRPr sz="1575" b="1">
                <a:solidFill>
                  <a:srgbClr val="008A91"/>
                </a:solidFill>
              </a:defRPr>
            </a:defPPr>
          </a:lstStyle>
          <a:p>
            <a:pPr algn="ctr">
              <a:defRPr sz="1575" b="1">
                <a:solidFill>
                  <a:srgbClr val="008A91"/>
                </a:solidFill>
              </a:defRPr>
            </a:pPr>
            <a:r>
              <a:rPr sz="1575" b="1">
                <a:solidFill>
                  <a:srgbClr val="008A91"/>
                </a:solidFill>
              </a:rPr>
              <a:t>Good context is selected, not accumulated</a:t>
            </a:r>
          </a:p>
        </p:txBody>
      </p:sp>
    </p:spTree>
    <p:extLst>
      <p:ext uri="{BB962C8B-B14F-4D97-AF65-F5344CB8AC3E}">
        <p14:creationId xmlns:p14="http://schemas.microsoft.com/office/powerpoint/2010/main" val="816005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4290785-949D-41F1-99EA-62B058A0C2CF}"/>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A0BDDAC-B3B0-42BE-BE55-9BAABEA5119D}"/>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Conventional retrieval-augmented generation</a:t>
            </a:r>
          </a:p>
        </p:txBody>
      </p:sp>
      <p:sp>
        <p:nvSpPr>
          <p:cNvPr id="3" name="Rounded Rectangle 2">
            <a:extLst>
              <a:ext uri="{FF2B5EF4-FFF2-40B4-BE49-F238E27FC236}">
                <a16:creationId xmlns:a16="http://schemas.microsoft.com/office/drawing/2014/main" id="{FA1AA0FA-0B55-4B4A-88E5-EA95BE7024FB}"/>
              </a:ext>
            </a:extLst>
          </p:cNvPr>
          <p:cNvSpPr>
            <a:spLocks noGrp="1"/>
          </p:cNvSpPr>
          <p:nvPr/>
        </p:nvSpPr>
        <p:spPr>
          <a:xfrm>
            <a:off x="914400" y="3333750"/>
            <a:ext cx="1333500" cy="685800"/>
          </a:xfrm>
          <a:prstGeom prst="roundRect">
            <a:avLst>
              <a:gd name="adj" fmla="val 16667"/>
            </a:avLst>
          </a:prstGeom>
          <a:solidFill>
            <a:srgbClr val="E7EEFC"/>
          </a:solidFill>
          <a:ln w="9525">
            <a:solidFill>
              <a:srgbClr val="B8C9E5"/>
            </a:solidFill>
            <a:prstDash val="solid"/>
          </a:ln>
        </p:spPr>
        <p:txBody>
          <a:bodyPr/>
          <a:lstStyle/>
          <a:p>
            <a:endParaRPr lang="en-US"/>
          </a:p>
        </p:txBody>
      </p:sp>
      <p:sp>
        <p:nvSpPr>
          <p:cNvPr id="4" name="Rectangle 3">
            <a:extLst>
              <a:ext uri="{FF2B5EF4-FFF2-40B4-BE49-F238E27FC236}">
                <a16:creationId xmlns:a16="http://schemas.microsoft.com/office/drawing/2014/main" id="{1FC60B9F-2424-4507-B49E-13E70CAD15A1}"/>
              </a:ext>
            </a:extLst>
          </p:cNvPr>
          <p:cNvSpPr>
            <a:spLocks noGrp="1"/>
          </p:cNvSpPr>
          <p:nvPr/>
        </p:nvSpPr>
        <p:spPr>
          <a:xfrm>
            <a:off x="990600" y="3390900"/>
            <a:ext cx="1181100" cy="5715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Question</a:t>
            </a:r>
          </a:p>
        </p:txBody>
      </p:sp>
      <p:sp>
        <p:nvSpPr>
          <p:cNvPr id="5" name="Rounded Rectangle 4">
            <a:extLst>
              <a:ext uri="{FF2B5EF4-FFF2-40B4-BE49-F238E27FC236}">
                <a16:creationId xmlns:a16="http://schemas.microsoft.com/office/drawing/2014/main" id="{EB4BA039-3513-4DE5-8FC3-B5A0DAF4DD8D}"/>
              </a:ext>
            </a:extLst>
          </p:cNvPr>
          <p:cNvSpPr>
            <a:spLocks noGrp="1"/>
          </p:cNvSpPr>
          <p:nvPr/>
        </p:nvSpPr>
        <p:spPr>
          <a:xfrm>
            <a:off x="3105150" y="3333750"/>
            <a:ext cx="1524000" cy="685800"/>
          </a:xfrm>
          <a:prstGeom prst="roundRect">
            <a:avLst>
              <a:gd name="adj" fmla="val 16667"/>
            </a:avLst>
          </a:prstGeom>
          <a:solidFill>
            <a:srgbClr val="E1F4F3"/>
          </a:solidFill>
          <a:ln w="9525">
            <a:solidFill>
              <a:srgbClr val="B8C9E5"/>
            </a:solidFill>
            <a:prstDash val="solid"/>
          </a:ln>
        </p:spPr>
        <p:txBody>
          <a:bodyPr/>
          <a:lstStyle/>
          <a:p>
            <a:endParaRPr lang="en-US"/>
          </a:p>
        </p:txBody>
      </p:sp>
      <p:sp>
        <p:nvSpPr>
          <p:cNvPr id="6" name="Rectangle 5">
            <a:extLst>
              <a:ext uri="{FF2B5EF4-FFF2-40B4-BE49-F238E27FC236}">
                <a16:creationId xmlns:a16="http://schemas.microsoft.com/office/drawing/2014/main" id="{4183E5B0-E494-431B-B7BB-54E301C11243}"/>
              </a:ext>
            </a:extLst>
          </p:cNvPr>
          <p:cNvSpPr>
            <a:spLocks noGrp="1"/>
          </p:cNvSpPr>
          <p:nvPr/>
        </p:nvSpPr>
        <p:spPr>
          <a:xfrm>
            <a:off x="3181350" y="3390900"/>
            <a:ext cx="1371600" cy="5715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Retrieve</a:t>
            </a:r>
          </a:p>
          <a:p>
            <a:pPr algn="ctr">
              <a:defRPr sz="1275" b="1">
                <a:solidFill>
                  <a:srgbClr val="203D67"/>
                </a:solidFill>
              </a:defRPr>
            </a:pPr>
            <a:r>
              <a:rPr sz="1275" b="1">
                <a:solidFill>
                  <a:srgbClr val="203D67"/>
                </a:solidFill>
              </a:rPr>
              <a:t>passages</a:t>
            </a:r>
          </a:p>
        </p:txBody>
      </p:sp>
      <p:sp>
        <p:nvSpPr>
          <p:cNvPr id="7" name="Rounded Rectangle 6">
            <a:extLst>
              <a:ext uri="{FF2B5EF4-FFF2-40B4-BE49-F238E27FC236}">
                <a16:creationId xmlns:a16="http://schemas.microsoft.com/office/drawing/2014/main" id="{C909E7DC-D05B-455C-9404-2144612A05ED}"/>
              </a:ext>
            </a:extLst>
          </p:cNvPr>
          <p:cNvSpPr>
            <a:spLocks noGrp="1"/>
          </p:cNvSpPr>
          <p:nvPr/>
        </p:nvSpPr>
        <p:spPr>
          <a:xfrm>
            <a:off x="5486400" y="3333750"/>
            <a:ext cx="1524000" cy="685800"/>
          </a:xfrm>
          <a:prstGeom prst="roundRect">
            <a:avLst>
              <a:gd name="adj" fmla="val 16667"/>
            </a:avLst>
          </a:prstGeom>
          <a:solidFill>
            <a:srgbClr val="FFF2C2"/>
          </a:solidFill>
          <a:ln w="9525">
            <a:solidFill>
              <a:srgbClr val="B8C9E5"/>
            </a:solidFill>
            <a:prstDash val="solid"/>
          </a:ln>
        </p:spPr>
        <p:txBody>
          <a:bodyPr/>
          <a:lstStyle/>
          <a:p>
            <a:endParaRPr lang="en-US"/>
          </a:p>
        </p:txBody>
      </p:sp>
      <p:sp>
        <p:nvSpPr>
          <p:cNvPr id="8" name="Rectangle 7">
            <a:extLst>
              <a:ext uri="{FF2B5EF4-FFF2-40B4-BE49-F238E27FC236}">
                <a16:creationId xmlns:a16="http://schemas.microsoft.com/office/drawing/2014/main" id="{06DF43C4-03C5-4216-A79E-2F38CB7A8CE3}"/>
              </a:ext>
            </a:extLst>
          </p:cNvPr>
          <p:cNvSpPr>
            <a:spLocks noGrp="1"/>
          </p:cNvSpPr>
          <p:nvPr/>
        </p:nvSpPr>
        <p:spPr>
          <a:xfrm>
            <a:off x="5562600" y="3390900"/>
            <a:ext cx="1371600" cy="5715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Add to</a:t>
            </a:r>
          </a:p>
          <a:p>
            <a:pPr algn="ctr">
              <a:defRPr sz="1275" b="1">
                <a:solidFill>
                  <a:srgbClr val="203D67"/>
                </a:solidFill>
              </a:defRPr>
            </a:pPr>
            <a:r>
              <a:rPr sz="1275" b="1">
                <a:solidFill>
                  <a:srgbClr val="203D67"/>
                </a:solidFill>
              </a:rPr>
              <a:t>prompt</a:t>
            </a:r>
          </a:p>
        </p:txBody>
      </p:sp>
      <p:sp>
        <p:nvSpPr>
          <p:cNvPr id="9" name="Rounded Rectangle 8">
            <a:extLst>
              <a:ext uri="{FF2B5EF4-FFF2-40B4-BE49-F238E27FC236}">
                <a16:creationId xmlns:a16="http://schemas.microsoft.com/office/drawing/2014/main" id="{65FC485C-83E6-45EB-B4F1-7B825ED2DED5}"/>
              </a:ext>
            </a:extLst>
          </p:cNvPr>
          <p:cNvSpPr>
            <a:spLocks noGrp="1"/>
          </p:cNvSpPr>
          <p:nvPr/>
        </p:nvSpPr>
        <p:spPr>
          <a:xfrm>
            <a:off x="7867650" y="3333750"/>
            <a:ext cx="1524000" cy="685800"/>
          </a:xfrm>
          <a:prstGeom prst="roundRect">
            <a:avLst>
              <a:gd name="adj" fmla="val 16667"/>
            </a:avLst>
          </a:prstGeom>
          <a:solidFill>
            <a:srgbClr val="FDE8E1"/>
          </a:solidFill>
          <a:ln w="9525">
            <a:solidFill>
              <a:srgbClr val="B8C9E5"/>
            </a:solidFill>
            <a:prstDash val="solid"/>
          </a:ln>
        </p:spPr>
        <p:txBody>
          <a:bodyPr/>
          <a:lstStyle/>
          <a:p>
            <a:endParaRPr lang="en-US"/>
          </a:p>
        </p:txBody>
      </p:sp>
      <p:sp>
        <p:nvSpPr>
          <p:cNvPr id="10" name="Rectangle 9">
            <a:extLst>
              <a:ext uri="{FF2B5EF4-FFF2-40B4-BE49-F238E27FC236}">
                <a16:creationId xmlns:a16="http://schemas.microsoft.com/office/drawing/2014/main" id="{8E1B43E7-617F-4AD9-8CCC-28CA893C9E27}"/>
              </a:ext>
            </a:extLst>
          </p:cNvPr>
          <p:cNvSpPr>
            <a:spLocks noGrp="1"/>
          </p:cNvSpPr>
          <p:nvPr/>
        </p:nvSpPr>
        <p:spPr>
          <a:xfrm>
            <a:off x="7943850" y="3390900"/>
            <a:ext cx="1371600" cy="5715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Generate</a:t>
            </a:r>
          </a:p>
          <a:p>
            <a:pPr algn="ctr">
              <a:defRPr sz="1275" b="1">
                <a:solidFill>
                  <a:srgbClr val="203D67"/>
                </a:solidFill>
              </a:defRPr>
            </a:pPr>
            <a:r>
              <a:rPr sz="1275" b="1">
                <a:solidFill>
                  <a:srgbClr val="203D67"/>
                </a:solidFill>
              </a:rPr>
              <a:t>answer</a:t>
            </a:r>
          </a:p>
        </p:txBody>
      </p:sp>
      <p:cxnSp>
        <p:nvCxnSpPr>
          <p:cNvPr id="11" name="Straight Arrow Connector 10">
            <a:extLst>
              <a:ext uri="{FF2B5EF4-FFF2-40B4-BE49-F238E27FC236}">
                <a16:creationId xmlns:a16="http://schemas.microsoft.com/office/drawing/2014/main" id="{A76F8382-912D-4D8A-8EA8-3AE39D027280}"/>
              </a:ext>
            </a:extLst>
          </p:cNvPr>
          <p:cNvCxnSpPr>
            <a:stCxn id="3" idx="3"/>
            <a:endCxn id="5" idx="1"/>
          </p:cNvCxnSpPr>
          <p:nvPr/>
        </p:nvCxnSpPr>
        <p:spPr>
          <a:xfrm>
            <a:off x="2247900" y="3676650"/>
            <a:ext cx="857250" cy="0"/>
          </a:xfrm>
          <a:prstGeom prst="straightConnector1">
            <a:avLst/>
          </a:prstGeom>
          <a:ln w="21431">
            <a:solidFill>
              <a:srgbClr val="175CE5"/>
            </a:solidFill>
            <a:prstDash val="solid"/>
            <a:tailEnd type="arrow" w="med" len="med"/>
          </a:ln>
        </p:spPr>
      </p:cxnSp>
      <p:cxnSp>
        <p:nvCxnSpPr>
          <p:cNvPr id="12" name="Straight Arrow Connector 11">
            <a:extLst>
              <a:ext uri="{FF2B5EF4-FFF2-40B4-BE49-F238E27FC236}">
                <a16:creationId xmlns:a16="http://schemas.microsoft.com/office/drawing/2014/main" id="{A28102B3-2934-40AD-8E12-A44E2370D3BD}"/>
              </a:ext>
            </a:extLst>
          </p:cNvPr>
          <p:cNvCxnSpPr>
            <a:stCxn id="5" idx="3"/>
            <a:endCxn id="7" idx="1"/>
          </p:cNvCxnSpPr>
          <p:nvPr/>
        </p:nvCxnSpPr>
        <p:spPr>
          <a:xfrm>
            <a:off x="4629150" y="3676650"/>
            <a:ext cx="857250" cy="0"/>
          </a:xfrm>
          <a:prstGeom prst="straightConnector1">
            <a:avLst/>
          </a:prstGeom>
          <a:ln w="21431">
            <a:solidFill>
              <a:srgbClr val="175CE5"/>
            </a:solidFill>
            <a:prstDash val="solid"/>
            <a:tailEnd type="arrow" w="med" len="med"/>
          </a:ln>
        </p:spPr>
      </p:cxnSp>
      <p:cxnSp>
        <p:nvCxnSpPr>
          <p:cNvPr id="13" name="Straight Arrow Connector 12">
            <a:extLst>
              <a:ext uri="{FF2B5EF4-FFF2-40B4-BE49-F238E27FC236}">
                <a16:creationId xmlns:a16="http://schemas.microsoft.com/office/drawing/2014/main" id="{BD178DDD-58A9-4BF2-B59A-53FDAB30B39B}"/>
              </a:ext>
            </a:extLst>
          </p:cNvPr>
          <p:cNvCxnSpPr>
            <a:stCxn id="7" idx="3"/>
            <a:endCxn id="9" idx="1"/>
          </p:cNvCxnSpPr>
          <p:nvPr/>
        </p:nvCxnSpPr>
        <p:spPr>
          <a:xfrm>
            <a:off x="7010400" y="3676650"/>
            <a:ext cx="857250" cy="0"/>
          </a:xfrm>
          <a:prstGeom prst="straightConnector1">
            <a:avLst/>
          </a:prstGeom>
          <a:ln w="21431">
            <a:solidFill>
              <a:srgbClr val="175CE5"/>
            </a:solidFill>
            <a:prstDash val="solid"/>
            <a:tailEnd type="arrow" w="med" len="med"/>
          </a:ln>
        </p:spPr>
      </p:cxnSp>
      <p:sp>
        <p:nvSpPr>
          <p:cNvPr id="14" name="Rectangle 13">
            <a:extLst>
              <a:ext uri="{FF2B5EF4-FFF2-40B4-BE49-F238E27FC236}">
                <a16:creationId xmlns:a16="http://schemas.microsoft.com/office/drawing/2014/main" id="{EED1358C-E604-4FAE-AB33-B4CA382EBF1F}"/>
              </a:ext>
            </a:extLst>
          </p:cNvPr>
          <p:cNvSpPr>
            <a:spLocks noGrp="1"/>
          </p:cNvSpPr>
          <p:nvPr/>
        </p:nvSpPr>
        <p:spPr>
          <a:xfrm>
            <a:off x="2762250" y="4705350"/>
            <a:ext cx="4953000" cy="381000"/>
          </a:xfrm>
          <a:prstGeom prst="rect">
            <a:avLst/>
          </a:prstGeom>
          <a:noFill/>
          <a:ln w="0">
            <a:noFill/>
            <a:prstDash val="solid"/>
          </a:ln>
        </p:spPr>
        <p:txBody>
          <a:bodyPr anchor="ctr"/>
          <a:lstStyle>
            <a:defPPr algn="ctr">
              <a:defRPr sz="1500" b="1">
                <a:solidFill>
                  <a:srgbClr val="008A91"/>
                </a:solidFill>
              </a:defRPr>
            </a:defPPr>
          </a:lstStyle>
          <a:p>
            <a:pPr algn="ctr">
              <a:defRPr sz="1500" b="1">
                <a:solidFill>
                  <a:srgbClr val="008A91"/>
                </a:solidFill>
              </a:defRPr>
            </a:pPr>
            <a:r>
              <a:rPr sz="1500" b="1">
                <a:solidFill>
                  <a:srgbClr val="008A91"/>
                </a:solidFill>
              </a:rPr>
              <a:t>The retrieval path is fixed before the model answers</a:t>
            </a:r>
          </a:p>
        </p:txBody>
      </p:sp>
    </p:spTree>
    <p:extLst>
      <p:ext uri="{BB962C8B-B14F-4D97-AF65-F5344CB8AC3E}">
        <p14:creationId xmlns:p14="http://schemas.microsoft.com/office/powerpoint/2010/main" val="1729849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4880B583-5713-432C-BCE0-3F593536E718}"/>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2CF82FA-8FBF-4DBB-B361-1D29486D213A}"/>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Agentic retrieval</a:t>
            </a:r>
          </a:p>
        </p:txBody>
      </p:sp>
      <p:sp>
        <p:nvSpPr>
          <p:cNvPr id="3" name="Rounded Rectangle 2">
            <a:extLst>
              <a:ext uri="{FF2B5EF4-FFF2-40B4-BE49-F238E27FC236}">
                <a16:creationId xmlns:a16="http://schemas.microsoft.com/office/drawing/2014/main" id="{EC4705BA-B79A-46CC-A6EF-B39F7A953104}"/>
              </a:ext>
            </a:extLst>
          </p:cNvPr>
          <p:cNvSpPr>
            <a:spLocks noGrp="1"/>
          </p:cNvSpPr>
          <p:nvPr/>
        </p:nvSpPr>
        <p:spPr>
          <a:xfrm>
            <a:off x="4514850" y="3048000"/>
            <a:ext cx="1619250" cy="800100"/>
          </a:xfrm>
          <a:prstGeom prst="roundRect">
            <a:avLst>
              <a:gd name="adj" fmla="val 14286"/>
            </a:avLst>
          </a:prstGeom>
          <a:solidFill>
            <a:srgbClr val="E7EEFC"/>
          </a:solidFill>
          <a:ln w="9525">
            <a:solidFill>
              <a:srgbClr val="B8C9E5"/>
            </a:solidFill>
            <a:prstDash val="solid"/>
          </a:ln>
        </p:spPr>
        <p:txBody>
          <a:bodyPr/>
          <a:lstStyle/>
          <a:p>
            <a:endParaRPr lang="en-US"/>
          </a:p>
        </p:txBody>
      </p:sp>
      <p:sp>
        <p:nvSpPr>
          <p:cNvPr id="4" name="Rectangle 3">
            <a:extLst>
              <a:ext uri="{FF2B5EF4-FFF2-40B4-BE49-F238E27FC236}">
                <a16:creationId xmlns:a16="http://schemas.microsoft.com/office/drawing/2014/main" id="{2647519A-70DA-487F-B83C-CF892B0D5FEE}"/>
              </a:ext>
            </a:extLst>
          </p:cNvPr>
          <p:cNvSpPr>
            <a:spLocks noGrp="1"/>
          </p:cNvSpPr>
          <p:nvPr/>
        </p:nvSpPr>
        <p:spPr>
          <a:xfrm>
            <a:off x="4591050" y="3105150"/>
            <a:ext cx="1466850" cy="685800"/>
          </a:xfrm>
          <a:prstGeom prst="rect">
            <a:avLst/>
          </a:prstGeom>
          <a:noFill/>
          <a:ln w="0">
            <a:noFill/>
            <a:prstDash val="solid"/>
          </a:ln>
        </p:spPr>
        <p:txBody>
          <a:bodyPr anchor="ctr"/>
          <a:lstStyle>
            <a:defPPr algn="ctr">
              <a:defRPr sz="1500" b="1">
                <a:solidFill>
                  <a:srgbClr val="203D67"/>
                </a:solidFill>
              </a:defRPr>
            </a:defPPr>
          </a:lstStyle>
          <a:p>
            <a:pPr algn="ctr">
              <a:defRPr sz="1500" b="1">
                <a:solidFill>
                  <a:srgbClr val="203D67"/>
                </a:solidFill>
              </a:defRPr>
            </a:pPr>
            <a:r>
              <a:rPr sz="1500" b="1">
                <a:solidFill>
                  <a:srgbClr val="203D67"/>
                </a:solidFill>
              </a:rPr>
              <a:t>AGENT</a:t>
            </a:r>
          </a:p>
        </p:txBody>
      </p:sp>
      <p:sp>
        <p:nvSpPr>
          <p:cNvPr id="5" name="Rounded Rectangle 4">
            <a:extLst>
              <a:ext uri="{FF2B5EF4-FFF2-40B4-BE49-F238E27FC236}">
                <a16:creationId xmlns:a16="http://schemas.microsoft.com/office/drawing/2014/main" id="{E853A875-D8AE-448C-AE9B-EC6C190BB942}"/>
              </a:ext>
            </a:extLst>
          </p:cNvPr>
          <p:cNvSpPr>
            <a:spLocks noGrp="1"/>
          </p:cNvSpPr>
          <p:nvPr/>
        </p:nvSpPr>
        <p:spPr>
          <a:xfrm>
            <a:off x="1143000" y="2857500"/>
            <a:ext cx="1619250" cy="628650"/>
          </a:xfrm>
          <a:prstGeom prst="roundRect">
            <a:avLst>
              <a:gd name="adj" fmla="val 18182"/>
            </a:avLst>
          </a:prstGeom>
          <a:solidFill>
            <a:srgbClr val="E1F4F3"/>
          </a:solidFill>
          <a:ln w="9525">
            <a:solidFill>
              <a:srgbClr val="B8C9E5"/>
            </a:solidFill>
            <a:prstDash val="solid"/>
          </a:ln>
        </p:spPr>
        <p:txBody>
          <a:bodyPr/>
          <a:lstStyle/>
          <a:p>
            <a:endParaRPr lang="en-US"/>
          </a:p>
        </p:txBody>
      </p:sp>
      <p:sp>
        <p:nvSpPr>
          <p:cNvPr id="6" name="Rectangle 5">
            <a:extLst>
              <a:ext uri="{FF2B5EF4-FFF2-40B4-BE49-F238E27FC236}">
                <a16:creationId xmlns:a16="http://schemas.microsoft.com/office/drawing/2014/main" id="{DC5B31EC-E3F0-468E-B761-6D3F94C00EED}"/>
              </a:ext>
            </a:extLst>
          </p:cNvPr>
          <p:cNvSpPr>
            <a:spLocks noGrp="1"/>
          </p:cNvSpPr>
          <p:nvPr/>
        </p:nvSpPr>
        <p:spPr>
          <a:xfrm>
            <a:off x="1219200" y="2914650"/>
            <a:ext cx="1466850" cy="51435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Web search</a:t>
            </a:r>
          </a:p>
        </p:txBody>
      </p:sp>
      <p:sp>
        <p:nvSpPr>
          <p:cNvPr id="7" name="Rounded Rectangle 6">
            <a:extLst>
              <a:ext uri="{FF2B5EF4-FFF2-40B4-BE49-F238E27FC236}">
                <a16:creationId xmlns:a16="http://schemas.microsoft.com/office/drawing/2014/main" id="{C2639CBB-1E36-461B-B7D5-EBCB72B1D910}"/>
              </a:ext>
            </a:extLst>
          </p:cNvPr>
          <p:cNvSpPr>
            <a:spLocks noGrp="1"/>
          </p:cNvSpPr>
          <p:nvPr/>
        </p:nvSpPr>
        <p:spPr>
          <a:xfrm>
            <a:off x="1143000" y="4095750"/>
            <a:ext cx="1619250" cy="628650"/>
          </a:xfrm>
          <a:prstGeom prst="roundRect">
            <a:avLst>
              <a:gd name="adj" fmla="val 18182"/>
            </a:avLst>
          </a:prstGeom>
          <a:solidFill>
            <a:srgbClr val="FFF2C2"/>
          </a:solidFill>
          <a:ln w="9525">
            <a:solidFill>
              <a:srgbClr val="B8C9E5"/>
            </a:solidFill>
            <a:prstDash val="solid"/>
          </a:ln>
        </p:spPr>
        <p:txBody>
          <a:bodyPr/>
          <a:lstStyle/>
          <a:p>
            <a:endParaRPr lang="en-US"/>
          </a:p>
        </p:txBody>
      </p:sp>
      <p:sp>
        <p:nvSpPr>
          <p:cNvPr id="8" name="Rectangle 7">
            <a:extLst>
              <a:ext uri="{FF2B5EF4-FFF2-40B4-BE49-F238E27FC236}">
                <a16:creationId xmlns:a16="http://schemas.microsoft.com/office/drawing/2014/main" id="{7E885108-8D73-463A-BEFE-37DF230D0444}"/>
              </a:ext>
            </a:extLst>
          </p:cNvPr>
          <p:cNvSpPr>
            <a:spLocks noGrp="1"/>
          </p:cNvSpPr>
          <p:nvPr/>
        </p:nvSpPr>
        <p:spPr>
          <a:xfrm>
            <a:off x="1219200" y="4152900"/>
            <a:ext cx="1466850" cy="51435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Knowledge base</a:t>
            </a:r>
          </a:p>
        </p:txBody>
      </p:sp>
      <p:sp>
        <p:nvSpPr>
          <p:cNvPr id="9" name="Rounded Rectangle 8">
            <a:extLst>
              <a:ext uri="{FF2B5EF4-FFF2-40B4-BE49-F238E27FC236}">
                <a16:creationId xmlns:a16="http://schemas.microsoft.com/office/drawing/2014/main" id="{C109B82F-117D-418D-BA70-6EFFE199B122}"/>
              </a:ext>
            </a:extLst>
          </p:cNvPr>
          <p:cNvSpPr>
            <a:spLocks noGrp="1"/>
          </p:cNvSpPr>
          <p:nvPr/>
        </p:nvSpPr>
        <p:spPr>
          <a:xfrm>
            <a:off x="7905750" y="2857500"/>
            <a:ext cx="1619250" cy="628650"/>
          </a:xfrm>
          <a:prstGeom prst="roundRect">
            <a:avLst>
              <a:gd name="adj" fmla="val 18182"/>
            </a:avLst>
          </a:prstGeom>
          <a:solidFill>
            <a:srgbClr val="FDE8E1"/>
          </a:solidFill>
          <a:ln w="9525">
            <a:solidFill>
              <a:srgbClr val="B8C9E5"/>
            </a:solidFill>
            <a:prstDash val="solid"/>
          </a:ln>
        </p:spPr>
        <p:txBody>
          <a:bodyPr/>
          <a:lstStyle/>
          <a:p>
            <a:endParaRPr lang="en-US"/>
          </a:p>
        </p:txBody>
      </p:sp>
      <p:sp>
        <p:nvSpPr>
          <p:cNvPr id="10" name="Rectangle 9">
            <a:extLst>
              <a:ext uri="{FF2B5EF4-FFF2-40B4-BE49-F238E27FC236}">
                <a16:creationId xmlns:a16="http://schemas.microsoft.com/office/drawing/2014/main" id="{5BBA997F-52BE-489C-97A4-769344BC7E17}"/>
              </a:ext>
            </a:extLst>
          </p:cNvPr>
          <p:cNvSpPr>
            <a:spLocks noGrp="1"/>
          </p:cNvSpPr>
          <p:nvPr/>
        </p:nvSpPr>
        <p:spPr>
          <a:xfrm>
            <a:off x="7981950" y="2914650"/>
            <a:ext cx="1466850" cy="51435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Calculator</a:t>
            </a:r>
          </a:p>
        </p:txBody>
      </p:sp>
      <p:sp>
        <p:nvSpPr>
          <p:cNvPr id="11" name="Rounded Rectangle 10">
            <a:extLst>
              <a:ext uri="{FF2B5EF4-FFF2-40B4-BE49-F238E27FC236}">
                <a16:creationId xmlns:a16="http://schemas.microsoft.com/office/drawing/2014/main" id="{707C9CCB-9929-433F-885C-1F2768282185}"/>
              </a:ext>
            </a:extLst>
          </p:cNvPr>
          <p:cNvSpPr>
            <a:spLocks noGrp="1"/>
          </p:cNvSpPr>
          <p:nvPr/>
        </p:nvSpPr>
        <p:spPr>
          <a:xfrm>
            <a:off x="7905750" y="4095750"/>
            <a:ext cx="1619250" cy="628650"/>
          </a:xfrm>
          <a:prstGeom prst="roundRect">
            <a:avLst>
              <a:gd name="adj" fmla="val 18182"/>
            </a:avLst>
          </a:prstGeom>
          <a:solidFill>
            <a:srgbClr val="E7EEFC"/>
          </a:solidFill>
          <a:ln w="9525">
            <a:solidFill>
              <a:srgbClr val="B8C9E5"/>
            </a:solidFill>
            <a:prstDash val="solid"/>
          </a:ln>
        </p:spPr>
        <p:txBody>
          <a:bodyPr/>
          <a:lstStyle/>
          <a:p>
            <a:endParaRPr lang="en-US"/>
          </a:p>
        </p:txBody>
      </p:sp>
      <p:sp>
        <p:nvSpPr>
          <p:cNvPr id="12" name="Rectangle 11">
            <a:extLst>
              <a:ext uri="{FF2B5EF4-FFF2-40B4-BE49-F238E27FC236}">
                <a16:creationId xmlns:a16="http://schemas.microsoft.com/office/drawing/2014/main" id="{D9841776-B1EB-460A-BA74-5C75208A8254}"/>
              </a:ext>
            </a:extLst>
          </p:cNvPr>
          <p:cNvSpPr>
            <a:spLocks noGrp="1"/>
          </p:cNvSpPr>
          <p:nvPr/>
        </p:nvSpPr>
        <p:spPr>
          <a:xfrm>
            <a:off x="7981950" y="4152900"/>
            <a:ext cx="1466850" cy="51435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Final answer</a:t>
            </a:r>
          </a:p>
        </p:txBody>
      </p:sp>
      <p:cxnSp>
        <p:nvCxnSpPr>
          <p:cNvPr id="13" name="Straight Arrow Connector 12">
            <a:extLst>
              <a:ext uri="{FF2B5EF4-FFF2-40B4-BE49-F238E27FC236}">
                <a16:creationId xmlns:a16="http://schemas.microsoft.com/office/drawing/2014/main" id="{98C01A5D-4004-4F74-A7A2-349E24F026C7}"/>
              </a:ext>
            </a:extLst>
          </p:cNvPr>
          <p:cNvCxnSpPr>
            <a:stCxn id="3" idx="1"/>
            <a:endCxn id="5" idx="3"/>
          </p:cNvCxnSpPr>
          <p:nvPr/>
        </p:nvCxnSpPr>
        <p:spPr>
          <a:xfrm flipH="1" flipV="1">
            <a:off x="2762250" y="3171825"/>
            <a:ext cx="1752600" cy="276225"/>
          </a:xfrm>
          <a:prstGeom prst="straightConnector1">
            <a:avLst/>
          </a:prstGeom>
          <a:ln w="21431">
            <a:solidFill>
              <a:srgbClr val="42BCC9"/>
            </a:solidFill>
            <a:prstDash val="solid"/>
            <a:tailEnd type="arrow" w="med" len="med"/>
          </a:ln>
        </p:spPr>
      </p:cxnSp>
      <p:cxnSp>
        <p:nvCxnSpPr>
          <p:cNvPr id="14" name="Straight Arrow Connector 13">
            <a:extLst>
              <a:ext uri="{FF2B5EF4-FFF2-40B4-BE49-F238E27FC236}">
                <a16:creationId xmlns:a16="http://schemas.microsoft.com/office/drawing/2014/main" id="{B35902B6-114A-4787-8F8F-1158081B23CA}"/>
              </a:ext>
            </a:extLst>
          </p:cNvPr>
          <p:cNvCxnSpPr>
            <a:stCxn id="3" idx="1"/>
            <a:endCxn id="7" idx="3"/>
          </p:cNvCxnSpPr>
          <p:nvPr/>
        </p:nvCxnSpPr>
        <p:spPr>
          <a:xfrm flipH="1">
            <a:off x="2762250" y="3448050"/>
            <a:ext cx="1752600" cy="962025"/>
          </a:xfrm>
          <a:prstGeom prst="straightConnector1">
            <a:avLst/>
          </a:prstGeom>
          <a:ln w="21431">
            <a:solidFill>
              <a:srgbClr val="F4B900"/>
            </a:solidFill>
            <a:prstDash val="solid"/>
            <a:tailEnd type="arrow" w="med" len="med"/>
          </a:ln>
        </p:spPr>
      </p:cxnSp>
      <p:cxnSp>
        <p:nvCxnSpPr>
          <p:cNvPr id="15" name="Straight Arrow Connector 14">
            <a:extLst>
              <a:ext uri="{FF2B5EF4-FFF2-40B4-BE49-F238E27FC236}">
                <a16:creationId xmlns:a16="http://schemas.microsoft.com/office/drawing/2014/main" id="{068CDBC6-378C-4AB9-998E-7F26CD16763A}"/>
              </a:ext>
            </a:extLst>
          </p:cNvPr>
          <p:cNvCxnSpPr>
            <a:stCxn id="3" idx="3"/>
            <a:endCxn id="9" idx="1"/>
          </p:cNvCxnSpPr>
          <p:nvPr/>
        </p:nvCxnSpPr>
        <p:spPr>
          <a:xfrm flipV="1">
            <a:off x="6134100" y="3171825"/>
            <a:ext cx="1771650" cy="276225"/>
          </a:xfrm>
          <a:prstGeom prst="straightConnector1">
            <a:avLst/>
          </a:prstGeom>
          <a:ln w="21431">
            <a:solidFill>
              <a:srgbClr val="EE7D5B"/>
            </a:solidFill>
            <a:prstDash val="solid"/>
            <a:tailEnd type="arrow" w="med" len="med"/>
          </a:ln>
        </p:spPr>
      </p:cxnSp>
      <p:cxnSp>
        <p:nvCxnSpPr>
          <p:cNvPr id="16" name="Straight Arrow Connector 15">
            <a:extLst>
              <a:ext uri="{FF2B5EF4-FFF2-40B4-BE49-F238E27FC236}">
                <a16:creationId xmlns:a16="http://schemas.microsoft.com/office/drawing/2014/main" id="{1D636A6E-5418-44F4-83CB-39CA41B5CF7A}"/>
              </a:ext>
            </a:extLst>
          </p:cNvPr>
          <p:cNvCxnSpPr>
            <a:stCxn id="3" idx="3"/>
            <a:endCxn id="11" idx="1"/>
          </p:cNvCxnSpPr>
          <p:nvPr/>
        </p:nvCxnSpPr>
        <p:spPr>
          <a:xfrm>
            <a:off x="6134100" y="3448050"/>
            <a:ext cx="1771650" cy="962025"/>
          </a:xfrm>
          <a:prstGeom prst="straightConnector1">
            <a:avLst/>
          </a:prstGeom>
          <a:ln w="21431">
            <a:solidFill>
              <a:srgbClr val="175CE5"/>
            </a:solidFill>
            <a:prstDash val="solid"/>
            <a:tailEnd type="arrow" w="med" len="med"/>
          </a:ln>
        </p:spPr>
      </p:cxnSp>
      <p:sp>
        <p:nvSpPr>
          <p:cNvPr id="17" name="Rectangle 16">
            <a:extLst>
              <a:ext uri="{FF2B5EF4-FFF2-40B4-BE49-F238E27FC236}">
                <a16:creationId xmlns:a16="http://schemas.microsoft.com/office/drawing/2014/main" id="{7CB6E6C3-C626-4246-B243-EABD5DC79497}"/>
              </a:ext>
            </a:extLst>
          </p:cNvPr>
          <p:cNvSpPr>
            <a:spLocks noGrp="1"/>
          </p:cNvSpPr>
          <p:nvPr/>
        </p:nvSpPr>
        <p:spPr>
          <a:xfrm>
            <a:off x="2476500" y="5143500"/>
            <a:ext cx="5905500" cy="381000"/>
          </a:xfrm>
          <a:prstGeom prst="rect">
            <a:avLst/>
          </a:prstGeom>
          <a:noFill/>
          <a:ln w="0">
            <a:noFill/>
            <a:prstDash val="solid"/>
          </a:ln>
        </p:spPr>
        <p:txBody>
          <a:bodyPr anchor="ctr"/>
          <a:lstStyle>
            <a:defPPr algn="ctr">
              <a:defRPr sz="1425" b="1">
                <a:solidFill>
                  <a:srgbClr val="008A91"/>
                </a:solidFill>
              </a:defRPr>
            </a:defPPr>
          </a:lstStyle>
          <a:p>
            <a:pPr algn="ctr">
              <a:defRPr sz="1425" b="1">
                <a:solidFill>
                  <a:srgbClr val="008A91"/>
                </a:solidFill>
              </a:defRPr>
            </a:pPr>
            <a:r>
              <a:rPr sz="1425" b="1">
                <a:solidFill>
                  <a:srgbClr val="008A91"/>
                </a:solidFill>
              </a:rPr>
              <a:t>The agent selects sources and can retrieve repeatedly</a:t>
            </a:r>
          </a:p>
        </p:txBody>
      </p:sp>
    </p:spTree>
    <p:extLst>
      <p:ext uri="{BB962C8B-B14F-4D97-AF65-F5344CB8AC3E}">
        <p14:creationId xmlns:p14="http://schemas.microsoft.com/office/powerpoint/2010/main" val="481876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1EB95EA-044B-4F94-8925-CC78538A19EF}"/>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4862247D-9705-42E3-944D-56908566F930}"/>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Research assistant example</a:t>
            </a:r>
          </a:p>
        </p:txBody>
      </p:sp>
      <p:sp>
        <p:nvSpPr>
          <p:cNvPr id="3" name="Rectangle 2">
            <a:extLst>
              <a:ext uri="{FF2B5EF4-FFF2-40B4-BE49-F238E27FC236}">
                <a16:creationId xmlns:a16="http://schemas.microsoft.com/office/drawing/2014/main" id="{BCEEBA11-2BC3-4869-9DE5-43C4FF06B53F}"/>
              </a:ext>
            </a:extLst>
          </p:cNvPr>
          <p:cNvSpPr>
            <a:spLocks noGrp="1"/>
          </p:cNvSpPr>
          <p:nvPr/>
        </p:nvSpPr>
        <p:spPr>
          <a:xfrm>
            <a:off x="762000" y="2590800"/>
            <a:ext cx="1619250" cy="323850"/>
          </a:xfrm>
          <a:prstGeom prst="rect">
            <a:avLst/>
          </a:prstGeom>
          <a:noFill/>
          <a:ln w="0">
            <a:noFill/>
            <a:prstDash val="solid"/>
          </a:ln>
        </p:spPr>
        <p:txBody>
          <a:bodyPr anchor="ctr"/>
          <a:lstStyle>
            <a:defPPr algn="l">
              <a:defRPr sz="1050" b="1">
                <a:solidFill>
                  <a:srgbClr val="175CE5"/>
                </a:solidFill>
              </a:defRPr>
            </a:defPPr>
          </a:lstStyle>
          <a:p>
            <a:pPr algn="l">
              <a:defRPr sz="1050" b="1">
                <a:solidFill>
                  <a:srgbClr val="175CE5"/>
                </a:solidFill>
              </a:defRPr>
            </a:pPr>
            <a:r>
              <a:rPr sz="1050" b="1">
                <a:solidFill>
                  <a:srgbClr val="175CE5"/>
                </a:solidFill>
              </a:rPr>
              <a:t>QUESTION</a:t>
            </a:r>
          </a:p>
        </p:txBody>
      </p:sp>
      <p:sp>
        <p:nvSpPr>
          <p:cNvPr id="4" name="Rectangle 3">
            <a:extLst>
              <a:ext uri="{FF2B5EF4-FFF2-40B4-BE49-F238E27FC236}">
                <a16:creationId xmlns:a16="http://schemas.microsoft.com/office/drawing/2014/main" id="{111A8CFA-6DAE-4AFD-93DA-2695DE6D4A5A}"/>
              </a:ext>
            </a:extLst>
          </p:cNvPr>
          <p:cNvSpPr>
            <a:spLocks noGrp="1"/>
          </p:cNvSpPr>
          <p:nvPr/>
        </p:nvSpPr>
        <p:spPr>
          <a:xfrm>
            <a:off x="762000" y="2952750"/>
            <a:ext cx="5810250" cy="647700"/>
          </a:xfrm>
          <a:prstGeom prst="rect">
            <a:avLst/>
          </a:prstGeom>
          <a:noFill/>
          <a:ln w="0">
            <a:noFill/>
            <a:prstDash val="solid"/>
          </a:ln>
        </p:spPr>
        <p:txBody>
          <a:bodyPr anchor="ctr"/>
          <a:lstStyle>
            <a:defPPr algn="l">
              <a:defRPr sz="1875" b="1">
                <a:solidFill>
                  <a:srgbClr val="203D67"/>
                </a:solidFill>
              </a:defRPr>
            </a:defPPr>
          </a:lstStyle>
          <a:p>
            <a:pPr algn="l">
              <a:defRPr sz="1875" b="1">
                <a:solidFill>
                  <a:srgbClr val="203D67"/>
                </a:solidFill>
              </a:defRPr>
            </a:pPr>
            <a:r>
              <a:rPr sz="1875" b="1">
                <a:solidFill>
                  <a:srgbClr val="203D67"/>
                </a:solidFill>
              </a:rPr>
              <a:t>Does the evidence justify testing this material in the laboratory?</a:t>
            </a:r>
          </a:p>
        </p:txBody>
      </p:sp>
      <p:sp>
        <p:nvSpPr>
          <p:cNvPr id="5" name="Rounded Rectangle 4">
            <a:extLst>
              <a:ext uri="{FF2B5EF4-FFF2-40B4-BE49-F238E27FC236}">
                <a16:creationId xmlns:a16="http://schemas.microsoft.com/office/drawing/2014/main" id="{E7D45BBC-7F32-48F9-82DD-0DEC97B302B1}"/>
              </a:ext>
            </a:extLst>
          </p:cNvPr>
          <p:cNvSpPr>
            <a:spLocks noGrp="1"/>
          </p:cNvSpPr>
          <p:nvPr/>
        </p:nvSpPr>
        <p:spPr>
          <a:xfrm>
            <a:off x="6953250" y="2686050"/>
            <a:ext cx="104775" cy="104775"/>
          </a:xfrm>
          <a:prstGeom prst="roundRect">
            <a:avLst>
              <a:gd name="adj" fmla="val 18182"/>
            </a:avLst>
          </a:prstGeom>
          <a:solidFill>
            <a:srgbClr val="175CE5"/>
          </a:solidFill>
          <a:ln w="0">
            <a:noFill/>
            <a:prstDash val="solid"/>
          </a:ln>
        </p:spPr>
        <p:txBody>
          <a:bodyPr/>
          <a:lstStyle/>
          <a:p>
            <a:endParaRPr lang="en-US"/>
          </a:p>
        </p:txBody>
      </p:sp>
      <p:sp>
        <p:nvSpPr>
          <p:cNvPr id="6" name="Rectangle 5">
            <a:extLst>
              <a:ext uri="{FF2B5EF4-FFF2-40B4-BE49-F238E27FC236}">
                <a16:creationId xmlns:a16="http://schemas.microsoft.com/office/drawing/2014/main" id="{EE8D9CCB-6D2B-4F85-BC98-E1725A2E6209}"/>
              </a:ext>
            </a:extLst>
          </p:cNvPr>
          <p:cNvSpPr>
            <a:spLocks noGrp="1"/>
          </p:cNvSpPr>
          <p:nvPr/>
        </p:nvSpPr>
        <p:spPr>
          <a:xfrm>
            <a:off x="7239000" y="2571750"/>
            <a:ext cx="3524250" cy="485775"/>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Search recent literature</a:t>
            </a:r>
          </a:p>
        </p:txBody>
      </p:sp>
      <p:sp>
        <p:nvSpPr>
          <p:cNvPr id="7" name="Rounded Rectangle 6">
            <a:extLst>
              <a:ext uri="{FF2B5EF4-FFF2-40B4-BE49-F238E27FC236}">
                <a16:creationId xmlns:a16="http://schemas.microsoft.com/office/drawing/2014/main" id="{53789B9A-4D26-4538-BDE8-6D36C28AF415}"/>
              </a:ext>
            </a:extLst>
          </p:cNvPr>
          <p:cNvSpPr>
            <a:spLocks noGrp="1"/>
          </p:cNvSpPr>
          <p:nvPr/>
        </p:nvSpPr>
        <p:spPr>
          <a:xfrm>
            <a:off x="6953250" y="3228975"/>
            <a:ext cx="104775" cy="104775"/>
          </a:xfrm>
          <a:prstGeom prst="roundRect">
            <a:avLst>
              <a:gd name="adj" fmla="val 18182"/>
            </a:avLst>
          </a:prstGeom>
          <a:solidFill>
            <a:srgbClr val="42BCC9"/>
          </a:solidFill>
          <a:ln w="0">
            <a:noFill/>
            <a:prstDash val="solid"/>
          </a:ln>
        </p:spPr>
        <p:txBody>
          <a:bodyPr/>
          <a:lstStyle/>
          <a:p>
            <a:endParaRPr lang="en-US"/>
          </a:p>
        </p:txBody>
      </p:sp>
      <p:sp>
        <p:nvSpPr>
          <p:cNvPr id="8" name="Rectangle 7">
            <a:extLst>
              <a:ext uri="{FF2B5EF4-FFF2-40B4-BE49-F238E27FC236}">
                <a16:creationId xmlns:a16="http://schemas.microsoft.com/office/drawing/2014/main" id="{826162BC-1E42-4138-BF94-4E9387280F10}"/>
              </a:ext>
            </a:extLst>
          </p:cNvPr>
          <p:cNvSpPr>
            <a:spLocks noGrp="1"/>
          </p:cNvSpPr>
          <p:nvPr/>
        </p:nvSpPr>
        <p:spPr>
          <a:xfrm>
            <a:off x="7239000" y="3114675"/>
            <a:ext cx="3524250" cy="485775"/>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Retrieve internal measurements</a:t>
            </a:r>
          </a:p>
        </p:txBody>
      </p:sp>
      <p:sp>
        <p:nvSpPr>
          <p:cNvPr id="9" name="Rounded Rectangle 8">
            <a:extLst>
              <a:ext uri="{FF2B5EF4-FFF2-40B4-BE49-F238E27FC236}">
                <a16:creationId xmlns:a16="http://schemas.microsoft.com/office/drawing/2014/main" id="{CB4BC00D-7949-4FCB-873F-61E84334088B}"/>
              </a:ext>
            </a:extLst>
          </p:cNvPr>
          <p:cNvSpPr>
            <a:spLocks noGrp="1"/>
          </p:cNvSpPr>
          <p:nvPr/>
        </p:nvSpPr>
        <p:spPr>
          <a:xfrm>
            <a:off x="6953250" y="3771900"/>
            <a:ext cx="104775" cy="104775"/>
          </a:xfrm>
          <a:prstGeom prst="roundRect">
            <a:avLst>
              <a:gd name="adj" fmla="val 18182"/>
            </a:avLst>
          </a:prstGeom>
          <a:solidFill>
            <a:srgbClr val="F4B900"/>
          </a:solidFill>
          <a:ln w="0">
            <a:noFill/>
            <a:prstDash val="solid"/>
          </a:ln>
        </p:spPr>
        <p:txBody>
          <a:bodyPr/>
          <a:lstStyle/>
          <a:p>
            <a:endParaRPr lang="en-US"/>
          </a:p>
        </p:txBody>
      </p:sp>
      <p:sp>
        <p:nvSpPr>
          <p:cNvPr id="10" name="Rectangle 9">
            <a:extLst>
              <a:ext uri="{FF2B5EF4-FFF2-40B4-BE49-F238E27FC236}">
                <a16:creationId xmlns:a16="http://schemas.microsoft.com/office/drawing/2014/main" id="{2E7BFC76-868D-4B8D-8A1F-3346B09108FF}"/>
              </a:ext>
            </a:extLst>
          </p:cNvPr>
          <p:cNvSpPr>
            <a:spLocks noGrp="1"/>
          </p:cNvSpPr>
          <p:nvPr/>
        </p:nvSpPr>
        <p:spPr>
          <a:xfrm>
            <a:off x="7239000" y="3657600"/>
            <a:ext cx="3524250" cy="485775"/>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Run a statistical check</a:t>
            </a:r>
          </a:p>
        </p:txBody>
      </p:sp>
      <p:sp>
        <p:nvSpPr>
          <p:cNvPr id="11" name="Rounded Rectangle 10">
            <a:extLst>
              <a:ext uri="{FF2B5EF4-FFF2-40B4-BE49-F238E27FC236}">
                <a16:creationId xmlns:a16="http://schemas.microsoft.com/office/drawing/2014/main" id="{4DDB9F68-68B8-4E9A-9ECA-030A2A9E73E9}"/>
              </a:ext>
            </a:extLst>
          </p:cNvPr>
          <p:cNvSpPr>
            <a:spLocks noGrp="1"/>
          </p:cNvSpPr>
          <p:nvPr/>
        </p:nvSpPr>
        <p:spPr>
          <a:xfrm>
            <a:off x="6953250" y="4314825"/>
            <a:ext cx="104775" cy="104775"/>
          </a:xfrm>
          <a:prstGeom prst="roundRect">
            <a:avLst>
              <a:gd name="adj" fmla="val 18182"/>
            </a:avLst>
          </a:prstGeom>
          <a:solidFill>
            <a:srgbClr val="EE7D5B"/>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10232CFD-6D8A-4D46-9950-F528E430E5F8}"/>
              </a:ext>
            </a:extLst>
          </p:cNvPr>
          <p:cNvSpPr>
            <a:spLocks noGrp="1"/>
          </p:cNvSpPr>
          <p:nvPr/>
        </p:nvSpPr>
        <p:spPr>
          <a:xfrm>
            <a:off x="7239000" y="4200525"/>
            <a:ext cx="3524250" cy="485775"/>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Compare evidence and uncertainty</a:t>
            </a:r>
          </a:p>
        </p:txBody>
      </p:sp>
      <p:sp>
        <p:nvSpPr>
          <p:cNvPr id="13" name="Rounded Rectangle 12">
            <a:extLst>
              <a:ext uri="{FF2B5EF4-FFF2-40B4-BE49-F238E27FC236}">
                <a16:creationId xmlns:a16="http://schemas.microsoft.com/office/drawing/2014/main" id="{36CA17BF-9801-4FDF-BC1F-9C8EBD5AD238}"/>
              </a:ext>
            </a:extLst>
          </p:cNvPr>
          <p:cNvSpPr>
            <a:spLocks noGrp="1"/>
          </p:cNvSpPr>
          <p:nvPr/>
        </p:nvSpPr>
        <p:spPr>
          <a:xfrm>
            <a:off x="6953250" y="4857750"/>
            <a:ext cx="104775" cy="104775"/>
          </a:xfrm>
          <a:prstGeom prst="roundRect">
            <a:avLst>
              <a:gd name="adj" fmla="val 18182"/>
            </a:avLst>
          </a:prstGeom>
          <a:solidFill>
            <a:srgbClr val="008A91"/>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0EC11FA6-A661-4913-949B-DC0B0D3C1858}"/>
              </a:ext>
            </a:extLst>
          </p:cNvPr>
          <p:cNvSpPr>
            <a:spLocks noGrp="1"/>
          </p:cNvSpPr>
          <p:nvPr/>
        </p:nvSpPr>
        <p:spPr>
          <a:xfrm>
            <a:off x="7239000" y="4743450"/>
            <a:ext cx="3524250" cy="485775"/>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Produce a cited recommendation</a:t>
            </a:r>
          </a:p>
        </p:txBody>
      </p:sp>
      <p:sp>
        <p:nvSpPr>
          <p:cNvPr id="15" name="Rectangle 14">
            <a:extLst>
              <a:ext uri="{FF2B5EF4-FFF2-40B4-BE49-F238E27FC236}">
                <a16:creationId xmlns:a16="http://schemas.microsoft.com/office/drawing/2014/main" id="{944FEB55-1478-47BE-93FC-F5EB94AACE1B}"/>
              </a:ext>
            </a:extLst>
          </p:cNvPr>
          <p:cNvSpPr>
            <a:spLocks noGrp="1"/>
          </p:cNvSpPr>
          <p:nvPr/>
        </p:nvSpPr>
        <p:spPr>
          <a:xfrm>
            <a:off x="1104900" y="4762500"/>
            <a:ext cx="5238750" cy="609600"/>
          </a:xfrm>
          <a:prstGeom prst="rect">
            <a:avLst/>
          </a:prstGeom>
          <a:noFill/>
          <a:ln w="0">
            <a:noFill/>
            <a:prstDash val="solid"/>
          </a:ln>
        </p:spPr>
        <p:txBody>
          <a:bodyPr anchor="ctr"/>
          <a:lstStyle>
            <a:defPPr algn="ctr">
              <a:defRPr sz="1425" b="1">
                <a:solidFill>
                  <a:srgbClr val="008A91"/>
                </a:solidFill>
              </a:defRPr>
            </a:defPPr>
          </a:lstStyle>
          <a:p>
            <a:pPr algn="ctr">
              <a:defRPr sz="1425" b="1">
                <a:solidFill>
                  <a:srgbClr val="008A91"/>
                </a:solidFill>
              </a:defRPr>
            </a:pPr>
            <a:r>
              <a:rPr sz="1425" b="1">
                <a:solidFill>
                  <a:srgbClr val="008A91"/>
                </a:solidFill>
              </a:rPr>
              <a:t>The agent coordinates evidence gathering. Domain experts still own the experimental decision.</a:t>
            </a:r>
          </a:p>
        </p:txBody>
      </p:sp>
    </p:spTree>
    <p:extLst>
      <p:ext uri="{BB962C8B-B14F-4D97-AF65-F5344CB8AC3E}">
        <p14:creationId xmlns:p14="http://schemas.microsoft.com/office/powerpoint/2010/main" val="1144523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EC26C553-AC9C-4918-995E-0D203671026A}"/>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AF7151F-B4BE-44DD-BDDE-D377B1D0A2B8}"/>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The smolagents architecture</a:t>
            </a:r>
          </a:p>
        </p:txBody>
      </p:sp>
      <p:sp>
        <p:nvSpPr>
          <p:cNvPr id="3" name="Rounded Rectangle 2">
            <a:extLst>
              <a:ext uri="{FF2B5EF4-FFF2-40B4-BE49-F238E27FC236}">
                <a16:creationId xmlns:a16="http://schemas.microsoft.com/office/drawing/2014/main" id="{DD6627AC-5231-40C3-A22E-266AD30A66FE}"/>
              </a:ext>
            </a:extLst>
          </p:cNvPr>
          <p:cNvSpPr>
            <a:spLocks noGrp="1"/>
          </p:cNvSpPr>
          <p:nvPr/>
        </p:nvSpPr>
        <p:spPr>
          <a:xfrm>
            <a:off x="800100" y="3333750"/>
            <a:ext cx="1333500" cy="685800"/>
          </a:xfrm>
          <a:prstGeom prst="roundRect">
            <a:avLst>
              <a:gd name="adj" fmla="val 16667"/>
            </a:avLst>
          </a:prstGeom>
          <a:solidFill>
            <a:srgbClr val="E7EEFC"/>
          </a:solidFill>
          <a:ln w="9525">
            <a:solidFill>
              <a:srgbClr val="B8C9E5"/>
            </a:solidFill>
            <a:prstDash val="solid"/>
          </a:ln>
        </p:spPr>
        <p:txBody>
          <a:bodyPr/>
          <a:lstStyle/>
          <a:p>
            <a:endParaRPr lang="en-US"/>
          </a:p>
        </p:txBody>
      </p:sp>
      <p:sp>
        <p:nvSpPr>
          <p:cNvPr id="4" name="Rectangle 3">
            <a:extLst>
              <a:ext uri="{FF2B5EF4-FFF2-40B4-BE49-F238E27FC236}">
                <a16:creationId xmlns:a16="http://schemas.microsoft.com/office/drawing/2014/main" id="{6B5B40E2-C29C-43C4-AAED-51A8749DB339}"/>
              </a:ext>
            </a:extLst>
          </p:cNvPr>
          <p:cNvSpPr>
            <a:spLocks noGrp="1"/>
          </p:cNvSpPr>
          <p:nvPr/>
        </p:nvSpPr>
        <p:spPr>
          <a:xfrm>
            <a:off x="876300" y="3390900"/>
            <a:ext cx="1181100" cy="5715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Model</a:t>
            </a:r>
          </a:p>
        </p:txBody>
      </p:sp>
      <p:sp>
        <p:nvSpPr>
          <p:cNvPr id="5" name="Rounded Rectangle 4">
            <a:extLst>
              <a:ext uri="{FF2B5EF4-FFF2-40B4-BE49-F238E27FC236}">
                <a16:creationId xmlns:a16="http://schemas.microsoft.com/office/drawing/2014/main" id="{229AB814-20F8-44DA-8C6F-90E5CA0AC7F8}"/>
              </a:ext>
            </a:extLst>
          </p:cNvPr>
          <p:cNvSpPr>
            <a:spLocks noGrp="1"/>
          </p:cNvSpPr>
          <p:nvPr/>
        </p:nvSpPr>
        <p:spPr>
          <a:xfrm>
            <a:off x="2990850" y="3143250"/>
            <a:ext cx="1619250" cy="1066800"/>
          </a:xfrm>
          <a:prstGeom prst="roundRect">
            <a:avLst>
              <a:gd name="adj" fmla="val 10714"/>
            </a:avLst>
          </a:prstGeom>
          <a:solidFill>
            <a:srgbClr val="E1F4F3"/>
          </a:solidFill>
          <a:ln w="9525">
            <a:solidFill>
              <a:srgbClr val="B8C9E5"/>
            </a:solidFill>
            <a:prstDash val="solid"/>
          </a:ln>
        </p:spPr>
        <p:txBody>
          <a:bodyPr/>
          <a:lstStyle/>
          <a:p>
            <a:endParaRPr lang="en-US"/>
          </a:p>
        </p:txBody>
      </p:sp>
      <p:sp>
        <p:nvSpPr>
          <p:cNvPr id="6" name="Rectangle 5">
            <a:extLst>
              <a:ext uri="{FF2B5EF4-FFF2-40B4-BE49-F238E27FC236}">
                <a16:creationId xmlns:a16="http://schemas.microsoft.com/office/drawing/2014/main" id="{5810DAD9-3EE0-41AB-8DAB-4FD9FF1B1146}"/>
              </a:ext>
            </a:extLst>
          </p:cNvPr>
          <p:cNvSpPr>
            <a:spLocks noGrp="1"/>
          </p:cNvSpPr>
          <p:nvPr/>
        </p:nvSpPr>
        <p:spPr>
          <a:xfrm>
            <a:off x="3067050" y="3200400"/>
            <a:ext cx="1466850" cy="9525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Multi-step</a:t>
            </a:r>
          </a:p>
          <a:p>
            <a:pPr algn="ctr">
              <a:defRPr sz="1350" b="1">
                <a:solidFill>
                  <a:srgbClr val="203D67"/>
                </a:solidFill>
              </a:defRPr>
            </a:pPr>
            <a:r>
              <a:rPr sz="1350" b="1">
                <a:solidFill>
                  <a:srgbClr val="203D67"/>
                </a:solidFill>
              </a:rPr>
              <a:t>runtime</a:t>
            </a:r>
          </a:p>
        </p:txBody>
      </p:sp>
      <p:sp>
        <p:nvSpPr>
          <p:cNvPr id="7" name="Rounded Rectangle 6">
            <a:extLst>
              <a:ext uri="{FF2B5EF4-FFF2-40B4-BE49-F238E27FC236}">
                <a16:creationId xmlns:a16="http://schemas.microsoft.com/office/drawing/2014/main" id="{B3E2D60C-5BDA-484A-AA78-65C19528E3DB}"/>
              </a:ext>
            </a:extLst>
          </p:cNvPr>
          <p:cNvSpPr>
            <a:spLocks noGrp="1"/>
          </p:cNvSpPr>
          <p:nvPr/>
        </p:nvSpPr>
        <p:spPr>
          <a:xfrm>
            <a:off x="5562600" y="2724150"/>
            <a:ext cx="1428750" cy="647700"/>
          </a:xfrm>
          <a:prstGeom prst="roundRect">
            <a:avLst>
              <a:gd name="adj" fmla="val 17647"/>
            </a:avLst>
          </a:prstGeom>
          <a:solidFill>
            <a:srgbClr val="FFF2C2"/>
          </a:solidFill>
          <a:ln w="9525">
            <a:solidFill>
              <a:srgbClr val="B8C9E5"/>
            </a:solidFill>
            <a:prstDash val="solid"/>
          </a:ln>
        </p:spPr>
        <p:txBody>
          <a:bodyPr/>
          <a:lstStyle/>
          <a:p>
            <a:endParaRPr lang="en-US"/>
          </a:p>
        </p:txBody>
      </p:sp>
      <p:sp>
        <p:nvSpPr>
          <p:cNvPr id="8" name="Rectangle 7">
            <a:extLst>
              <a:ext uri="{FF2B5EF4-FFF2-40B4-BE49-F238E27FC236}">
                <a16:creationId xmlns:a16="http://schemas.microsoft.com/office/drawing/2014/main" id="{7EEBC942-58D7-435B-84E9-1DD3A12089FC}"/>
              </a:ext>
            </a:extLst>
          </p:cNvPr>
          <p:cNvSpPr>
            <a:spLocks noGrp="1"/>
          </p:cNvSpPr>
          <p:nvPr/>
        </p:nvSpPr>
        <p:spPr>
          <a:xfrm>
            <a:off x="5638800" y="2781300"/>
            <a:ext cx="1276350" cy="5334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Tools</a:t>
            </a:r>
          </a:p>
        </p:txBody>
      </p:sp>
      <p:sp>
        <p:nvSpPr>
          <p:cNvPr id="9" name="Rounded Rectangle 8">
            <a:extLst>
              <a:ext uri="{FF2B5EF4-FFF2-40B4-BE49-F238E27FC236}">
                <a16:creationId xmlns:a16="http://schemas.microsoft.com/office/drawing/2014/main" id="{11BBDB37-398B-4779-BD61-EA36857BACAF}"/>
              </a:ext>
            </a:extLst>
          </p:cNvPr>
          <p:cNvSpPr>
            <a:spLocks noGrp="1"/>
          </p:cNvSpPr>
          <p:nvPr/>
        </p:nvSpPr>
        <p:spPr>
          <a:xfrm>
            <a:off x="5562600" y="3981450"/>
            <a:ext cx="1428750" cy="647700"/>
          </a:xfrm>
          <a:prstGeom prst="roundRect">
            <a:avLst>
              <a:gd name="adj" fmla="val 17647"/>
            </a:avLst>
          </a:prstGeom>
          <a:solidFill>
            <a:srgbClr val="FDE8E1"/>
          </a:solidFill>
          <a:ln w="9525">
            <a:solidFill>
              <a:srgbClr val="B8C9E5"/>
            </a:solidFill>
            <a:prstDash val="solid"/>
          </a:ln>
        </p:spPr>
        <p:txBody>
          <a:bodyPr/>
          <a:lstStyle/>
          <a:p>
            <a:endParaRPr lang="en-US"/>
          </a:p>
        </p:txBody>
      </p:sp>
      <p:sp>
        <p:nvSpPr>
          <p:cNvPr id="10" name="Rectangle 9">
            <a:extLst>
              <a:ext uri="{FF2B5EF4-FFF2-40B4-BE49-F238E27FC236}">
                <a16:creationId xmlns:a16="http://schemas.microsoft.com/office/drawing/2014/main" id="{CB0575E1-413D-4F26-81FA-0CB6E1B2AAAA}"/>
              </a:ext>
            </a:extLst>
          </p:cNvPr>
          <p:cNvSpPr>
            <a:spLocks noGrp="1"/>
          </p:cNvSpPr>
          <p:nvPr/>
        </p:nvSpPr>
        <p:spPr>
          <a:xfrm>
            <a:off x="5638800" y="4038600"/>
            <a:ext cx="1276350" cy="5334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Memory</a:t>
            </a:r>
          </a:p>
        </p:txBody>
      </p:sp>
      <p:sp>
        <p:nvSpPr>
          <p:cNvPr id="11" name="Rounded Rectangle 10">
            <a:extLst>
              <a:ext uri="{FF2B5EF4-FFF2-40B4-BE49-F238E27FC236}">
                <a16:creationId xmlns:a16="http://schemas.microsoft.com/office/drawing/2014/main" id="{25C9F5F2-EEFE-4D77-905E-A1D67FF8BE0B}"/>
              </a:ext>
            </a:extLst>
          </p:cNvPr>
          <p:cNvSpPr>
            <a:spLocks noGrp="1"/>
          </p:cNvSpPr>
          <p:nvPr/>
        </p:nvSpPr>
        <p:spPr>
          <a:xfrm>
            <a:off x="7962900" y="3333750"/>
            <a:ext cx="1428750" cy="685800"/>
          </a:xfrm>
          <a:prstGeom prst="roundRect">
            <a:avLst>
              <a:gd name="adj" fmla="val 16667"/>
            </a:avLst>
          </a:prstGeom>
          <a:solidFill>
            <a:srgbClr val="E7EEFC"/>
          </a:solidFill>
          <a:ln w="9525">
            <a:solidFill>
              <a:srgbClr val="B8C9E5"/>
            </a:solidFill>
            <a:prstDash val="solid"/>
          </a:ln>
        </p:spPr>
        <p:txBody>
          <a:bodyPr/>
          <a:lstStyle/>
          <a:p>
            <a:endParaRPr lang="en-US"/>
          </a:p>
        </p:txBody>
      </p:sp>
      <p:sp>
        <p:nvSpPr>
          <p:cNvPr id="12" name="Rectangle 11">
            <a:extLst>
              <a:ext uri="{FF2B5EF4-FFF2-40B4-BE49-F238E27FC236}">
                <a16:creationId xmlns:a16="http://schemas.microsoft.com/office/drawing/2014/main" id="{1073759E-D0A4-4656-B5E8-E6694E086B6C}"/>
              </a:ext>
            </a:extLst>
          </p:cNvPr>
          <p:cNvSpPr>
            <a:spLocks noGrp="1"/>
          </p:cNvSpPr>
          <p:nvPr/>
        </p:nvSpPr>
        <p:spPr>
          <a:xfrm>
            <a:off x="8039100" y="3390900"/>
            <a:ext cx="1276350" cy="57150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Result</a:t>
            </a:r>
          </a:p>
        </p:txBody>
      </p:sp>
      <p:cxnSp>
        <p:nvCxnSpPr>
          <p:cNvPr id="13" name="Straight Arrow Connector 12">
            <a:extLst>
              <a:ext uri="{FF2B5EF4-FFF2-40B4-BE49-F238E27FC236}">
                <a16:creationId xmlns:a16="http://schemas.microsoft.com/office/drawing/2014/main" id="{D4BFB35C-CF1B-4876-8E32-215E0A618646}"/>
              </a:ext>
            </a:extLst>
          </p:cNvPr>
          <p:cNvCxnSpPr>
            <a:stCxn id="3" idx="3"/>
            <a:endCxn id="5" idx="1"/>
          </p:cNvCxnSpPr>
          <p:nvPr/>
        </p:nvCxnSpPr>
        <p:spPr>
          <a:xfrm>
            <a:off x="2133600" y="3676650"/>
            <a:ext cx="857250" cy="0"/>
          </a:xfrm>
          <a:prstGeom prst="straightConnector1">
            <a:avLst/>
          </a:prstGeom>
          <a:ln w="21431">
            <a:solidFill>
              <a:srgbClr val="175CE5"/>
            </a:solidFill>
            <a:prstDash val="solid"/>
            <a:tailEnd type="arrow" w="med" len="med"/>
          </a:ln>
        </p:spPr>
      </p:cxnSp>
      <p:cxnSp>
        <p:nvCxnSpPr>
          <p:cNvPr id="14" name="Straight Arrow Connector 13">
            <a:extLst>
              <a:ext uri="{FF2B5EF4-FFF2-40B4-BE49-F238E27FC236}">
                <a16:creationId xmlns:a16="http://schemas.microsoft.com/office/drawing/2014/main" id="{A0214902-BB7C-4E15-860F-6B9BB6442DD7}"/>
              </a:ext>
            </a:extLst>
          </p:cNvPr>
          <p:cNvCxnSpPr>
            <a:stCxn id="5" idx="3"/>
            <a:endCxn id="7" idx="1"/>
          </p:cNvCxnSpPr>
          <p:nvPr/>
        </p:nvCxnSpPr>
        <p:spPr>
          <a:xfrm flipV="1">
            <a:off x="4610100" y="3048000"/>
            <a:ext cx="952500" cy="628650"/>
          </a:xfrm>
          <a:prstGeom prst="straightConnector1">
            <a:avLst/>
          </a:prstGeom>
          <a:ln w="21431">
            <a:solidFill>
              <a:srgbClr val="175CE5"/>
            </a:solidFill>
            <a:prstDash val="solid"/>
            <a:tailEnd type="arrow" w="med" len="med"/>
          </a:ln>
        </p:spPr>
      </p:cxnSp>
      <p:cxnSp>
        <p:nvCxnSpPr>
          <p:cNvPr id="15" name="Straight Arrow Connector 14">
            <a:extLst>
              <a:ext uri="{FF2B5EF4-FFF2-40B4-BE49-F238E27FC236}">
                <a16:creationId xmlns:a16="http://schemas.microsoft.com/office/drawing/2014/main" id="{13DD51B3-EDD0-488C-9D31-04FF72F462BA}"/>
              </a:ext>
            </a:extLst>
          </p:cNvPr>
          <p:cNvCxnSpPr>
            <a:stCxn id="5" idx="3"/>
            <a:endCxn id="9" idx="1"/>
          </p:cNvCxnSpPr>
          <p:nvPr/>
        </p:nvCxnSpPr>
        <p:spPr>
          <a:xfrm>
            <a:off x="4610100" y="3676650"/>
            <a:ext cx="952500" cy="628650"/>
          </a:xfrm>
          <a:prstGeom prst="straightConnector1">
            <a:avLst/>
          </a:prstGeom>
          <a:ln w="21431">
            <a:solidFill>
              <a:srgbClr val="175CE5"/>
            </a:solidFill>
            <a:prstDash val="solid"/>
            <a:tailEnd type="arrow" w="med" len="med"/>
          </a:ln>
        </p:spPr>
      </p:cxnSp>
      <p:cxnSp>
        <p:nvCxnSpPr>
          <p:cNvPr id="16" name="Straight Arrow Connector 15">
            <a:extLst>
              <a:ext uri="{FF2B5EF4-FFF2-40B4-BE49-F238E27FC236}">
                <a16:creationId xmlns:a16="http://schemas.microsoft.com/office/drawing/2014/main" id="{DE7C5147-26A8-4214-8A57-7F1CB0F80BDC}"/>
              </a:ext>
            </a:extLst>
          </p:cNvPr>
          <p:cNvCxnSpPr>
            <a:stCxn id="5" idx="3"/>
            <a:endCxn id="11" idx="1"/>
          </p:cNvCxnSpPr>
          <p:nvPr/>
        </p:nvCxnSpPr>
        <p:spPr>
          <a:xfrm>
            <a:off x="4610100" y="3676650"/>
            <a:ext cx="3352800" cy="0"/>
          </a:xfrm>
          <a:prstGeom prst="straightConnector1">
            <a:avLst/>
          </a:prstGeom>
          <a:ln w="21431">
            <a:solidFill>
              <a:srgbClr val="175CE5"/>
            </a:solidFill>
            <a:prstDash val="solid"/>
            <a:tailEnd type="arrow" w="med" len="med"/>
          </a:ln>
        </p:spPr>
      </p:cxnSp>
      <p:sp>
        <p:nvSpPr>
          <p:cNvPr id="17" name="Rectangle 16">
            <a:extLst>
              <a:ext uri="{FF2B5EF4-FFF2-40B4-BE49-F238E27FC236}">
                <a16:creationId xmlns:a16="http://schemas.microsoft.com/office/drawing/2014/main" id="{D2B3CBB0-57FA-44DC-9935-5557A4D3844A}"/>
              </a:ext>
            </a:extLst>
          </p:cNvPr>
          <p:cNvSpPr>
            <a:spLocks noGrp="1"/>
          </p:cNvSpPr>
          <p:nvPr/>
        </p:nvSpPr>
        <p:spPr>
          <a:xfrm>
            <a:off x="2038350" y="5048250"/>
            <a:ext cx="7239000" cy="419100"/>
          </a:xfrm>
          <a:prstGeom prst="rect">
            <a:avLst/>
          </a:prstGeom>
          <a:noFill/>
          <a:ln w="0">
            <a:noFill/>
            <a:prstDash val="solid"/>
          </a:ln>
        </p:spPr>
        <p:txBody>
          <a:bodyPr anchor="ctr"/>
          <a:lstStyle>
            <a:defPPr algn="ctr">
              <a:defRPr sz="1425" b="1">
                <a:solidFill>
                  <a:srgbClr val="008A91"/>
                </a:solidFill>
              </a:defRPr>
            </a:defPPr>
          </a:lstStyle>
          <a:p>
            <a:pPr algn="ctr">
              <a:defRPr sz="1425" b="1">
                <a:solidFill>
                  <a:srgbClr val="008A91"/>
                </a:solidFill>
              </a:defRPr>
            </a:pPr>
            <a:r>
              <a:rPr sz="1425" b="1">
                <a:solidFill>
                  <a:srgbClr val="008A91"/>
                </a:solidFill>
              </a:rPr>
              <a:t>Agent type determines whether actions are expressed as code or structured tool calls</a:t>
            </a:r>
          </a:p>
        </p:txBody>
      </p:sp>
    </p:spTree>
    <p:extLst>
      <p:ext uri="{BB962C8B-B14F-4D97-AF65-F5344CB8AC3E}">
        <p14:creationId xmlns:p14="http://schemas.microsoft.com/office/powerpoint/2010/main" val="2031914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9BD5EC9-AE38-4845-B6DB-A3B90DE7E41D}"/>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9C0D5DC3-56B2-4110-B81A-2A36DC85CE7C}"/>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A minimal tool-calling agent</a:t>
            </a:r>
          </a:p>
        </p:txBody>
      </p:sp>
      <p:sp>
        <p:nvSpPr>
          <p:cNvPr id="3" name="Rounded Rectangle 2">
            <a:extLst>
              <a:ext uri="{FF2B5EF4-FFF2-40B4-BE49-F238E27FC236}">
                <a16:creationId xmlns:a16="http://schemas.microsoft.com/office/drawing/2014/main" id="{98F2EC58-653D-490D-AE5D-310C6A7138F7}"/>
              </a:ext>
            </a:extLst>
          </p:cNvPr>
          <p:cNvSpPr>
            <a:spLocks noGrp="1"/>
          </p:cNvSpPr>
          <p:nvPr/>
        </p:nvSpPr>
        <p:spPr>
          <a:xfrm>
            <a:off x="704850" y="2457450"/>
            <a:ext cx="7239000" cy="3124200"/>
          </a:xfrm>
          <a:prstGeom prst="roundRect">
            <a:avLst>
              <a:gd name="adj" fmla="val 3659"/>
            </a:avLst>
          </a:prstGeom>
          <a:solidFill>
            <a:srgbClr val="F5F7FB"/>
          </a:solidFill>
          <a:ln w="9525">
            <a:solidFill>
              <a:srgbClr val="B8C9E5"/>
            </a:solidFill>
            <a:prstDash val="solid"/>
          </a:ln>
        </p:spPr>
        <p:txBody>
          <a:bodyPr/>
          <a:lstStyle/>
          <a:p>
            <a:endParaRPr lang="en-US"/>
          </a:p>
        </p:txBody>
      </p:sp>
      <p:sp>
        <p:nvSpPr>
          <p:cNvPr id="4" name="Rectangle 3">
            <a:extLst>
              <a:ext uri="{FF2B5EF4-FFF2-40B4-BE49-F238E27FC236}">
                <a16:creationId xmlns:a16="http://schemas.microsoft.com/office/drawing/2014/main" id="{5045CCC3-2DB1-4C7A-A6E7-7492E13C50FA}"/>
              </a:ext>
            </a:extLst>
          </p:cNvPr>
          <p:cNvSpPr>
            <a:spLocks noGrp="1"/>
          </p:cNvSpPr>
          <p:nvPr/>
        </p:nvSpPr>
        <p:spPr>
          <a:xfrm>
            <a:off x="933450" y="2609850"/>
            <a:ext cx="6762750" cy="2781300"/>
          </a:xfrm>
          <a:prstGeom prst="rect">
            <a:avLst/>
          </a:prstGeom>
          <a:noFill/>
          <a:ln w="0">
            <a:noFill/>
            <a:prstDash val="solid"/>
          </a:ln>
        </p:spPr>
        <p:txBody>
          <a:bodyPr anchor="t"/>
          <a:lstStyle>
            <a:defPPr algn="l">
              <a:defRPr sz="1125" b="0">
                <a:solidFill>
                  <a:srgbClr val="223047"/>
                </a:solidFill>
              </a:defRPr>
            </a:defPPr>
          </a:lstStyle>
          <a:p>
            <a:pPr algn="l">
              <a:defRPr sz="1125" b="0">
                <a:solidFill>
                  <a:srgbClr val="223047"/>
                </a:solidFill>
              </a:defRPr>
            </a:pPr>
            <a:r>
              <a:rPr sz="1125" b="0">
                <a:solidFill>
                  <a:srgbClr val="223047"/>
                </a:solidFill>
              </a:rPr>
              <a:t>from smolagents import ToolCallingAgent, InferenceClientModel, tool</a:t>
            </a:r>
          </a:p>
          <a:p>
            <a:endParaRPr sz="1125" b="0">
              <a:solidFill>
                <a:srgbClr val="223047"/>
              </a:solidFill>
            </a:endParaRPr>
          </a:p>
          <a:p>
            <a:pPr algn="l">
              <a:defRPr sz="1125" b="0">
                <a:solidFill>
                  <a:srgbClr val="223047"/>
                </a:solidFill>
              </a:defRPr>
            </a:pPr>
            <a:r>
              <a:rPr sz="1125" b="0">
                <a:solidFill>
                  <a:srgbClr val="223047"/>
                </a:solidFill>
              </a:rPr>
              <a:t>@tool</a:t>
            </a:r>
          </a:p>
          <a:p>
            <a:pPr algn="l">
              <a:defRPr sz="1125" b="0">
                <a:solidFill>
                  <a:srgbClr val="223047"/>
                </a:solidFill>
              </a:defRPr>
            </a:pPr>
            <a:r>
              <a:rPr sz="1125" b="0">
                <a:solidFill>
                  <a:srgbClr val="223047"/>
                </a:solidFill>
              </a:rPr>
              <a:t>def search_papers(query: str) -&gt; str:</a:t>
            </a:r>
          </a:p>
          <a:p>
            <a:pPr algn="l">
              <a:defRPr sz="1125" b="0">
                <a:solidFill>
                  <a:srgbClr val="223047"/>
                </a:solidFill>
              </a:defRPr>
            </a:pPr>
            <a:r>
              <a:rPr sz="1125" b="0">
                <a:solidFill>
                  <a:srgbClr val="223047"/>
                </a:solidFill>
              </a:rPr>
              <a:t>    """Search a literature index for a query."""</a:t>
            </a:r>
          </a:p>
          <a:p>
            <a:pPr algn="l">
              <a:defRPr sz="1125" b="0">
                <a:solidFill>
                  <a:srgbClr val="223047"/>
                </a:solidFill>
              </a:defRPr>
            </a:pPr>
            <a:r>
              <a:rPr sz="1125" b="0">
                <a:solidFill>
                  <a:srgbClr val="223047"/>
                </a:solidFill>
              </a:rPr>
              <a:t>    return run_search(query)</a:t>
            </a:r>
          </a:p>
          <a:p>
            <a:endParaRPr sz="1125" b="0">
              <a:solidFill>
                <a:srgbClr val="223047"/>
              </a:solidFill>
            </a:endParaRPr>
          </a:p>
          <a:p>
            <a:pPr algn="l">
              <a:defRPr sz="1125" b="0">
                <a:solidFill>
                  <a:srgbClr val="223047"/>
                </a:solidFill>
              </a:defRPr>
            </a:pPr>
            <a:r>
              <a:rPr sz="1125" b="0">
                <a:solidFill>
                  <a:srgbClr val="223047"/>
                </a:solidFill>
              </a:rPr>
              <a:t>agent = ToolCallingAgent(</a:t>
            </a:r>
          </a:p>
          <a:p>
            <a:pPr algn="l">
              <a:defRPr sz="1125" b="0">
                <a:solidFill>
                  <a:srgbClr val="223047"/>
                </a:solidFill>
              </a:defRPr>
            </a:pPr>
            <a:r>
              <a:rPr sz="1125" b="0">
                <a:solidFill>
                  <a:srgbClr val="223047"/>
                </a:solidFill>
              </a:rPr>
              <a:t>    tools=[search_papers],</a:t>
            </a:r>
          </a:p>
          <a:p>
            <a:pPr algn="l">
              <a:defRPr sz="1125" b="0">
                <a:solidFill>
                  <a:srgbClr val="223047"/>
                </a:solidFill>
              </a:defRPr>
            </a:pPr>
            <a:r>
              <a:rPr sz="1125" b="0">
                <a:solidFill>
                  <a:srgbClr val="223047"/>
                </a:solidFill>
              </a:rPr>
              <a:t>    model=InferenceClientModel(),</a:t>
            </a:r>
          </a:p>
          <a:p>
            <a:pPr algn="l">
              <a:defRPr sz="1125" b="0">
                <a:solidFill>
                  <a:srgbClr val="223047"/>
                </a:solidFill>
              </a:defRPr>
            </a:pPr>
            <a:r>
              <a:rPr sz="1125" b="0">
                <a:solidFill>
                  <a:srgbClr val="223047"/>
                </a:solidFill>
              </a:rPr>
              <a:t>    max_steps=6,</a:t>
            </a:r>
          </a:p>
          <a:p>
            <a:pPr algn="l">
              <a:defRPr sz="1125" b="0">
                <a:solidFill>
                  <a:srgbClr val="223047"/>
                </a:solidFill>
              </a:defRPr>
            </a:pPr>
            <a:r>
              <a:rPr sz="1125" b="0">
                <a:solidFill>
                  <a:srgbClr val="223047"/>
                </a:solidFill>
              </a:rPr>
              <a:t>)</a:t>
            </a:r>
          </a:p>
          <a:p>
            <a:endParaRPr sz="1125" b="0">
              <a:solidFill>
                <a:srgbClr val="223047"/>
              </a:solidFill>
            </a:endParaRPr>
          </a:p>
          <a:p>
            <a:pPr algn="l">
              <a:defRPr sz="1125" b="0">
                <a:solidFill>
                  <a:srgbClr val="223047"/>
                </a:solidFill>
              </a:defRPr>
            </a:pPr>
            <a:r>
              <a:rPr sz="1125" b="0">
                <a:solidFill>
                  <a:srgbClr val="223047"/>
                </a:solidFill>
              </a:rPr>
              <a:t>result = agent.run("Find recent evidence on solid electrolytes")</a:t>
            </a:r>
          </a:p>
        </p:txBody>
      </p:sp>
      <p:sp>
        <p:nvSpPr>
          <p:cNvPr id="5" name="Rectangle 4">
            <a:extLst>
              <a:ext uri="{FF2B5EF4-FFF2-40B4-BE49-F238E27FC236}">
                <a16:creationId xmlns:a16="http://schemas.microsoft.com/office/drawing/2014/main" id="{BEBFF212-9CF0-4972-B5E7-0F57F38C9048}"/>
              </a:ext>
            </a:extLst>
          </p:cNvPr>
          <p:cNvSpPr>
            <a:spLocks noGrp="1"/>
          </p:cNvSpPr>
          <p:nvPr/>
        </p:nvSpPr>
        <p:spPr>
          <a:xfrm>
            <a:off x="8401050" y="2647950"/>
            <a:ext cx="2476500" cy="323850"/>
          </a:xfrm>
          <a:prstGeom prst="rect">
            <a:avLst/>
          </a:prstGeom>
          <a:noFill/>
          <a:ln w="0">
            <a:noFill/>
            <a:prstDash val="solid"/>
          </a:ln>
        </p:spPr>
        <p:txBody>
          <a:bodyPr anchor="ctr"/>
          <a:lstStyle>
            <a:defPPr algn="l">
              <a:defRPr sz="1500" b="1">
                <a:solidFill>
                  <a:srgbClr val="203D67"/>
                </a:solidFill>
              </a:defRPr>
            </a:defPPr>
          </a:lstStyle>
          <a:p>
            <a:pPr algn="l">
              <a:defRPr sz="1500" b="1">
                <a:solidFill>
                  <a:srgbClr val="203D67"/>
                </a:solidFill>
              </a:defRPr>
            </a:pPr>
            <a:r>
              <a:rPr sz="1500" b="1">
                <a:solidFill>
                  <a:srgbClr val="203D67"/>
                </a:solidFill>
              </a:rPr>
              <a:t>Key controls</a:t>
            </a:r>
          </a:p>
        </p:txBody>
      </p:sp>
      <p:sp>
        <p:nvSpPr>
          <p:cNvPr id="6" name="Rounded Rectangle 5">
            <a:extLst>
              <a:ext uri="{FF2B5EF4-FFF2-40B4-BE49-F238E27FC236}">
                <a16:creationId xmlns:a16="http://schemas.microsoft.com/office/drawing/2014/main" id="{6900AFD2-D888-49AE-9AA0-30CA4F6D1F7D}"/>
              </a:ext>
            </a:extLst>
          </p:cNvPr>
          <p:cNvSpPr>
            <a:spLocks noGrp="1"/>
          </p:cNvSpPr>
          <p:nvPr/>
        </p:nvSpPr>
        <p:spPr>
          <a:xfrm>
            <a:off x="8420100" y="3257550"/>
            <a:ext cx="104775" cy="104775"/>
          </a:xfrm>
          <a:prstGeom prst="roundRect">
            <a:avLst>
              <a:gd name="adj" fmla="val 18182"/>
            </a:avLst>
          </a:prstGeom>
          <a:solidFill>
            <a:srgbClr val="175CE5"/>
          </a:solidFill>
          <a:ln w="0">
            <a:noFill/>
            <a:prstDash val="solid"/>
          </a:ln>
        </p:spPr>
        <p:txBody>
          <a:bodyPr/>
          <a:lstStyle/>
          <a:p>
            <a:endParaRPr lang="en-US"/>
          </a:p>
        </p:txBody>
      </p:sp>
      <p:sp>
        <p:nvSpPr>
          <p:cNvPr id="7" name="Rectangle 6">
            <a:extLst>
              <a:ext uri="{FF2B5EF4-FFF2-40B4-BE49-F238E27FC236}">
                <a16:creationId xmlns:a16="http://schemas.microsoft.com/office/drawing/2014/main" id="{2C3E2FAD-1EC3-4BEA-AEE8-91357D84818D}"/>
              </a:ext>
            </a:extLst>
          </p:cNvPr>
          <p:cNvSpPr>
            <a:spLocks noGrp="1"/>
          </p:cNvSpPr>
          <p:nvPr/>
        </p:nvSpPr>
        <p:spPr>
          <a:xfrm>
            <a:off x="8705850" y="3143250"/>
            <a:ext cx="2476500" cy="495300"/>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Typed tool</a:t>
            </a:r>
          </a:p>
        </p:txBody>
      </p:sp>
      <p:sp>
        <p:nvSpPr>
          <p:cNvPr id="8" name="Rounded Rectangle 7">
            <a:extLst>
              <a:ext uri="{FF2B5EF4-FFF2-40B4-BE49-F238E27FC236}">
                <a16:creationId xmlns:a16="http://schemas.microsoft.com/office/drawing/2014/main" id="{54D6F0A5-EEBF-4090-BD16-4C24C23BE3E9}"/>
              </a:ext>
            </a:extLst>
          </p:cNvPr>
          <p:cNvSpPr>
            <a:spLocks noGrp="1"/>
          </p:cNvSpPr>
          <p:nvPr/>
        </p:nvSpPr>
        <p:spPr>
          <a:xfrm>
            <a:off x="8420100" y="3810000"/>
            <a:ext cx="104775" cy="104775"/>
          </a:xfrm>
          <a:prstGeom prst="roundRect">
            <a:avLst>
              <a:gd name="adj" fmla="val 18182"/>
            </a:avLst>
          </a:prstGeom>
          <a:solidFill>
            <a:srgbClr val="42BCC9"/>
          </a:solidFill>
          <a:ln w="0">
            <a:noFill/>
            <a:prstDash val="solid"/>
          </a:ln>
        </p:spPr>
        <p:txBody>
          <a:bodyPr/>
          <a:lstStyle/>
          <a:p>
            <a:endParaRPr lang="en-US"/>
          </a:p>
        </p:txBody>
      </p:sp>
      <p:sp>
        <p:nvSpPr>
          <p:cNvPr id="9" name="Rectangle 8">
            <a:extLst>
              <a:ext uri="{FF2B5EF4-FFF2-40B4-BE49-F238E27FC236}">
                <a16:creationId xmlns:a16="http://schemas.microsoft.com/office/drawing/2014/main" id="{7F15CDB1-CF13-4414-B746-381BF3F6044D}"/>
              </a:ext>
            </a:extLst>
          </p:cNvPr>
          <p:cNvSpPr>
            <a:spLocks noGrp="1"/>
          </p:cNvSpPr>
          <p:nvPr/>
        </p:nvSpPr>
        <p:spPr>
          <a:xfrm>
            <a:off x="8705850" y="3695700"/>
            <a:ext cx="2476500" cy="495300"/>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Explicit tool list</a:t>
            </a:r>
          </a:p>
        </p:txBody>
      </p:sp>
      <p:sp>
        <p:nvSpPr>
          <p:cNvPr id="10" name="Rounded Rectangle 9">
            <a:extLst>
              <a:ext uri="{FF2B5EF4-FFF2-40B4-BE49-F238E27FC236}">
                <a16:creationId xmlns:a16="http://schemas.microsoft.com/office/drawing/2014/main" id="{09A753D2-2F16-4EFD-880C-88B0CC2B7AC3}"/>
              </a:ext>
            </a:extLst>
          </p:cNvPr>
          <p:cNvSpPr>
            <a:spLocks noGrp="1"/>
          </p:cNvSpPr>
          <p:nvPr/>
        </p:nvSpPr>
        <p:spPr>
          <a:xfrm>
            <a:off x="8420100" y="4362450"/>
            <a:ext cx="104775" cy="104775"/>
          </a:xfrm>
          <a:prstGeom prst="roundRect">
            <a:avLst>
              <a:gd name="adj" fmla="val 18182"/>
            </a:avLst>
          </a:prstGeom>
          <a:solidFill>
            <a:srgbClr val="F4B900"/>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9B08C64C-EAD9-428F-A7F5-AAE7C90A6AB2}"/>
              </a:ext>
            </a:extLst>
          </p:cNvPr>
          <p:cNvSpPr>
            <a:spLocks noGrp="1"/>
          </p:cNvSpPr>
          <p:nvPr/>
        </p:nvSpPr>
        <p:spPr>
          <a:xfrm>
            <a:off x="8705850" y="4248150"/>
            <a:ext cx="2476500" cy="495300"/>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Step limit</a:t>
            </a:r>
          </a:p>
        </p:txBody>
      </p:sp>
      <p:sp>
        <p:nvSpPr>
          <p:cNvPr id="12" name="Rounded Rectangle 11">
            <a:extLst>
              <a:ext uri="{FF2B5EF4-FFF2-40B4-BE49-F238E27FC236}">
                <a16:creationId xmlns:a16="http://schemas.microsoft.com/office/drawing/2014/main" id="{67F10747-C02A-4463-BBB1-92AEDBE24652}"/>
              </a:ext>
            </a:extLst>
          </p:cNvPr>
          <p:cNvSpPr>
            <a:spLocks noGrp="1"/>
          </p:cNvSpPr>
          <p:nvPr/>
        </p:nvSpPr>
        <p:spPr>
          <a:xfrm>
            <a:off x="8420100" y="4914900"/>
            <a:ext cx="104775" cy="104775"/>
          </a:xfrm>
          <a:prstGeom prst="roundRect">
            <a:avLst>
              <a:gd name="adj" fmla="val 18182"/>
            </a:avLst>
          </a:prstGeom>
          <a:solidFill>
            <a:srgbClr val="008A91"/>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08BCFD87-073B-4C03-95FE-412C57525C13}"/>
              </a:ext>
            </a:extLst>
          </p:cNvPr>
          <p:cNvSpPr>
            <a:spLocks noGrp="1"/>
          </p:cNvSpPr>
          <p:nvPr/>
        </p:nvSpPr>
        <p:spPr>
          <a:xfrm>
            <a:off x="8705850" y="4800600"/>
            <a:ext cx="2476500" cy="495300"/>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Inspectable result</a:t>
            </a:r>
          </a:p>
        </p:txBody>
      </p:sp>
    </p:spTree>
    <p:extLst>
      <p:ext uri="{BB962C8B-B14F-4D97-AF65-F5344CB8AC3E}">
        <p14:creationId xmlns:p14="http://schemas.microsoft.com/office/powerpoint/2010/main" val="1059705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36078958-42BA-42B2-BD62-EF9573BED49E}"/>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F85F3B8C-CDE3-4325-8B85-4AE34992D5AE}"/>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CodeAgent</a:t>
            </a:r>
          </a:p>
        </p:txBody>
      </p:sp>
      <p:sp>
        <p:nvSpPr>
          <p:cNvPr id="3" name="Rectangle 2">
            <a:extLst>
              <a:ext uri="{FF2B5EF4-FFF2-40B4-BE49-F238E27FC236}">
                <a16:creationId xmlns:a16="http://schemas.microsoft.com/office/drawing/2014/main" id="{E3C80898-BE67-4568-8778-2C4DA15F241B}"/>
              </a:ext>
            </a:extLst>
          </p:cNvPr>
          <p:cNvSpPr>
            <a:spLocks noGrp="1"/>
          </p:cNvSpPr>
          <p:nvPr/>
        </p:nvSpPr>
        <p:spPr>
          <a:xfrm>
            <a:off x="876300" y="2647950"/>
            <a:ext cx="2857500" cy="400050"/>
          </a:xfrm>
          <a:prstGeom prst="rect">
            <a:avLst/>
          </a:prstGeom>
          <a:noFill/>
          <a:ln w="0">
            <a:noFill/>
            <a:prstDash val="solid"/>
          </a:ln>
        </p:spPr>
        <p:txBody>
          <a:bodyPr anchor="ctr"/>
          <a:lstStyle>
            <a:defPPr algn="l">
              <a:defRPr sz="1725" b="1">
                <a:solidFill>
                  <a:srgbClr val="203D67"/>
                </a:solidFill>
              </a:defRPr>
            </a:defPPr>
          </a:lstStyle>
          <a:p>
            <a:pPr algn="l">
              <a:defRPr sz="1725" b="1">
                <a:solidFill>
                  <a:srgbClr val="203D67"/>
                </a:solidFill>
              </a:defRPr>
            </a:pPr>
            <a:r>
              <a:rPr sz="1725" b="1">
                <a:solidFill>
                  <a:srgbClr val="203D67"/>
                </a:solidFill>
              </a:rPr>
              <a:t>Why code?</a:t>
            </a:r>
          </a:p>
        </p:txBody>
      </p:sp>
      <p:sp>
        <p:nvSpPr>
          <p:cNvPr id="4" name="Rounded Rectangle 3">
            <a:extLst>
              <a:ext uri="{FF2B5EF4-FFF2-40B4-BE49-F238E27FC236}">
                <a16:creationId xmlns:a16="http://schemas.microsoft.com/office/drawing/2014/main" id="{613C72B9-403B-4BD5-B170-BFEA015A28DC}"/>
              </a:ext>
            </a:extLst>
          </p:cNvPr>
          <p:cNvSpPr>
            <a:spLocks noGrp="1"/>
          </p:cNvSpPr>
          <p:nvPr/>
        </p:nvSpPr>
        <p:spPr>
          <a:xfrm>
            <a:off x="876300" y="3352800"/>
            <a:ext cx="104775" cy="104775"/>
          </a:xfrm>
          <a:prstGeom prst="roundRect">
            <a:avLst>
              <a:gd name="adj" fmla="val 18182"/>
            </a:avLst>
          </a:prstGeom>
          <a:solidFill>
            <a:srgbClr val="175CE5"/>
          </a:solidFill>
          <a:ln w="0">
            <a:noFill/>
            <a:prstDash val="solid"/>
          </a:ln>
        </p:spPr>
        <p:txBody>
          <a:bodyPr/>
          <a:lstStyle/>
          <a:p>
            <a:endParaRPr lang="en-US"/>
          </a:p>
        </p:txBody>
      </p:sp>
      <p:sp>
        <p:nvSpPr>
          <p:cNvPr id="5" name="Rectangle 4">
            <a:extLst>
              <a:ext uri="{FF2B5EF4-FFF2-40B4-BE49-F238E27FC236}">
                <a16:creationId xmlns:a16="http://schemas.microsoft.com/office/drawing/2014/main" id="{74997B44-D7CE-4B78-8E4E-12F7568B16E9}"/>
              </a:ext>
            </a:extLst>
          </p:cNvPr>
          <p:cNvSpPr>
            <a:spLocks noGrp="1"/>
          </p:cNvSpPr>
          <p:nvPr/>
        </p:nvSpPr>
        <p:spPr>
          <a:xfrm>
            <a:off x="1162050" y="3238500"/>
            <a:ext cx="4191000" cy="4762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Expresses calculations compactly</a:t>
            </a:r>
          </a:p>
        </p:txBody>
      </p:sp>
      <p:sp>
        <p:nvSpPr>
          <p:cNvPr id="6" name="Rounded Rectangle 5">
            <a:extLst>
              <a:ext uri="{FF2B5EF4-FFF2-40B4-BE49-F238E27FC236}">
                <a16:creationId xmlns:a16="http://schemas.microsoft.com/office/drawing/2014/main" id="{EF22ABC7-6104-468E-889F-07E037FB931E}"/>
              </a:ext>
            </a:extLst>
          </p:cNvPr>
          <p:cNvSpPr>
            <a:spLocks noGrp="1"/>
          </p:cNvSpPr>
          <p:nvPr/>
        </p:nvSpPr>
        <p:spPr>
          <a:xfrm>
            <a:off x="876300" y="3886200"/>
            <a:ext cx="104775" cy="104775"/>
          </a:xfrm>
          <a:prstGeom prst="roundRect">
            <a:avLst>
              <a:gd name="adj" fmla="val 18182"/>
            </a:avLst>
          </a:prstGeom>
          <a:solidFill>
            <a:srgbClr val="175CE5"/>
          </a:solidFill>
          <a:ln w="0">
            <a:noFill/>
            <a:prstDash val="solid"/>
          </a:ln>
        </p:spPr>
        <p:txBody>
          <a:bodyPr/>
          <a:lstStyle/>
          <a:p>
            <a:endParaRPr lang="en-US"/>
          </a:p>
        </p:txBody>
      </p:sp>
      <p:sp>
        <p:nvSpPr>
          <p:cNvPr id="7" name="Rectangle 6">
            <a:extLst>
              <a:ext uri="{FF2B5EF4-FFF2-40B4-BE49-F238E27FC236}">
                <a16:creationId xmlns:a16="http://schemas.microsoft.com/office/drawing/2014/main" id="{829AEB60-BC12-4E99-98D9-BB043BFF51DC}"/>
              </a:ext>
            </a:extLst>
          </p:cNvPr>
          <p:cNvSpPr>
            <a:spLocks noGrp="1"/>
          </p:cNvSpPr>
          <p:nvPr/>
        </p:nvSpPr>
        <p:spPr>
          <a:xfrm>
            <a:off x="1162050" y="3771900"/>
            <a:ext cx="4191000" cy="4762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Combines several operations in one action</a:t>
            </a:r>
          </a:p>
        </p:txBody>
      </p:sp>
      <p:sp>
        <p:nvSpPr>
          <p:cNvPr id="8" name="Rounded Rectangle 7">
            <a:extLst>
              <a:ext uri="{FF2B5EF4-FFF2-40B4-BE49-F238E27FC236}">
                <a16:creationId xmlns:a16="http://schemas.microsoft.com/office/drawing/2014/main" id="{D4A25D1B-5A7E-4FD7-91E5-883EE68782E6}"/>
              </a:ext>
            </a:extLst>
          </p:cNvPr>
          <p:cNvSpPr>
            <a:spLocks noGrp="1"/>
          </p:cNvSpPr>
          <p:nvPr/>
        </p:nvSpPr>
        <p:spPr>
          <a:xfrm>
            <a:off x="876300" y="4419600"/>
            <a:ext cx="104775" cy="104775"/>
          </a:xfrm>
          <a:prstGeom prst="roundRect">
            <a:avLst>
              <a:gd name="adj" fmla="val 18182"/>
            </a:avLst>
          </a:prstGeom>
          <a:solidFill>
            <a:srgbClr val="175CE5"/>
          </a:solidFill>
          <a:ln w="0">
            <a:noFill/>
            <a:prstDash val="solid"/>
          </a:ln>
        </p:spPr>
        <p:txBody>
          <a:bodyPr/>
          <a:lstStyle/>
          <a:p>
            <a:endParaRPr lang="en-US"/>
          </a:p>
        </p:txBody>
      </p:sp>
      <p:sp>
        <p:nvSpPr>
          <p:cNvPr id="9" name="Rectangle 8">
            <a:extLst>
              <a:ext uri="{FF2B5EF4-FFF2-40B4-BE49-F238E27FC236}">
                <a16:creationId xmlns:a16="http://schemas.microsoft.com/office/drawing/2014/main" id="{CF519849-CC1E-43A6-95DB-499C57243FB2}"/>
              </a:ext>
            </a:extLst>
          </p:cNvPr>
          <p:cNvSpPr>
            <a:spLocks noGrp="1"/>
          </p:cNvSpPr>
          <p:nvPr/>
        </p:nvSpPr>
        <p:spPr>
          <a:xfrm>
            <a:off x="1162050" y="4305300"/>
            <a:ext cx="4191000" cy="4762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Keeps variables between steps</a:t>
            </a:r>
          </a:p>
        </p:txBody>
      </p:sp>
      <p:sp>
        <p:nvSpPr>
          <p:cNvPr id="10" name="Rounded Rectangle 9">
            <a:extLst>
              <a:ext uri="{FF2B5EF4-FFF2-40B4-BE49-F238E27FC236}">
                <a16:creationId xmlns:a16="http://schemas.microsoft.com/office/drawing/2014/main" id="{BF86CCE3-A215-4593-9F85-EAD15172F8E5}"/>
              </a:ext>
            </a:extLst>
          </p:cNvPr>
          <p:cNvSpPr>
            <a:spLocks noGrp="1"/>
          </p:cNvSpPr>
          <p:nvPr/>
        </p:nvSpPr>
        <p:spPr>
          <a:xfrm>
            <a:off x="876300" y="4953000"/>
            <a:ext cx="104775" cy="104775"/>
          </a:xfrm>
          <a:prstGeom prst="roundRect">
            <a:avLst>
              <a:gd name="adj" fmla="val 18182"/>
            </a:avLst>
          </a:prstGeom>
          <a:solidFill>
            <a:srgbClr val="175CE5"/>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AC71BCF8-9645-443A-BDB9-5B7D0ECB1D28}"/>
              </a:ext>
            </a:extLst>
          </p:cNvPr>
          <p:cNvSpPr>
            <a:spLocks noGrp="1"/>
          </p:cNvSpPr>
          <p:nvPr/>
        </p:nvSpPr>
        <p:spPr>
          <a:xfrm>
            <a:off x="1162050" y="4838700"/>
            <a:ext cx="4191000" cy="4762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Uses familiar programming abstractions</a:t>
            </a:r>
          </a:p>
        </p:txBody>
      </p:sp>
      <p:sp>
        <p:nvSpPr>
          <p:cNvPr id="12" name="Rectangle 11">
            <a:extLst>
              <a:ext uri="{FF2B5EF4-FFF2-40B4-BE49-F238E27FC236}">
                <a16:creationId xmlns:a16="http://schemas.microsoft.com/office/drawing/2014/main" id="{F9292CAE-F1D3-4AD2-B55A-D5299D0A4D9C}"/>
              </a:ext>
            </a:extLst>
          </p:cNvPr>
          <p:cNvSpPr>
            <a:spLocks noGrp="1"/>
          </p:cNvSpPr>
          <p:nvPr/>
        </p:nvSpPr>
        <p:spPr>
          <a:xfrm>
            <a:off x="6381750" y="2647950"/>
            <a:ext cx="2857500" cy="400050"/>
          </a:xfrm>
          <a:prstGeom prst="rect">
            <a:avLst/>
          </a:prstGeom>
          <a:noFill/>
          <a:ln w="0">
            <a:noFill/>
            <a:prstDash val="solid"/>
          </a:ln>
        </p:spPr>
        <p:txBody>
          <a:bodyPr anchor="ctr"/>
          <a:lstStyle>
            <a:defPPr algn="l">
              <a:defRPr sz="1725" b="1">
                <a:solidFill>
                  <a:srgbClr val="EE7D5B"/>
                </a:solidFill>
              </a:defRPr>
            </a:defPPr>
          </a:lstStyle>
          <a:p>
            <a:pPr algn="l">
              <a:defRPr sz="1725" b="1">
                <a:solidFill>
                  <a:srgbClr val="EE7D5B"/>
                </a:solidFill>
              </a:defRPr>
            </a:pPr>
            <a:r>
              <a:rPr sz="1725" b="1">
                <a:solidFill>
                  <a:srgbClr val="EE7D5B"/>
                </a:solidFill>
              </a:rPr>
              <a:t>Security cost</a:t>
            </a:r>
          </a:p>
        </p:txBody>
      </p:sp>
      <p:sp>
        <p:nvSpPr>
          <p:cNvPr id="13" name="Rounded Rectangle 12">
            <a:extLst>
              <a:ext uri="{FF2B5EF4-FFF2-40B4-BE49-F238E27FC236}">
                <a16:creationId xmlns:a16="http://schemas.microsoft.com/office/drawing/2014/main" id="{2A6DB383-A05C-4C88-8976-963D3969BBB2}"/>
              </a:ext>
            </a:extLst>
          </p:cNvPr>
          <p:cNvSpPr>
            <a:spLocks noGrp="1"/>
          </p:cNvSpPr>
          <p:nvPr/>
        </p:nvSpPr>
        <p:spPr>
          <a:xfrm>
            <a:off x="6381750" y="3352800"/>
            <a:ext cx="104775" cy="104775"/>
          </a:xfrm>
          <a:prstGeom prst="roundRect">
            <a:avLst>
              <a:gd name="adj" fmla="val 18182"/>
            </a:avLst>
          </a:prstGeom>
          <a:solidFill>
            <a:srgbClr val="EE7D5B"/>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8F96F7EA-A241-4FF1-956A-1879650FB5B1}"/>
              </a:ext>
            </a:extLst>
          </p:cNvPr>
          <p:cNvSpPr>
            <a:spLocks noGrp="1"/>
          </p:cNvSpPr>
          <p:nvPr/>
        </p:nvSpPr>
        <p:spPr>
          <a:xfrm>
            <a:off x="6667500" y="3238500"/>
            <a:ext cx="4095750" cy="4762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Generated code is untrusted</a:t>
            </a:r>
          </a:p>
        </p:txBody>
      </p:sp>
      <p:sp>
        <p:nvSpPr>
          <p:cNvPr id="15" name="Rounded Rectangle 14">
            <a:extLst>
              <a:ext uri="{FF2B5EF4-FFF2-40B4-BE49-F238E27FC236}">
                <a16:creationId xmlns:a16="http://schemas.microsoft.com/office/drawing/2014/main" id="{E2F9BB59-FBAD-463D-B525-9A65EB6197A2}"/>
              </a:ext>
            </a:extLst>
          </p:cNvPr>
          <p:cNvSpPr>
            <a:spLocks noGrp="1"/>
          </p:cNvSpPr>
          <p:nvPr/>
        </p:nvSpPr>
        <p:spPr>
          <a:xfrm>
            <a:off x="6381750" y="3886200"/>
            <a:ext cx="104775" cy="104775"/>
          </a:xfrm>
          <a:prstGeom prst="roundRect">
            <a:avLst>
              <a:gd name="adj" fmla="val 18182"/>
            </a:avLst>
          </a:prstGeom>
          <a:solidFill>
            <a:srgbClr val="EE7D5B"/>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3E063C86-4BAC-4F0A-BBB2-9533DF64252E}"/>
              </a:ext>
            </a:extLst>
          </p:cNvPr>
          <p:cNvSpPr>
            <a:spLocks noGrp="1"/>
          </p:cNvSpPr>
          <p:nvPr/>
        </p:nvSpPr>
        <p:spPr>
          <a:xfrm>
            <a:off x="6667500" y="3771900"/>
            <a:ext cx="4095750" cy="4762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Imports require control</a:t>
            </a:r>
          </a:p>
        </p:txBody>
      </p:sp>
      <p:sp>
        <p:nvSpPr>
          <p:cNvPr id="17" name="Rounded Rectangle 16">
            <a:extLst>
              <a:ext uri="{FF2B5EF4-FFF2-40B4-BE49-F238E27FC236}">
                <a16:creationId xmlns:a16="http://schemas.microsoft.com/office/drawing/2014/main" id="{30174BF5-A14C-436C-BACD-8442DA31F20F}"/>
              </a:ext>
            </a:extLst>
          </p:cNvPr>
          <p:cNvSpPr>
            <a:spLocks noGrp="1"/>
          </p:cNvSpPr>
          <p:nvPr/>
        </p:nvSpPr>
        <p:spPr>
          <a:xfrm>
            <a:off x="6381750" y="4419600"/>
            <a:ext cx="104775" cy="104775"/>
          </a:xfrm>
          <a:prstGeom prst="roundRect">
            <a:avLst>
              <a:gd name="adj" fmla="val 18182"/>
            </a:avLst>
          </a:prstGeom>
          <a:solidFill>
            <a:srgbClr val="EE7D5B"/>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037E60D1-63FF-4B78-8085-99ED58449B56}"/>
              </a:ext>
            </a:extLst>
          </p:cNvPr>
          <p:cNvSpPr>
            <a:spLocks noGrp="1"/>
          </p:cNvSpPr>
          <p:nvPr/>
        </p:nvSpPr>
        <p:spPr>
          <a:xfrm>
            <a:off x="6667500" y="4305300"/>
            <a:ext cx="4095750" cy="4762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Execution needs time and resource limits</a:t>
            </a:r>
          </a:p>
        </p:txBody>
      </p:sp>
      <p:sp>
        <p:nvSpPr>
          <p:cNvPr id="19" name="Rounded Rectangle 18">
            <a:extLst>
              <a:ext uri="{FF2B5EF4-FFF2-40B4-BE49-F238E27FC236}">
                <a16:creationId xmlns:a16="http://schemas.microsoft.com/office/drawing/2014/main" id="{5BE85C48-A659-4A73-9E69-AF2EEA95E7DA}"/>
              </a:ext>
            </a:extLst>
          </p:cNvPr>
          <p:cNvSpPr>
            <a:spLocks noGrp="1"/>
          </p:cNvSpPr>
          <p:nvPr/>
        </p:nvSpPr>
        <p:spPr>
          <a:xfrm>
            <a:off x="6381750" y="4953000"/>
            <a:ext cx="104775" cy="104775"/>
          </a:xfrm>
          <a:prstGeom prst="roundRect">
            <a:avLst>
              <a:gd name="adj" fmla="val 18182"/>
            </a:avLst>
          </a:prstGeom>
          <a:solidFill>
            <a:srgbClr val="EE7D5B"/>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F8F6DBF7-7B6B-43A8-9632-4CDE98279D62}"/>
              </a:ext>
            </a:extLst>
          </p:cNvPr>
          <p:cNvSpPr>
            <a:spLocks noGrp="1"/>
          </p:cNvSpPr>
          <p:nvPr/>
        </p:nvSpPr>
        <p:spPr>
          <a:xfrm>
            <a:off x="6667500" y="4838700"/>
            <a:ext cx="4095750" cy="4762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Sensitive workloads need isolation</a:t>
            </a:r>
          </a:p>
        </p:txBody>
      </p:sp>
    </p:spTree>
    <p:extLst>
      <p:ext uri="{BB962C8B-B14F-4D97-AF65-F5344CB8AC3E}">
        <p14:creationId xmlns:p14="http://schemas.microsoft.com/office/powerpoint/2010/main" val="3037375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8061B36-95B8-4B97-9A68-3E39623A5095}"/>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C8C5C24-78B8-4FFB-B625-09232D5E126D}"/>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Framework choice follows the workflow</a:t>
            </a:r>
          </a:p>
        </p:txBody>
      </p:sp>
      <p:sp>
        <p:nvSpPr>
          <p:cNvPr id="3" name="Rectangle 2">
            <a:extLst>
              <a:ext uri="{FF2B5EF4-FFF2-40B4-BE49-F238E27FC236}">
                <a16:creationId xmlns:a16="http://schemas.microsoft.com/office/drawing/2014/main" id="{A0BCF232-7AD5-496B-8F06-8E530EBBE58C}"/>
              </a:ext>
            </a:extLst>
          </p:cNvPr>
          <p:cNvSpPr>
            <a:spLocks noGrp="1"/>
          </p:cNvSpPr>
          <p:nvPr/>
        </p:nvSpPr>
        <p:spPr>
          <a:xfrm>
            <a:off x="857250" y="2647950"/>
            <a:ext cx="2190750" cy="514350"/>
          </a:xfrm>
          <a:prstGeom prst="rect">
            <a:avLst/>
          </a:prstGeom>
          <a:solidFill>
            <a:srgbClr val="E7EEFC"/>
          </a:solidFill>
          <a:ln w="0">
            <a:noFill/>
            <a:prstDash val="solid"/>
          </a:ln>
        </p:spPr>
        <p:txBody>
          <a:bodyPr anchor="ctr"/>
          <a:lstStyle>
            <a:defPPr algn="ctr">
              <a:defRPr sz="1500" b="1">
                <a:solidFill>
                  <a:srgbClr val="203D67"/>
                </a:solidFill>
              </a:defRPr>
            </a:defPPr>
          </a:lstStyle>
          <a:p>
            <a:pPr algn="ctr">
              <a:defRPr sz="1500" b="1">
                <a:solidFill>
                  <a:srgbClr val="203D67"/>
                </a:solidFill>
              </a:defRPr>
            </a:pPr>
            <a:r>
              <a:rPr sz="1500" b="1">
                <a:solidFill>
                  <a:srgbClr val="203D67"/>
                </a:solidFill>
              </a:rPr>
              <a:t>Plain Python</a:t>
            </a:r>
          </a:p>
        </p:txBody>
      </p:sp>
      <p:sp>
        <p:nvSpPr>
          <p:cNvPr id="4" name="Rectangle 3">
            <a:extLst>
              <a:ext uri="{FF2B5EF4-FFF2-40B4-BE49-F238E27FC236}">
                <a16:creationId xmlns:a16="http://schemas.microsoft.com/office/drawing/2014/main" id="{21856669-FB22-41A6-A77D-029C82CA38D5}"/>
              </a:ext>
            </a:extLst>
          </p:cNvPr>
          <p:cNvSpPr>
            <a:spLocks noGrp="1"/>
          </p:cNvSpPr>
          <p:nvPr/>
        </p:nvSpPr>
        <p:spPr>
          <a:xfrm>
            <a:off x="3390900" y="2647950"/>
            <a:ext cx="5238750" cy="5143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Small or deterministic workflow</a:t>
            </a:r>
          </a:p>
        </p:txBody>
      </p:sp>
      <p:sp>
        <p:nvSpPr>
          <p:cNvPr id="5" name="Rectangle 4">
            <a:extLst>
              <a:ext uri="{FF2B5EF4-FFF2-40B4-BE49-F238E27FC236}">
                <a16:creationId xmlns:a16="http://schemas.microsoft.com/office/drawing/2014/main" id="{CDDC8A3B-1E80-4BA7-8E4C-F76F4CAF403D}"/>
              </a:ext>
            </a:extLst>
          </p:cNvPr>
          <p:cNvSpPr>
            <a:spLocks noGrp="1"/>
          </p:cNvSpPr>
          <p:nvPr/>
        </p:nvSpPr>
        <p:spPr>
          <a:xfrm>
            <a:off x="857250" y="3371850"/>
            <a:ext cx="2190750" cy="514350"/>
          </a:xfrm>
          <a:prstGeom prst="rect">
            <a:avLst/>
          </a:prstGeom>
          <a:solidFill>
            <a:srgbClr val="E1F4F3"/>
          </a:solidFill>
          <a:ln w="0">
            <a:noFill/>
            <a:prstDash val="solid"/>
          </a:ln>
        </p:spPr>
        <p:txBody>
          <a:bodyPr anchor="ctr"/>
          <a:lstStyle>
            <a:defPPr algn="ctr">
              <a:defRPr sz="1500" b="1">
                <a:solidFill>
                  <a:srgbClr val="203D67"/>
                </a:solidFill>
              </a:defRPr>
            </a:defPPr>
          </a:lstStyle>
          <a:p>
            <a:pPr algn="ctr">
              <a:defRPr sz="1500" b="1">
                <a:solidFill>
                  <a:srgbClr val="203D67"/>
                </a:solidFill>
              </a:defRPr>
            </a:pPr>
            <a:r>
              <a:rPr sz="1500" b="1">
                <a:solidFill>
                  <a:srgbClr val="203D67"/>
                </a:solidFill>
              </a:rPr>
              <a:t>smolagents</a:t>
            </a:r>
          </a:p>
        </p:txBody>
      </p:sp>
      <p:sp>
        <p:nvSpPr>
          <p:cNvPr id="6" name="Rectangle 5">
            <a:extLst>
              <a:ext uri="{FF2B5EF4-FFF2-40B4-BE49-F238E27FC236}">
                <a16:creationId xmlns:a16="http://schemas.microsoft.com/office/drawing/2014/main" id="{D0A4CA14-9542-484D-8EDE-F2DB7C341A4F}"/>
              </a:ext>
            </a:extLst>
          </p:cNvPr>
          <p:cNvSpPr>
            <a:spLocks noGrp="1"/>
          </p:cNvSpPr>
          <p:nvPr/>
        </p:nvSpPr>
        <p:spPr>
          <a:xfrm>
            <a:off x="3390900" y="3371850"/>
            <a:ext cx="5238750" cy="5143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Lightweight code and tool agents</a:t>
            </a:r>
          </a:p>
        </p:txBody>
      </p:sp>
      <p:sp>
        <p:nvSpPr>
          <p:cNvPr id="7" name="Rectangle 6">
            <a:extLst>
              <a:ext uri="{FF2B5EF4-FFF2-40B4-BE49-F238E27FC236}">
                <a16:creationId xmlns:a16="http://schemas.microsoft.com/office/drawing/2014/main" id="{00E01C25-9AA1-4382-9828-9F2A088FBAD4}"/>
              </a:ext>
            </a:extLst>
          </p:cNvPr>
          <p:cNvSpPr>
            <a:spLocks noGrp="1"/>
          </p:cNvSpPr>
          <p:nvPr/>
        </p:nvSpPr>
        <p:spPr>
          <a:xfrm>
            <a:off x="857250" y="4095750"/>
            <a:ext cx="2190750" cy="514350"/>
          </a:xfrm>
          <a:prstGeom prst="rect">
            <a:avLst/>
          </a:prstGeom>
          <a:solidFill>
            <a:srgbClr val="FFF2C2"/>
          </a:solidFill>
          <a:ln w="0">
            <a:noFill/>
            <a:prstDash val="solid"/>
          </a:ln>
        </p:spPr>
        <p:txBody>
          <a:bodyPr anchor="ctr"/>
          <a:lstStyle>
            <a:defPPr algn="ctr">
              <a:defRPr sz="1500" b="1">
                <a:solidFill>
                  <a:srgbClr val="203D67"/>
                </a:solidFill>
              </a:defRPr>
            </a:defPPr>
          </a:lstStyle>
          <a:p>
            <a:pPr algn="ctr">
              <a:defRPr sz="1500" b="1">
                <a:solidFill>
                  <a:srgbClr val="203D67"/>
                </a:solidFill>
              </a:defRPr>
            </a:pPr>
            <a:r>
              <a:rPr sz="1500" b="1">
                <a:solidFill>
                  <a:srgbClr val="203D67"/>
                </a:solidFill>
              </a:rPr>
              <a:t>LangGraph</a:t>
            </a:r>
          </a:p>
        </p:txBody>
      </p:sp>
      <p:sp>
        <p:nvSpPr>
          <p:cNvPr id="8" name="Rectangle 7">
            <a:extLst>
              <a:ext uri="{FF2B5EF4-FFF2-40B4-BE49-F238E27FC236}">
                <a16:creationId xmlns:a16="http://schemas.microsoft.com/office/drawing/2014/main" id="{B1985E7B-BF59-408F-AED6-9FC8F0937D5D}"/>
              </a:ext>
            </a:extLst>
          </p:cNvPr>
          <p:cNvSpPr>
            <a:spLocks noGrp="1"/>
          </p:cNvSpPr>
          <p:nvPr/>
        </p:nvSpPr>
        <p:spPr>
          <a:xfrm>
            <a:off x="3390900" y="4095750"/>
            <a:ext cx="5238750" cy="5143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Explicit stateful orchestration</a:t>
            </a:r>
          </a:p>
        </p:txBody>
      </p:sp>
      <p:sp>
        <p:nvSpPr>
          <p:cNvPr id="9" name="Rectangle 8">
            <a:extLst>
              <a:ext uri="{FF2B5EF4-FFF2-40B4-BE49-F238E27FC236}">
                <a16:creationId xmlns:a16="http://schemas.microsoft.com/office/drawing/2014/main" id="{80CF904B-A872-43AB-A567-D655B3F0D6C6}"/>
              </a:ext>
            </a:extLst>
          </p:cNvPr>
          <p:cNvSpPr>
            <a:spLocks noGrp="1"/>
          </p:cNvSpPr>
          <p:nvPr/>
        </p:nvSpPr>
        <p:spPr>
          <a:xfrm>
            <a:off x="857250" y="4819650"/>
            <a:ext cx="2190750" cy="514350"/>
          </a:xfrm>
          <a:prstGeom prst="rect">
            <a:avLst/>
          </a:prstGeom>
          <a:solidFill>
            <a:srgbClr val="FDE8E1"/>
          </a:solidFill>
          <a:ln w="0">
            <a:noFill/>
            <a:prstDash val="solid"/>
          </a:ln>
        </p:spPr>
        <p:txBody>
          <a:bodyPr anchor="ctr"/>
          <a:lstStyle>
            <a:defPPr algn="ctr">
              <a:defRPr sz="1500" b="1">
                <a:solidFill>
                  <a:srgbClr val="203D67"/>
                </a:solidFill>
              </a:defRPr>
            </a:defPPr>
          </a:lstStyle>
          <a:p>
            <a:pPr algn="ctr">
              <a:defRPr sz="1500" b="1">
                <a:solidFill>
                  <a:srgbClr val="203D67"/>
                </a:solidFill>
              </a:defRPr>
            </a:pPr>
            <a:r>
              <a:rPr sz="1500" b="1">
                <a:solidFill>
                  <a:srgbClr val="203D67"/>
                </a:solidFill>
              </a:rPr>
              <a:t>LlamaIndex</a:t>
            </a:r>
          </a:p>
        </p:txBody>
      </p:sp>
      <p:sp>
        <p:nvSpPr>
          <p:cNvPr id="10" name="Rectangle 9">
            <a:extLst>
              <a:ext uri="{FF2B5EF4-FFF2-40B4-BE49-F238E27FC236}">
                <a16:creationId xmlns:a16="http://schemas.microsoft.com/office/drawing/2014/main" id="{C6BAD576-7499-4E35-8A12-25F85314D8B3}"/>
              </a:ext>
            </a:extLst>
          </p:cNvPr>
          <p:cNvSpPr>
            <a:spLocks noGrp="1"/>
          </p:cNvSpPr>
          <p:nvPr/>
        </p:nvSpPr>
        <p:spPr>
          <a:xfrm>
            <a:off x="3390900" y="4819650"/>
            <a:ext cx="5238750" cy="514350"/>
          </a:xfrm>
          <a:prstGeom prst="rect">
            <a:avLst/>
          </a:prstGeom>
          <a:noFill/>
          <a:ln w="0">
            <a:noFill/>
            <a:prstDash val="solid"/>
          </a:ln>
        </p:spPr>
        <p:txBody>
          <a:bodyPr anchor="ctr"/>
          <a:lstStyle>
            <a:defPPr algn="l">
              <a:defRPr sz="1350" b="0">
                <a:solidFill>
                  <a:srgbClr val="223047"/>
                </a:solidFill>
              </a:defRPr>
            </a:defPPr>
          </a:lstStyle>
          <a:p>
            <a:pPr algn="l">
              <a:defRPr sz="1350" b="0">
                <a:solidFill>
                  <a:srgbClr val="223047"/>
                </a:solidFill>
              </a:defRPr>
            </a:pPr>
            <a:r>
              <a:rPr sz="1350" b="0">
                <a:solidFill>
                  <a:srgbClr val="223047"/>
                </a:solidFill>
              </a:rPr>
              <a:t>Data-centric agent applications</a:t>
            </a:r>
          </a:p>
        </p:txBody>
      </p:sp>
      <p:sp>
        <p:nvSpPr>
          <p:cNvPr id="11" name="Rectangle 10">
            <a:extLst>
              <a:ext uri="{FF2B5EF4-FFF2-40B4-BE49-F238E27FC236}">
                <a16:creationId xmlns:a16="http://schemas.microsoft.com/office/drawing/2014/main" id="{4A4BA3D4-10A9-479F-97FF-C17D7B5A8A12}"/>
              </a:ext>
            </a:extLst>
          </p:cNvPr>
          <p:cNvSpPr>
            <a:spLocks noGrp="1"/>
          </p:cNvSpPr>
          <p:nvPr/>
        </p:nvSpPr>
        <p:spPr>
          <a:xfrm>
            <a:off x="2190750" y="5619750"/>
            <a:ext cx="6477000" cy="361950"/>
          </a:xfrm>
          <a:prstGeom prst="rect">
            <a:avLst/>
          </a:prstGeom>
          <a:noFill/>
          <a:ln w="0">
            <a:noFill/>
            <a:prstDash val="solid"/>
          </a:ln>
        </p:spPr>
        <p:txBody>
          <a:bodyPr anchor="ctr"/>
          <a:lstStyle>
            <a:defPPr algn="ctr">
              <a:defRPr sz="1425" b="1">
                <a:solidFill>
                  <a:srgbClr val="008A91"/>
                </a:solidFill>
              </a:defRPr>
            </a:defPPr>
          </a:lstStyle>
          <a:p>
            <a:pPr algn="ctr">
              <a:defRPr sz="1425" b="1">
                <a:solidFill>
                  <a:srgbClr val="008A91"/>
                </a:solidFill>
              </a:defRPr>
            </a:pPr>
            <a:r>
              <a:rPr sz="1425" b="1">
                <a:solidFill>
                  <a:srgbClr val="008A91"/>
                </a:solidFill>
              </a:rPr>
              <a:t>Frameworks help when control flow becomes complex. They do not replace system design.</a:t>
            </a:r>
          </a:p>
        </p:txBody>
      </p:sp>
    </p:spTree>
    <p:extLst>
      <p:ext uri="{BB962C8B-B14F-4D97-AF65-F5344CB8AC3E}">
        <p14:creationId xmlns:p14="http://schemas.microsoft.com/office/powerpoint/2010/main" val="3799965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C9A5950-9E16-4461-A980-E0F1A8980663}"/>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CF82F1C-E624-4793-A3B4-67B631C2A575}"/>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When multiple agents help</a:t>
            </a:r>
          </a:p>
        </p:txBody>
      </p:sp>
      <p:sp>
        <p:nvSpPr>
          <p:cNvPr id="3" name="Rounded Rectangle 2">
            <a:extLst>
              <a:ext uri="{FF2B5EF4-FFF2-40B4-BE49-F238E27FC236}">
                <a16:creationId xmlns:a16="http://schemas.microsoft.com/office/drawing/2014/main" id="{4A98E7A0-77ED-4BE3-8FE2-BE2A75CF91BE}"/>
              </a:ext>
            </a:extLst>
          </p:cNvPr>
          <p:cNvSpPr>
            <a:spLocks noGrp="1"/>
          </p:cNvSpPr>
          <p:nvPr/>
        </p:nvSpPr>
        <p:spPr>
          <a:xfrm>
            <a:off x="895350" y="2762250"/>
            <a:ext cx="104775" cy="104775"/>
          </a:xfrm>
          <a:prstGeom prst="roundRect">
            <a:avLst>
              <a:gd name="adj" fmla="val 18182"/>
            </a:avLst>
          </a:prstGeom>
          <a:solidFill>
            <a:srgbClr val="175CE5"/>
          </a:solidFill>
          <a:ln w="0">
            <a:noFill/>
            <a:prstDash val="solid"/>
          </a:ln>
        </p:spPr>
        <p:txBody>
          <a:bodyPr/>
          <a:lstStyle/>
          <a:p>
            <a:endParaRPr lang="en-US"/>
          </a:p>
        </p:txBody>
      </p:sp>
      <p:sp>
        <p:nvSpPr>
          <p:cNvPr id="4" name="Rectangle 3">
            <a:extLst>
              <a:ext uri="{FF2B5EF4-FFF2-40B4-BE49-F238E27FC236}">
                <a16:creationId xmlns:a16="http://schemas.microsoft.com/office/drawing/2014/main" id="{2269B09A-9AEF-4B99-BFE3-D5C1F97ECF0B}"/>
              </a:ext>
            </a:extLst>
          </p:cNvPr>
          <p:cNvSpPr>
            <a:spLocks noGrp="1"/>
          </p:cNvSpPr>
          <p:nvPr/>
        </p:nvSpPr>
        <p:spPr>
          <a:xfrm>
            <a:off x="1181100" y="2647950"/>
            <a:ext cx="7524750" cy="51435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Specialists require different tools</a:t>
            </a:r>
          </a:p>
        </p:txBody>
      </p:sp>
      <p:sp>
        <p:nvSpPr>
          <p:cNvPr id="5" name="Rounded Rectangle 4">
            <a:extLst>
              <a:ext uri="{FF2B5EF4-FFF2-40B4-BE49-F238E27FC236}">
                <a16:creationId xmlns:a16="http://schemas.microsoft.com/office/drawing/2014/main" id="{2F7D286A-E21A-494D-B09F-D8ECEBD6251C}"/>
              </a:ext>
            </a:extLst>
          </p:cNvPr>
          <p:cNvSpPr>
            <a:spLocks noGrp="1"/>
          </p:cNvSpPr>
          <p:nvPr/>
        </p:nvSpPr>
        <p:spPr>
          <a:xfrm>
            <a:off x="895350" y="3333750"/>
            <a:ext cx="104775" cy="104775"/>
          </a:xfrm>
          <a:prstGeom prst="roundRect">
            <a:avLst>
              <a:gd name="adj" fmla="val 18182"/>
            </a:avLst>
          </a:prstGeom>
          <a:solidFill>
            <a:srgbClr val="42BCC9"/>
          </a:solidFill>
          <a:ln w="0">
            <a:noFill/>
            <a:prstDash val="solid"/>
          </a:ln>
        </p:spPr>
        <p:txBody>
          <a:bodyPr/>
          <a:lstStyle/>
          <a:p>
            <a:endParaRPr lang="en-US"/>
          </a:p>
        </p:txBody>
      </p:sp>
      <p:sp>
        <p:nvSpPr>
          <p:cNvPr id="6" name="Rectangle 5">
            <a:extLst>
              <a:ext uri="{FF2B5EF4-FFF2-40B4-BE49-F238E27FC236}">
                <a16:creationId xmlns:a16="http://schemas.microsoft.com/office/drawing/2014/main" id="{603F4411-6ACA-436C-A640-85E2358B2E98}"/>
              </a:ext>
            </a:extLst>
          </p:cNvPr>
          <p:cNvSpPr>
            <a:spLocks noGrp="1"/>
          </p:cNvSpPr>
          <p:nvPr/>
        </p:nvSpPr>
        <p:spPr>
          <a:xfrm>
            <a:off x="1181100" y="3219450"/>
            <a:ext cx="7524750" cy="51435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Permissions must remain separated</a:t>
            </a:r>
          </a:p>
        </p:txBody>
      </p:sp>
      <p:sp>
        <p:nvSpPr>
          <p:cNvPr id="7" name="Rounded Rectangle 6">
            <a:extLst>
              <a:ext uri="{FF2B5EF4-FFF2-40B4-BE49-F238E27FC236}">
                <a16:creationId xmlns:a16="http://schemas.microsoft.com/office/drawing/2014/main" id="{516B8462-B3E4-47E6-8FE3-EBEEC631C357}"/>
              </a:ext>
            </a:extLst>
          </p:cNvPr>
          <p:cNvSpPr>
            <a:spLocks noGrp="1"/>
          </p:cNvSpPr>
          <p:nvPr/>
        </p:nvSpPr>
        <p:spPr>
          <a:xfrm>
            <a:off x="895350" y="3905250"/>
            <a:ext cx="104775" cy="104775"/>
          </a:xfrm>
          <a:prstGeom prst="roundRect">
            <a:avLst>
              <a:gd name="adj" fmla="val 18182"/>
            </a:avLst>
          </a:prstGeom>
          <a:solidFill>
            <a:srgbClr val="F4B900"/>
          </a:solidFill>
          <a:ln w="0">
            <a:noFill/>
            <a:prstDash val="solid"/>
          </a:ln>
        </p:spPr>
        <p:txBody>
          <a:bodyPr/>
          <a:lstStyle/>
          <a:p>
            <a:endParaRPr lang="en-US"/>
          </a:p>
        </p:txBody>
      </p:sp>
      <p:sp>
        <p:nvSpPr>
          <p:cNvPr id="8" name="Rectangle 7">
            <a:extLst>
              <a:ext uri="{FF2B5EF4-FFF2-40B4-BE49-F238E27FC236}">
                <a16:creationId xmlns:a16="http://schemas.microsoft.com/office/drawing/2014/main" id="{49A677D7-E5F3-47FF-9063-650A7843A8A5}"/>
              </a:ext>
            </a:extLst>
          </p:cNvPr>
          <p:cNvSpPr>
            <a:spLocks noGrp="1"/>
          </p:cNvSpPr>
          <p:nvPr/>
        </p:nvSpPr>
        <p:spPr>
          <a:xfrm>
            <a:off x="1181100" y="3790950"/>
            <a:ext cx="7524750" cy="51435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Context should stay isolated</a:t>
            </a:r>
          </a:p>
        </p:txBody>
      </p:sp>
      <p:sp>
        <p:nvSpPr>
          <p:cNvPr id="9" name="Rounded Rectangle 8">
            <a:extLst>
              <a:ext uri="{FF2B5EF4-FFF2-40B4-BE49-F238E27FC236}">
                <a16:creationId xmlns:a16="http://schemas.microsoft.com/office/drawing/2014/main" id="{569A053F-62BF-4B81-89FF-78E365818325}"/>
              </a:ext>
            </a:extLst>
          </p:cNvPr>
          <p:cNvSpPr>
            <a:spLocks noGrp="1"/>
          </p:cNvSpPr>
          <p:nvPr/>
        </p:nvSpPr>
        <p:spPr>
          <a:xfrm>
            <a:off x="895350" y="4476750"/>
            <a:ext cx="104775" cy="104775"/>
          </a:xfrm>
          <a:prstGeom prst="roundRect">
            <a:avLst>
              <a:gd name="adj" fmla="val 18182"/>
            </a:avLst>
          </a:prstGeom>
          <a:solidFill>
            <a:srgbClr val="EE7D5B"/>
          </a:solidFill>
          <a:ln w="0">
            <a:noFill/>
            <a:prstDash val="solid"/>
          </a:ln>
        </p:spPr>
        <p:txBody>
          <a:bodyPr/>
          <a:lstStyle/>
          <a:p>
            <a:endParaRPr lang="en-US"/>
          </a:p>
        </p:txBody>
      </p:sp>
      <p:sp>
        <p:nvSpPr>
          <p:cNvPr id="10" name="Rectangle 9">
            <a:extLst>
              <a:ext uri="{FF2B5EF4-FFF2-40B4-BE49-F238E27FC236}">
                <a16:creationId xmlns:a16="http://schemas.microsoft.com/office/drawing/2014/main" id="{CF0ABF1E-8D9A-454B-945D-34E7933F8BA2}"/>
              </a:ext>
            </a:extLst>
          </p:cNvPr>
          <p:cNvSpPr>
            <a:spLocks noGrp="1"/>
          </p:cNvSpPr>
          <p:nvPr/>
        </p:nvSpPr>
        <p:spPr>
          <a:xfrm>
            <a:off x="1181100" y="4362450"/>
            <a:ext cx="7524750" cy="51435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Independent work can run in parallel</a:t>
            </a:r>
          </a:p>
        </p:txBody>
      </p:sp>
      <p:sp>
        <p:nvSpPr>
          <p:cNvPr id="11" name="Rounded Rectangle 10">
            <a:extLst>
              <a:ext uri="{FF2B5EF4-FFF2-40B4-BE49-F238E27FC236}">
                <a16:creationId xmlns:a16="http://schemas.microsoft.com/office/drawing/2014/main" id="{515C9BC5-82E4-4B18-AE43-FFAC41C486CE}"/>
              </a:ext>
            </a:extLst>
          </p:cNvPr>
          <p:cNvSpPr>
            <a:spLocks noGrp="1"/>
          </p:cNvSpPr>
          <p:nvPr/>
        </p:nvSpPr>
        <p:spPr>
          <a:xfrm>
            <a:off x="895350" y="5048250"/>
            <a:ext cx="104775" cy="104775"/>
          </a:xfrm>
          <a:prstGeom prst="roundRect">
            <a:avLst>
              <a:gd name="adj" fmla="val 18182"/>
            </a:avLst>
          </a:prstGeom>
          <a:solidFill>
            <a:srgbClr val="008A91"/>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CC004854-DDBA-4CAA-9D2A-C1947BD7EEA7}"/>
              </a:ext>
            </a:extLst>
          </p:cNvPr>
          <p:cNvSpPr>
            <a:spLocks noGrp="1"/>
          </p:cNvSpPr>
          <p:nvPr/>
        </p:nvSpPr>
        <p:spPr>
          <a:xfrm>
            <a:off x="1181100" y="4933950"/>
            <a:ext cx="7524750" cy="514350"/>
          </a:xfrm>
          <a:prstGeom prst="rect">
            <a:avLst/>
          </a:prstGeom>
          <a:noFill/>
          <a:ln w="0">
            <a:noFill/>
            <a:prstDash val="solid"/>
          </a:ln>
        </p:spPr>
        <p:txBody>
          <a:bodyPr anchor="ctr"/>
          <a:lstStyle>
            <a:defPPr algn="l">
              <a:defRPr sz="1425" b="0">
                <a:solidFill>
                  <a:srgbClr val="223047"/>
                </a:solidFill>
              </a:defRPr>
            </a:defPPr>
          </a:lstStyle>
          <a:p>
            <a:pPr algn="l">
              <a:defRPr sz="1425" b="0">
                <a:solidFill>
                  <a:srgbClr val="223047"/>
                </a:solidFill>
              </a:defRPr>
            </a:pPr>
            <a:r>
              <a:rPr sz="1425" b="0">
                <a:solidFill>
                  <a:srgbClr val="223047"/>
                </a:solidFill>
              </a:rPr>
              <a:t>One agent would otherwise receive too many responsibilities</a:t>
            </a:r>
          </a:p>
        </p:txBody>
      </p:sp>
      <p:sp>
        <p:nvSpPr>
          <p:cNvPr id="13" name="Rectangle 12">
            <a:extLst>
              <a:ext uri="{FF2B5EF4-FFF2-40B4-BE49-F238E27FC236}">
                <a16:creationId xmlns:a16="http://schemas.microsoft.com/office/drawing/2014/main" id="{791515FB-4B56-4D79-97A5-5AF9EB6BB344}"/>
              </a:ext>
            </a:extLst>
          </p:cNvPr>
          <p:cNvSpPr>
            <a:spLocks noGrp="1"/>
          </p:cNvSpPr>
          <p:nvPr/>
        </p:nvSpPr>
        <p:spPr>
          <a:xfrm>
            <a:off x="6496050" y="5238750"/>
            <a:ext cx="4095750" cy="457200"/>
          </a:xfrm>
          <a:prstGeom prst="rect">
            <a:avLst/>
          </a:prstGeom>
          <a:noFill/>
          <a:ln w="0">
            <a:noFill/>
            <a:prstDash val="solid"/>
          </a:ln>
        </p:spPr>
        <p:txBody>
          <a:bodyPr anchor="ctr"/>
          <a:lstStyle>
            <a:defPPr algn="ctr">
              <a:defRPr sz="1425" b="1">
                <a:solidFill>
                  <a:srgbClr val="203D67"/>
                </a:solidFill>
              </a:defRPr>
            </a:defPPr>
          </a:lstStyle>
          <a:p>
            <a:pPr algn="ctr">
              <a:defRPr sz="1425" b="1">
                <a:solidFill>
                  <a:srgbClr val="203D67"/>
                </a:solidFill>
              </a:defRPr>
            </a:pPr>
            <a:r>
              <a:rPr sz="1425" b="1">
                <a:solidFill>
                  <a:srgbClr val="203D67"/>
                </a:solidFill>
              </a:rPr>
              <a:t>Multiple names and prompts alone do not justify a multi-agent system</a:t>
            </a:r>
          </a:p>
        </p:txBody>
      </p:sp>
    </p:spTree>
    <p:extLst>
      <p:ext uri="{BB962C8B-B14F-4D97-AF65-F5344CB8AC3E}">
        <p14:creationId xmlns:p14="http://schemas.microsoft.com/office/powerpoint/2010/main" val="438687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9B75D0A-1C14-4253-BC27-ADB588928C0E}"/>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E51872A-704B-4881-953A-CE43A933EA35}"/>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Manager and specialist agents</a:t>
            </a:r>
          </a:p>
        </p:txBody>
      </p:sp>
      <p:sp>
        <p:nvSpPr>
          <p:cNvPr id="3" name="Rounded Rectangle 2">
            <a:extLst>
              <a:ext uri="{FF2B5EF4-FFF2-40B4-BE49-F238E27FC236}">
                <a16:creationId xmlns:a16="http://schemas.microsoft.com/office/drawing/2014/main" id="{18BEC9C9-9CA1-410C-894F-7D62D18684DA}"/>
              </a:ext>
            </a:extLst>
          </p:cNvPr>
          <p:cNvSpPr>
            <a:spLocks noGrp="1"/>
          </p:cNvSpPr>
          <p:nvPr/>
        </p:nvSpPr>
        <p:spPr>
          <a:xfrm>
            <a:off x="4362450" y="2571750"/>
            <a:ext cx="2095500" cy="857250"/>
          </a:xfrm>
          <a:prstGeom prst="roundRect">
            <a:avLst>
              <a:gd name="adj" fmla="val 13333"/>
            </a:avLst>
          </a:prstGeom>
          <a:solidFill>
            <a:srgbClr val="E7EEFC"/>
          </a:solidFill>
          <a:ln w="9525">
            <a:solidFill>
              <a:srgbClr val="B8C9E5"/>
            </a:solidFill>
            <a:prstDash val="solid"/>
          </a:ln>
        </p:spPr>
        <p:txBody>
          <a:bodyPr/>
          <a:lstStyle/>
          <a:p>
            <a:endParaRPr lang="en-US"/>
          </a:p>
        </p:txBody>
      </p:sp>
      <p:sp>
        <p:nvSpPr>
          <p:cNvPr id="4" name="Rectangle 3">
            <a:extLst>
              <a:ext uri="{FF2B5EF4-FFF2-40B4-BE49-F238E27FC236}">
                <a16:creationId xmlns:a16="http://schemas.microsoft.com/office/drawing/2014/main" id="{02289FD8-1824-4EE3-B6DA-BF306EB0C83A}"/>
              </a:ext>
            </a:extLst>
          </p:cNvPr>
          <p:cNvSpPr>
            <a:spLocks noGrp="1"/>
          </p:cNvSpPr>
          <p:nvPr/>
        </p:nvSpPr>
        <p:spPr>
          <a:xfrm>
            <a:off x="4438650" y="2628900"/>
            <a:ext cx="1943100" cy="742950"/>
          </a:xfrm>
          <a:prstGeom prst="rect">
            <a:avLst/>
          </a:prstGeom>
          <a:noFill/>
          <a:ln w="0">
            <a:noFill/>
            <a:prstDash val="solid"/>
          </a:ln>
        </p:spPr>
        <p:txBody>
          <a:bodyPr anchor="ctr"/>
          <a:lstStyle>
            <a:defPPr algn="ctr">
              <a:defRPr sz="1275" b="1">
                <a:solidFill>
                  <a:srgbClr val="203D67"/>
                </a:solidFill>
              </a:defRPr>
            </a:defPPr>
          </a:lstStyle>
          <a:p>
            <a:pPr algn="ctr">
              <a:defRPr sz="1275" b="1">
                <a:solidFill>
                  <a:srgbClr val="203D67"/>
                </a:solidFill>
              </a:defRPr>
            </a:pPr>
            <a:r>
              <a:rPr sz="1275" b="1">
                <a:solidFill>
                  <a:srgbClr val="203D67"/>
                </a:solidFill>
              </a:rPr>
              <a:t>MANAGER</a:t>
            </a:r>
          </a:p>
          <a:p>
            <a:pPr algn="ctr">
              <a:defRPr sz="1275" b="1">
                <a:solidFill>
                  <a:srgbClr val="203D67"/>
                </a:solidFill>
              </a:defRPr>
            </a:pPr>
            <a:r>
              <a:rPr sz="1275" b="1">
                <a:solidFill>
                  <a:srgbClr val="203D67"/>
                </a:solidFill>
              </a:rPr>
              <a:t>decompose and integrate</a:t>
            </a:r>
          </a:p>
        </p:txBody>
      </p:sp>
      <p:sp>
        <p:nvSpPr>
          <p:cNvPr id="5" name="Rounded Rectangle 4">
            <a:extLst>
              <a:ext uri="{FF2B5EF4-FFF2-40B4-BE49-F238E27FC236}">
                <a16:creationId xmlns:a16="http://schemas.microsoft.com/office/drawing/2014/main" id="{B9671561-B039-4720-859A-752E4FEA2239}"/>
              </a:ext>
            </a:extLst>
          </p:cNvPr>
          <p:cNvSpPr>
            <a:spLocks noGrp="1"/>
          </p:cNvSpPr>
          <p:nvPr/>
        </p:nvSpPr>
        <p:spPr>
          <a:xfrm>
            <a:off x="1143000" y="4191000"/>
            <a:ext cx="1905000" cy="781050"/>
          </a:xfrm>
          <a:prstGeom prst="roundRect">
            <a:avLst>
              <a:gd name="adj" fmla="val 14634"/>
            </a:avLst>
          </a:prstGeom>
          <a:solidFill>
            <a:srgbClr val="E1F4F3"/>
          </a:solidFill>
          <a:ln w="9525">
            <a:solidFill>
              <a:srgbClr val="B8C9E5"/>
            </a:solidFill>
            <a:prstDash val="solid"/>
          </a:ln>
        </p:spPr>
        <p:txBody>
          <a:bodyPr/>
          <a:lstStyle/>
          <a:p>
            <a:endParaRPr lang="en-US"/>
          </a:p>
        </p:txBody>
      </p:sp>
      <p:sp>
        <p:nvSpPr>
          <p:cNvPr id="6" name="Rectangle 5">
            <a:extLst>
              <a:ext uri="{FF2B5EF4-FFF2-40B4-BE49-F238E27FC236}">
                <a16:creationId xmlns:a16="http://schemas.microsoft.com/office/drawing/2014/main" id="{525BC08B-C9DC-4971-B183-98BE7D0F7F90}"/>
              </a:ext>
            </a:extLst>
          </p:cNvPr>
          <p:cNvSpPr>
            <a:spLocks noGrp="1"/>
          </p:cNvSpPr>
          <p:nvPr/>
        </p:nvSpPr>
        <p:spPr>
          <a:xfrm>
            <a:off x="1219200" y="4248150"/>
            <a:ext cx="1752600" cy="66675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SEARCH AGENT</a:t>
            </a:r>
          </a:p>
          <a:p>
            <a:pPr algn="ctr">
              <a:defRPr sz="1200" b="1">
                <a:solidFill>
                  <a:srgbClr val="203D67"/>
                </a:solidFill>
              </a:defRPr>
            </a:pPr>
            <a:r>
              <a:rPr sz="1200" b="1">
                <a:solidFill>
                  <a:srgbClr val="203D67"/>
                </a:solidFill>
              </a:rPr>
              <a:t>collect sources</a:t>
            </a:r>
          </a:p>
        </p:txBody>
      </p:sp>
      <p:sp>
        <p:nvSpPr>
          <p:cNvPr id="7" name="Rounded Rectangle 6">
            <a:extLst>
              <a:ext uri="{FF2B5EF4-FFF2-40B4-BE49-F238E27FC236}">
                <a16:creationId xmlns:a16="http://schemas.microsoft.com/office/drawing/2014/main" id="{FC0CA2A0-39E3-4BE6-8C69-1785532120A5}"/>
              </a:ext>
            </a:extLst>
          </p:cNvPr>
          <p:cNvSpPr>
            <a:spLocks noGrp="1"/>
          </p:cNvSpPr>
          <p:nvPr/>
        </p:nvSpPr>
        <p:spPr>
          <a:xfrm>
            <a:off x="4457700" y="4191000"/>
            <a:ext cx="1905000" cy="781050"/>
          </a:xfrm>
          <a:prstGeom prst="roundRect">
            <a:avLst>
              <a:gd name="adj" fmla="val 14634"/>
            </a:avLst>
          </a:prstGeom>
          <a:solidFill>
            <a:srgbClr val="FFF2C2"/>
          </a:solidFill>
          <a:ln w="9525">
            <a:solidFill>
              <a:srgbClr val="B8C9E5"/>
            </a:solidFill>
            <a:prstDash val="solid"/>
          </a:ln>
        </p:spPr>
        <p:txBody>
          <a:bodyPr/>
          <a:lstStyle/>
          <a:p>
            <a:endParaRPr lang="en-US"/>
          </a:p>
        </p:txBody>
      </p:sp>
      <p:sp>
        <p:nvSpPr>
          <p:cNvPr id="8" name="Rectangle 7">
            <a:extLst>
              <a:ext uri="{FF2B5EF4-FFF2-40B4-BE49-F238E27FC236}">
                <a16:creationId xmlns:a16="http://schemas.microsoft.com/office/drawing/2014/main" id="{5F2F0B5E-137B-47BB-A38F-3C80235044CA}"/>
              </a:ext>
            </a:extLst>
          </p:cNvPr>
          <p:cNvSpPr>
            <a:spLocks noGrp="1"/>
          </p:cNvSpPr>
          <p:nvPr/>
        </p:nvSpPr>
        <p:spPr>
          <a:xfrm>
            <a:off x="4533900" y="4248150"/>
            <a:ext cx="1752600" cy="66675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CODE AGENT</a:t>
            </a:r>
          </a:p>
          <a:p>
            <a:pPr algn="ctr">
              <a:defRPr sz="1200" b="1">
                <a:solidFill>
                  <a:srgbClr val="203D67"/>
                </a:solidFill>
              </a:defRPr>
            </a:pPr>
            <a:r>
              <a:rPr sz="1200" b="1">
                <a:solidFill>
                  <a:srgbClr val="203D67"/>
                </a:solidFill>
              </a:rPr>
              <a:t>analyse data</a:t>
            </a:r>
          </a:p>
        </p:txBody>
      </p:sp>
      <p:sp>
        <p:nvSpPr>
          <p:cNvPr id="9" name="Rounded Rectangle 8">
            <a:extLst>
              <a:ext uri="{FF2B5EF4-FFF2-40B4-BE49-F238E27FC236}">
                <a16:creationId xmlns:a16="http://schemas.microsoft.com/office/drawing/2014/main" id="{4547FA24-BEA6-4155-ADAA-2C97493C2670}"/>
              </a:ext>
            </a:extLst>
          </p:cNvPr>
          <p:cNvSpPr>
            <a:spLocks noGrp="1"/>
          </p:cNvSpPr>
          <p:nvPr/>
        </p:nvSpPr>
        <p:spPr>
          <a:xfrm>
            <a:off x="7772400" y="4191000"/>
            <a:ext cx="1905000" cy="781050"/>
          </a:xfrm>
          <a:prstGeom prst="roundRect">
            <a:avLst>
              <a:gd name="adj" fmla="val 14634"/>
            </a:avLst>
          </a:prstGeom>
          <a:solidFill>
            <a:srgbClr val="FDE8E1"/>
          </a:solidFill>
          <a:ln w="9525">
            <a:solidFill>
              <a:srgbClr val="B8C9E5"/>
            </a:solidFill>
            <a:prstDash val="solid"/>
          </a:ln>
        </p:spPr>
        <p:txBody>
          <a:bodyPr/>
          <a:lstStyle/>
          <a:p>
            <a:endParaRPr lang="en-US"/>
          </a:p>
        </p:txBody>
      </p:sp>
      <p:sp>
        <p:nvSpPr>
          <p:cNvPr id="10" name="Rectangle 9">
            <a:extLst>
              <a:ext uri="{FF2B5EF4-FFF2-40B4-BE49-F238E27FC236}">
                <a16:creationId xmlns:a16="http://schemas.microsoft.com/office/drawing/2014/main" id="{88414BE0-382A-4FF5-AAC3-FF6D6DE1021A}"/>
              </a:ext>
            </a:extLst>
          </p:cNvPr>
          <p:cNvSpPr>
            <a:spLocks noGrp="1"/>
          </p:cNvSpPr>
          <p:nvPr/>
        </p:nvSpPr>
        <p:spPr>
          <a:xfrm>
            <a:off x="7848600" y="4248150"/>
            <a:ext cx="1752600" cy="666750"/>
          </a:xfrm>
          <a:prstGeom prst="rect">
            <a:avLst/>
          </a:prstGeom>
          <a:noFill/>
          <a:ln w="0">
            <a:noFill/>
            <a:prstDash val="solid"/>
          </a:ln>
        </p:spPr>
        <p:txBody>
          <a:bodyPr anchor="ctr"/>
          <a:lstStyle>
            <a:defPPr algn="ctr">
              <a:defRPr sz="1200" b="1">
                <a:solidFill>
                  <a:srgbClr val="203D67"/>
                </a:solidFill>
              </a:defRPr>
            </a:defPPr>
          </a:lstStyle>
          <a:p>
            <a:pPr algn="ctr">
              <a:defRPr sz="1200" b="1">
                <a:solidFill>
                  <a:srgbClr val="203D67"/>
                </a:solidFill>
              </a:defRPr>
            </a:pPr>
            <a:r>
              <a:rPr sz="1200" b="1">
                <a:solidFill>
                  <a:srgbClr val="203D67"/>
                </a:solidFill>
              </a:rPr>
              <a:t>REVIEW AGENT</a:t>
            </a:r>
          </a:p>
          <a:p>
            <a:pPr algn="ctr">
              <a:defRPr sz="1200" b="1">
                <a:solidFill>
                  <a:srgbClr val="203D67"/>
                </a:solidFill>
              </a:defRPr>
            </a:pPr>
            <a:r>
              <a:rPr sz="1200" b="1">
                <a:solidFill>
                  <a:srgbClr val="203D67"/>
                </a:solidFill>
              </a:rPr>
              <a:t>check evidence</a:t>
            </a:r>
          </a:p>
        </p:txBody>
      </p:sp>
      <p:cxnSp>
        <p:nvCxnSpPr>
          <p:cNvPr id="11" name="Straight Arrow Connector 10">
            <a:extLst>
              <a:ext uri="{FF2B5EF4-FFF2-40B4-BE49-F238E27FC236}">
                <a16:creationId xmlns:a16="http://schemas.microsoft.com/office/drawing/2014/main" id="{AFC94AE8-7ACC-4908-8804-8599F85E2D68}"/>
              </a:ext>
            </a:extLst>
          </p:cNvPr>
          <p:cNvCxnSpPr>
            <a:stCxn id="3" idx="2"/>
            <a:endCxn id="5" idx="0"/>
          </p:cNvCxnSpPr>
          <p:nvPr/>
        </p:nvCxnSpPr>
        <p:spPr>
          <a:xfrm flipH="1">
            <a:off x="2095500" y="3429000"/>
            <a:ext cx="3314700" cy="762000"/>
          </a:xfrm>
          <a:prstGeom prst="straightConnector1">
            <a:avLst/>
          </a:prstGeom>
          <a:ln w="21431">
            <a:solidFill>
              <a:srgbClr val="42BCC9"/>
            </a:solidFill>
            <a:prstDash val="solid"/>
            <a:tailEnd type="arrow" w="med" len="med"/>
          </a:ln>
        </p:spPr>
      </p:cxnSp>
      <p:cxnSp>
        <p:nvCxnSpPr>
          <p:cNvPr id="12" name="Straight Arrow Connector 11">
            <a:extLst>
              <a:ext uri="{FF2B5EF4-FFF2-40B4-BE49-F238E27FC236}">
                <a16:creationId xmlns:a16="http://schemas.microsoft.com/office/drawing/2014/main" id="{D63A5B16-D6FE-4395-8624-45BE37C1AEFB}"/>
              </a:ext>
            </a:extLst>
          </p:cNvPr>
          <p:cNvCxnSpPr>
            <a:stCxn id="3" idx="2"/>
            <a:endCxn id="7" idx="0"/>
          </p:cNvCxnSpPr>
          <p:nvPr/>
        </p:nvCxnSpPr>
        <p:spPr>
          <a:xfrm>
            <a:off x="5410200" y="3429000"/>
            <a:ext cx="0" cy="762000"/>
          </a:xfrm>
          <a:prstGeom prst="straightConnector1">
            <a:avLst/>
          </a:prstGeom>
          <a:ln w="21431">
            <a:solidFill>
              <a:srgbClr val="F4B900"/>
            </a:solidFill>
            <a:prstDash val="solid"/>
            <a:tailEnd type="arrow" w="med" len="med"/>
          </a:ln>
        </p:spPr>
      </p:cxnSp>
      <p:cxnSp>
        <p:nvCxnSpPr>
          <p:cNvPr id="13" name="Straight Arrow Connector 12">
            <a:extLst>
              <a:ext uri="{FF2B5EF4-FFF2-40B4-BE49-F238E27FC236}">
                <a16:creationId xmlns:a16="http://schemas.microsoft.com/office/drawing/2014/main" id="{ADA918EE-E871-43C5-9C7C-2D2982652CD5}"/>
              </a:ext>
            </a:extLst>
          </p:cNvPr>
          <p:cNvCxnSpPr>
            <a:stCxn id="3" idx="2"/>
            <a:endCxn id="9" idx="0"/>
          </p:cNvCxnSpPr>
          <p:nvPr/>
        </p:nvCxnSpPr>
        <p:spPr>
          <a:xfrm>
            <a:off x="5410200" y="3429000"/>
            <a:ext cx="3314700" cy="762000"/>
          </a:xfrm>
          <a:prstGeom prst="straightConnector1">
            <a:avLst/>
          </a:prstGeom>
          <a:ln w="21431">
            <a:solidFill>
              <a:srgbClr val="EE7D5B"/>
            </a:solidFill>
            <a:prstDash val="solid"/>
            <a:tailEnd type="arrow" w="med" len="med"/>
          </a:ln>
        </p:spPr>
      </p:cxnSp>
      <p:sp>
        <p:nvSpPr>
          <p:cNvPr id="14" name="Rectangle 13">
            <a:extLst>
              <a:ext uri="{FF2B5EF4-FFF2-40B4-BE49-F238E27FC236}">
                <a16:creationId xmlns:a16="http://schemas.microsoft.com/office/drawing/2014/main" id="{28475309-193A-435F-9216-42D352AEE7D6}"/>
              </a:ext>
            </a:extLst>
          </p:cNvPr>
          <p:cNvSpPr>
            <a:spLocks noGrp="1"/>
          </p:cNvSpPr>
          <p:nvPr/>
        </p:nvSpPr>
        <p:spPr>
          <a:xfrm>
            <a:off x="3333750" y="5429250"/>
            <a:ext cx="4191000" cy="323850"/>
          </a:xfrm>
          <a:prstGeom prst="rect">
            <a:avLst/>
          </a:prstGeom>
          <a:noFill/>
          <a:ln w="0">
            <a:noFill/>
            <a:prstDash val="solid"/>
          </a:ln>
        </p:spPr>
        <p:txBody>
          <a:bodyPr anchor="ctr"/>
          <a:lstStyle>
            <a:defPPr algn="ctr">
              <a:defRPr sz="1425" b="1">
                <a:solidFill>
                  <a:srgbClr val="008A91"/>
                </a:solidFill>
              </a:defRPr>
            </a:defPPr>
          </a:lstStyle>
          <a:p>
            <a:pPr algn="ctr">
              <a:defRPr sz="1425" b="1">
                <a:solidFill>
                  <a:srgbClr val="008A91"/>
                </a:solidFill>
              </a:defRPr>
            </a:pPr>
            <a:r>
              <a:rPr sz="1425" b="1">
                <a:solidFill>
                  <a:srgbClr val="008A91"/>
                </a:solidFill>
              </a:rPr>
              <a:t>The manager owns delegation and the final synthesis</a:t>
            </a:r>
          </a:p>
        </p:txBody>
      </p:sp>
    </p:spTree>
    <p:extLst>
      <p:ext uri="{BB962C8B-B14F-4D97-AF65-F5344CB8AC3E}">
        <p14:creationId xmlns:p14="http://schemas.microsoft.com/office/powerpoint/2010/main" val="1564766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F431E2E-760F-49F0-8AEC-F7BF8A993F45}"/>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0FC6BE25-AEED-4302-A25E-84EB1863A3E0}"/>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Agents require boundaries</a:t>
            </a:r>
          </a:p>
        </p:txBody>
      </p:sp>
      <p:sp>
        <p:nvSpPr>
          <p:cNvPr id="3" name="Rectangle 2">
            <a:extLst>
              <a:ext uri="{FF2B5EF4-FFF2-40B4-BE49-F238E27FC236}">
                <a16:creationId xmlns:a16="http://schemas.microsoft.com/office/drawing/2014/main" id="{ED13D35A-0307-41F4-A01C-A0C52BE40652}"/>
              </a:ext>
            </a:extLst>
          </p:cNvPr>
          <p:cNvSpPr>
            <a:spLocks noGrp="1"/>
          </p:cNvSpPr>
          <p:nvPr/>
        </p:nvSpPr>
        <p:spPr>
          <a:xfrm>
            <a:off x="857250" y="2571750"/>
            <a:ext cx="1809750" cy="400050"/>
          </a:xfrm>
          <a:prstGeom prst="rect">
            <a:avLst/>
          </a:prstGeom>
          <a:noFill/>
          <a:ln w="0">
            <a:noFill/>
            <a:prstDash val="solid"/>
          </a:ln>
        </p:spPr>
        <p:txBody>
          <a:bodyPr anchor="ctr"/>
          <a:lstStyle>
            <a:defPPr algn="l">
              <a:defRPr sz="1350" b="1">
                <a:solidFill>
                  <a:srgbClr val="175CE5"/>
                </a:solidFill>
              </a:defRPr>
            </a:defPPr>
          </a:lstStyle>
          <a:p>
            <a:pPr algn="l">
              <a:defRPr sz="1350" b="1">
                <a:solidFill>
                  <a:srgbClr val="175CE5"/>
                </a:solidFill>
              </a:defRPr>
            </a:pPr>
            <a:r>
              <a:rPr sz="1350" b="1">
                <a:solidFill>
                  <a:srgbClr val="175CE5"/>
                </a:solidFill>
              </a:rPr>
              <a:t>Least privilege</a:t>
            </a:r>
          </a:p>
        </p:txBody>
      </p:sp>
      <p:sp>
        <p:nvSpPr>
          <p:cNvPr id="4" name="Rectangle 3">
            <a:extLst>
              <a:ext uri="{FF2B5EF4-FFF2-40B4-BE49-F238E27FC236}">
                <a16:creationId xmlns:a16="http://schemas.microsoft.com/office/drawing/2014/main" id="{2B446049-BB90-4D8A-9EA9-BB5897FB5127}"/>
              </a:ext>
            </a:extLst>
          </p:cNvPr>
          <p:cNvSpPr>
            <a:spLocks noGrp="1"/>
          </p:cNvSpPr>
          <p:nvPr/>
        </p:nvSpPr>
        <p:spPr>
          <a:xfrm>
            <a:off x="2895600" y="2571750"/>
            <a:ext cx="5334000" cy="400050"/>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Expose only necessary tools and credentials</a:t>
            </a:r>
          </a:p>
        </p:txBody>
      </p:sp>
      <p:sp>
        <p:nvSpPr>
          <p:cNvPr id="5" name="Rectangle 4">
            <a:extLst>
              <a:ext uri="{FF2B5EF4-FFF2-40B4-BE49-F238E27FC236}">
                <a16:creationId xmlns:a16="http://schemas.microsoft.com/office/drawing/2014/main" id="{D478BCF0-F3E8-4BC0-99EA-7DE656129392}"/>
              </a:ext>
            </a:extLst>
          </p:cNvPr>
          <p:cNvSpPr>
            <a:spLocks noGrp="1"/>
          </p:cNvSpPr>
          <p:nvPr/>
        </p:nvSpPr>
        <p:spPr>
          <a:xfrm>
            <a:off x="857250" y="3162300"/>
            <a:ext cx="1809750" cy="400050"/>
          </a:xfrm>
          <a:prstGeom prst="rect">
            <a:avLst/>
          </a:prstGeom>
          <a:noFill/>
          <a:ln w="0">
            <a:noFill/>
            <a:prstDash val="solid"/>
          </a:ln>
        </p:spPr>
        <p:txBody>
          <a:bodyPr anchor="ctr"/>
          <a:lstStyle>
            <a:defPPr algn="l">
              <a:defRPr sz="1350" b="1">
                <a:solidFill>
                  <a:srgbClr val="42BCC9"/>
                </a:solidFill>
              </a:defRPr>
            </a:defPPr>
          </a:lstStyle>
          <a:p>
            <a:pPr algn="l">
              <a:defRPr sz="1350" b="1">
                <a:solidFill>
                  <a:srgbClr val="42BCC9"/>
                </a:solidFill>
              </a:defRPr>
            </a:pPr>
            <a:r>
              <a:rPr sz="1350" b="1">
                <a:solidFill>
                  <a:srgbClr val="42BCC9"/>
                </a:solidFill>
              </a:rPr>
              <a:t>Validation</a:t>
            </a:r>
          </a:p>
        </p:txBody>
      </p:sp>
      <p:sp>
        <p:nvSpPr>
          <p:cNvPr id="6" name="Rectangle 5">
            <a:extLst>
              <a:ext uri="{FF2B5EF4-FFF2-40B4-BE49-F238E27FC236}">
                <a16:creationId xmlns:a16="http://schemas.microsoft.com/office/drawing/2014/main" id="{1BEB8A45-B653-4907-9A06-ACB21F02AB24}"/>
              </a:ext>
            </a:extLst>
          </p:cNvPr>
          <p:cNvSpPr>
            <a:spLocks noGrp="1"/>
          </p:cNvSpPr>
          <p:nvPr/>
        </p:nvSpPr>
        <p:spPr>
          <a:xfrm>
            <a:off x="2895600" y="3162300"/>
            <a:ext cx="5334000" cy="400050"/>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Check every argument before execution</a:t>
            </a:r>
          </a:p>
        </p:txBody>
      </p:sp>
      <p:sp>
        <p:nvSpPr>
          <p:cNvPr id="7" name="Rectangle 6">
            <a:extLst>
              <a:ext uri="{FF2B5EF4-FFF2-40B4-BE49-F238E27FC236}">
                <a16:creationId xmlns:a16="http://schemas.microsoft.com/office/drawing/2014/main" id="{BA4E454E-09CE-4F1E-B9D8-52FFFBC12140}"/>
              </a:ext>
            </a:extLst>
          </p:cNvPr>
          <p:cNvSpPr>
            <a:spLocks noGrp="1"/>
          </p:cNvSpPr>
          <p:nvPr/>
        </p:nvSpPr>
        <p:spPr>
          <a:xfrm>
            <a:off x="857250" y="3752850"/>
            <a:ext cx="1809750" cy="400050"/>
          </a:xfrm>
          <a:prstGeom prst="rect">
            <a:avLst/>
          </a:prstGeom>
          <a:noFill/>
          <a:ln w="0">
            <a:noFill/>
            <a:prstDash val="solid"/>
          </a:ln>
        </p:spPr>
        <p:txBody>
          <a:bodyPr anchor="ctr"/>
          <a:lstStyle>
            <a:defPPr algn="l">
              <a:defRPr sz="1350" b="1">
                <a:solidFill>
                  <a:srgbClr val="F4B900"/>
                </a:solidFill>
              </a:defRPr>
            </a:defPPr>
          </a:lstStyle>
          <a:p>
            <a:pPr algn="l">
              <a:defRPr sz="1350" b="1">
                <a:solidFill>
                  <a:srgbClr val="F4B900"/>
                </a:solidFill>
              </a:defRPr>
            </a:pPr>
            <a:r>
              <a:rPr sz="1350" b="1">
                <a:solidFill>
                  <a:srgbClr val="F4B900"/>
                </a:solidFill>
              </a:rPr>
              <a:t>Budgets</a:t>
            </a:r>
          </a:p>
        </p:txBody>
      </p:sp>
      <p:sp>
        <p:nvSpPr>
          <p:cNvPr id="8" name="Rectangle 7">
            <a:extLst>
              <a:ext uri="{FF2B5EF4-FFF2-40B4-BE49-F238E27FC236}">
                <a16:creationId xmlns:a16="http://schemas.microsoft.com/office/drawing/2014/main" id="{0CBEEF4C-885F-4DF9-A46A-507ADDE250B4}"/>
              </a:ext>
            </a:extLst>
          </p:cNvPr>
          <p:cNvSpPr>
            <a:spLocks noGrp="1"/>
          </p:cNvSpPr>
          <p:nvPr/>
        </p:nvSpPr>
        <p:spPr>
          <a:xfrm>
            <a:off x="2895600" y="3752850"/>
            <a:ext cx="5334000" cy="400050"/>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Limit steps, time, tokens and money</a:t>
            </a:r>
          </a:p>
        </p:txBody>
      </p:sp>
      <p:sp>
        <p:nvSpPr>
          <p:cNvPr id="9" name="Rectangle 8">
            <a:extLst>
              <a:ext uri="{FF2B5EF4-FFF2-40B4-BE49-F238E27FC236}">
                <a16:creationId xmlns:a16="http://schemas.microsoft.com/office/drawing/2014/main" id="{E4E73DE3-D230-4DCF-93FE-F24013DD6192}"/>
              </a:ext>
            </a:extLst>
          </p:cNvPr>
          <p:cNvSpPr>
            <a:spLocks noGrp="1"/>
          </p:cNvSpPr>
          <p:nvPr/>
        </p:nvSpPr>
        <p:spPr>
          <a:xfrm>
            <a:off x="857250" y="4343400"/>
            <a:ext cx="1809750" cy="400050"/>
          </a:xfrm>
          <a:prstGeom prst="rect">
            <a:avLst/>
          </a:prstGeom>
          <a:noFill/>
          <a:ln w="0">
            <a:noFill/>
            <a:prstDash val="solid"/>
          </a:ln>
        </p:spPr>
        <p:txBody>
          <a:bodyPr anchor="ctr"/>
          <a:lstStyle>
            <a:defPPr algn="l">
              <a:defRPr sz="1350" b="1">
                <a:solidFill>
                  <a:srgbClr val="EE7D5B"/>
                </a:solidFill>
              </a:defRPr>
            </a:defPPr>
          </a:lstStyle>
          <a:p>
            <a:pPr algn="l">
              <a:defRPr sz="1350" b="1">
                <a:solidFill>
                  <a:srgbClr val="EE7D5B"/>
                </a:solidFill>
              </a:defRPr>
            </a:pPr>
            <a:r>
              <a:rPr sz="1350" b="1">
                <a:solidFill>
                  <a:srgbClr val="EE7D5B"/>
                </a:solidFill>
              </a:rPr>
              <a:t>Isolation</a:t>
            </a:r>
          </a:p>
        </p:txBody>
      </p:sp>
      <p:sp>
        <p:nvSpPr>
          <p:cNvPr id="10" name="Rectangle 9">
            <a:extLst>
              <a:ext uri="{FF2B5EF4-FFF2-40B4-BE49-F238E27FC236}">
                <a16:creationId xmlns:a16="http://schemas.microsoft.com/office/drawing/2014/main" id="{B466FFFB-43BE-4F16-BFC4-8F50BACE650D}"/>
              </a:ext>
            </a:extLst>
          </p:cNvPr>
          <p:cNvSpPr>
            <a:spLocks noGrp="1"/>
          </p:cNvSpPr>
          <p:nvPr/>
        </p:nvSpPr>
        <p:spPr>
          <a:xfrm>
            <a:off x="2895600" y="4343400"/>
            <a:ext cx="5334000" cy="400050"/>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Restrict code, filesystem and network access</a:t>
            </a:r>
          </a:p>
        </p:txBody>
      </p:sp>
      <p:sp>
        <p:nvSpPr>
          <p:cNvPr id="11" name="Rectangle 10">
            <a:extLst>
              <a:ext uri="{FF2B5EF4-FFF2-40B4-BE49-F238E27FC236}">
                <a16:creationId xmlns:a16="http://schemas.microsoft.com/office/drawing/2014/main" id="{05258349-0722-4C97-BD90-2B4E77AE1CB6}"/>
              </a:ext>
            </a:extLst>
          </p:cNvPr>
          <p:cNvSpPr>
            <a:spLocks noGrp="1"/>
          </p:cNvSpPr>
          <p:nvPr/>
        </p:nvSpPr>
        <p:spPr>
          <a:xfrm>
            <a:off x="857250" y="4933950"/>
            <a:ext cx="1809750" cy="400050"/>
          </a:xfrm>
          <a:prstGeom prst="rect">
            <a:avLst/>
          </a:prstGeom>
          <a:noFill/>
          <a:ln w="0">
            <a:noFill/>
            <a:prstDash val="solid"/>
          </a:ln>
        </p:spPr>
        <p:txBody>
          <a:bodyPr anchor="ctr"/>
          <a:lstStyle>
            <a:defPPr algn="l">
              <a:defRPr sz="1350" b="1">
                <a:solidFill>
                  <a:srgbClr val="008A91"/>
                </a:solidFill>
              </a:defRPr>
            </a:defPPr>
          </a:lstStyle>
          <a:p>
            <a:pPr algn="l">
              <a:defRPr sz="1350" b="1">
                <a:solidFill>
                  <a:srgbClr val="008A91"/>
                </a:solidFill>
              </a:defRPr>
            </a:pPr>
            <a:r>
              <a:rPr sz="1350" b="1">
                <a:solidFill>
                  <a:srgbClr val="008A91"/>
                </a:solidFill>
              </a:rPr>
              <a:t>Approval</a:t>
            </a:r>
          </a:p>
        </p:txBody>
      </p:sp>
      <p:sp>
        <p:nvSpPr>
          <p:cNvPr id="12" name="Rectangle 11">
            <a:extLst>
              <a:ext uri="{FF2B5EF4-FFF2-40B4-BE49-F238E27FC236}">
                <a16:creationId xmlns:a16="http://schemas.microsoft.com/office/drawing/2014/main" id="{BEFB4D72-3541-4909-89FE-FC7A6FDEAB0A}"/>
              </a:ext>
            </a:extLst>
          </p:cNvPr>
          <p:cNvSpPr>
            <a:spLocks noGrp="1"/>
          </p:cNvSpPr>
          <p:nvPr/>
        </p:nvSpPr>
        <p:spPr>
          <a:xfrm>
            <a:off x="2895600" y="4933950"/>
            <a:ext cx="5334000" cy="400050"/>
          </a:xfrm>
          <a:prstGeom prst="rect">
            <a:avLst/>
          </a:prstGeom>
          <a:noFill/>
          <a:ln w="0">
            <a:noFill/>
            <a:prstDash val="solid"/>
          </a:ln>
        </p:spPr>
        <p:txBody>
          <a:bodyPr anchor="ctr"/>
          <a:lstStyle>
            <a:defPPr algn="l">
              <a:defRPr sz="1275" b="0">
                <a:solidFill>
                  <a:srgbClr val="223047"/>
                </a:solidFill>
              </a:defRPr>
            </a:defPPr>
          </a:lstStyle>
          <a:p>
            <a:pPr algn="l">
              <a:defRPr sz="1275" b="0">
                <a:solidFill>
                  <a:srgbClr val="223047"/>
                </a:solidFill>
              </a:defRPr>
            </a:pPr>
            <a:r>
              <a:rPr sz="1275" b="0">
                <a:solidFill>
                  <a:srgbClr val="223047"/>
                </a:solidFill>
              </a:rPr>
              <a:t>Pause before consequential actions</a:t>
            </a:r>
          </a:p>
        </p:txBody>
      </p:sp>
      <p:sp>
        <p:nvSpPr>
          <p:cNvPr id="13" name="Rectangle 12">
            <a:extLst>
              <a:ext uri="{FF2B5EF4-FFF2-40B4-BE49-F238E27FC236}">
                <a16:creationId xmlns:a16="http://schemas.microsoft.com/office/drawing/2014/main" id="{4E6EECEE-994D-4C01-9CE3-27AC056D81F4}"/>
              </a:ext>
            </a:extLst>
          </p:cNvPr>
          <p:cNvSpPr>
            <a:spLocks noGrp="1"/>
          </p:cNvSpPr>
          <p:nvPr/>
        </p:nvSpPr>
        <p:spPr>
          <a:xfrm>
            <a:off x="6324600" y="5162550"/>
            <a:ext cx="4286250" cy="457200"/>
          </a:xfrm>
          <a:prstGeom prst="rect">
            <a:avLst/>
          </a:prstGeom>
          <a:noFill/>
          <a:ln w="0">
            <a:noFill/>
            <a:prstDash val="solid"/>
          </a:ln>
        </p:spPr>
        <p:txBody>
          <a:bodyPr anchor="ctr"/>
          <a:lstStyle>
            <a:defPPr algn="ctr">
              <a:defRPr sz="1350" b="1">
                <a:solidFill>
                  <a:srgbClr val="203D67"/>
                </a:solidFill>
              </a:defRPr>
            </a:defPPr>
          </a:lstStyle>
          <a:p>
            <a:pPr algn="ctr">
              <a:defRPr sz="1350" b="1">
                <a:solidFill>
                  <a:srgbClr val="203D67"/>
                </a:solidFill>
              </a:defRPr>
            </a:pPr>
            <a:r>
              <a:rPr sz="1350" b="1">
                <a:solidFill>
                  <a:srgbClr val="203D67"/>
                </a:solidFill>
              </a:rPr>
              <a:t>A local code executor reduces risk but does not provide complete isolation</a:t>
            </a:r>
          </a:p>
        </p:txBody>
      </p:sp>
    </p:spTree>
    <p:extLst>
      <p:ext uri="{BB962C8B-B14F-4D97-AF65-F5344CB8AC3E}">
        <p14:creationId xmlns:p14="http://schemas.microsoft.com/office/powerpoint/2010/main" val="16011482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5AF93464-F544-4889-89FB-985E9ADF4578}"/>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F062D79-3780-4AD1-81DA-F2777DC681DD}"/>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Observability and evaluation</a:t>
            </a:r>
          </a:p>
        </p:txBody>
      </p:sp>
      <p:sp>
        <p:nvSpPr>
          <p:cNvPr id="3" name="Rectangle 2">
            <a:extLst>
              <a:ext uri="{FF2B5EF4-FFF2-40B4-BE49-F238E27FC236}">
                <a16:creationId xmlns:a16="http://schemas.microsoft.com/office/drawing/2014/main" id="{E0720AD9-3151-468F-A013-909861D4853C}"/>
              </a:ext>
            </a:extLst>
          </p:cNvPr>
          <p:cNvSpPr>
            <a:spLocks noGrp="1"/>
          </p:cNvSpPr>
          <p:nvPr/>
        </p:nvSpPr>
        <p:spPr>
          <a:xfrm>
            <a:off x="990600" y="2571750"/>
            <a:ext cx="2286000" cy="361950"/>
          </a:xfrm>
          <a:prstGeom prst="rect">
            <a:avLst/>
          </a:prstGeom>
          <a:noFill/>
          <a:ln w="0">
            <a:noFill/>
            <a:prstDash val="solid"/>
          </a:ln>
        </p:spPr>
        <p:txBody>
          <a:bodyPr anchor="ctr"/>
          <a:lstStyle>
            <a:defPPr algn="l">
              <a:defRPr sz="1575" b="1">
                <a:solidFill>
                  <a:srgbClr val="175CE5"/>
                </a:solidFill>
              </a:defRPr>
            </a:defPPr>
          </a:lstStyle>
          <a:p>
            <a:pPr algn="l">
              <a:defRPr sz="1575" b="1">
                <a:solidFill>
                  <a:srgbClr val="175CE5"/>
                </a:solidFill>
              </a:defRPr>
            </a:pPr>
            <a:r>
              <a:rPr sz="1575" b="1">
                <a:solidFill>
                  <a:srgbClr val="175CE5"/>
                </a:solidFill>
              </a:rPr>
              <a:t>TRACE</a:t>
            </a:r>
          </a:p>
        </p:txBody>
      </p:sp>
      <p:sp>
        <p:nvSpPr>
          <p:cNvPr id="4" name="Rectangle 3">
            <a:extLst>
              <a:ext uri="{FF2B5EF4-FFF2-40B4-BE49-F238E27FC236}">
                <a16:creationId xmlns:a16="http://schemas.microsoft.com/office/drawing/2014/main" id="{7C8D6B23-D98E-451F-BCBC-DE181202DF94}"/>
              </a:ext>
            </a:extLst>
          </p:cNvPr>
          <p:cNvSpPr>
            <a:spLocks noGrp="1"/>
          </p:cNvSpPr>
          <p:nvPr/>
        </p:nvSpPr>
        <p:spPr>
          <a:xfrm>
            <a:off x="4267200" y="2571750"/>
            <a:ext cx="2286000" cy="361950"/>
          </a:xfrm>
          <a:prstGeom prst="rect">
            <a:avLst/>
          </a:prstGeom>
          <a:noFill/>
          <a:ln w="0">
            <a:noFill/>
            <a:prstDash val="solid"/>
          </a:ln>
        </p:spPr>
        <p:txBody>
          <a:bodyPr anchor="ctr"/>
          <a:lstStyle>
            <a:defPPr algn="l">
              <a:defRPr sz="1575" b="1">
                <a:solidFill>
                  <a:srgbClr val="008A91"/>
                </a:solidFill>
              </a:defRPr>
            </a:defPPr>
          </a:lstStyle>
          <a:p>
            <a:pPr algn="l">
              <a:defRPr sz="1575" b="1">
                <a:solidFill>
                  <a:srgbClr val="008A91"/>
                </a:solidFill>
              </a:defRPr>
            </a:pPr>
            <a:r>
              <a:rPr sz="1575" b="1">
                <a:solidFill>
                  <a:srgbClr val="008A91"/>
                </a:solidFill>
              </a:rPr>
              <a:t>EVALUATE</a:t>
            </a:r>
          </a:p>
        </p:txBody>
      </p:sp>
      <p:sp>
        <p:nvSpPr>
          <p:cNvPr id="5" name="Rectangle 4">
            <a:extLst>
              <a:ext uri="{FF2B5EF4-FFF2-40B4-BE49-F238E27FC236}">
                <a16:creationId xmlns:a16="http://schemas.microsoft.com/office/drawing/2014/main" id="{1B1966E0-8EC2-47DB-84B8-DE60672062F5}"/>
              </a:ext>
            </a:extLst>
          </p:cNvPr>
          <p:cNvSpPr>
            <a:spLocks noGrp="1"/>
          </p:cNvSpPr>
          <p:nvPr/>
        </p:nvSpPr>
        <p:spPr>
          <a:xfrm>
            <a:off x="7543800" y="2571750"/>
            <a:ext cx="2286000" cy="361950"/>
          </a:xfrm>
          <a:prstGeom prst="rect">
            <a:avLst/>
          </a:prstGeom>
          <a:noFill/>
          <a:ln w="0">
            <a:noFill/>
            <a:prstDash val="solid"/>
          </a:ln>
        </p:spPr>
        <p:txBody>
          <a:bodyPr anchor="ctr"/>
          <a:lstStyle>
            <a:defPPr algn="l">
              <a:defRPr sz="1575" b="1">
                <a:solidFill>
                  <a:srgbClr val="F4B900"/>
                </a:solidFill>
              </a:defRPr>
            </a:defPPr>
          </a:lstStyle>
          <a:p>
            <a:pPr algn="l">
              <a:defRPr sz="1575" b="1">
                <a:solidFill>
                  <a:srgbClr val="F4B900"/>
                </a:solidFill>
              </a:defRPr>
            </a:pPr>
            <a:r>
              <a:rPr sz="1575" b="1">
                <a:solidFill>
                  <a:srgbClr val="F4B900"/>
                </a:solidFill>
              </a:rPr>
              <a:t>IMPROVE</a:t>
            </a:r>
          </a:p>
        </p:txBody>
      </p:sp>
      <p:sp>
        <p:nvSpPr>
          <p:cNvPr id="6" name="Rounded Rectangle 5">
            <a:extLst>
              <a:ext uri="{FF2B5EF4-FFF2-40B4-BE49-F238E27FC236}">
                <a16:creationId xmlns:a16="http://schemas.microsoft.com/office/drawing/2014/main" id="{B5186E2C-3EC3-4651-955D-2287AC3FAD8E}"/>
              </a:ext>
            </a:extLst>
          </p:cNvPr>
          <p:cNvSpPr>
            <a:spLocks noGrp="1"/>
          </p:cNvSpPr>
          <p:nvPr/>
        </p:nvSpPr>
        <p:spPr>
          <a:xfrm>
            <a:off x="952500" y="3257550"/>
            <a:ext cx="104775" cy="104775"/>
          </a:xfrm>
          <a:prstGeom prst="roundRect">
            <a:avLst>
              <a:gd name="adj" fmla="val 18182"/>
            </a:avLst>
          </a:prstGeom>
          <a:solidFill>
            <a:srgbClr val="175CE5"/>
          </a:solidFill>
          <a:ln w="0">
            <a:noFill/>
            <a:prstDash val="solid"/>
          </a:ln>
        </p:spPr>
        <p:txBody>
          <a:bodyPr/>
          <a:lstStyle/>
          <a:p>
            <a:endParaRPr lang="en-US"/>
          </a:p>
        </p:txBody>
      </p:sp>
      <p:sp>
        <p:nvSpPr>
          <p:cNvPr id="7" name="Rectangle 6">
            <a:extLst>
              <a:ext uri="{FF2B5EF4-FFF2-40B4-BE49-F238E27FC236}">
                <a16:creationId xmlns:a16="http://schemas.microsoft.com/office/drawing/2014/main" id="{0B5B4437-EA87-4AFA-A2F4-052EFEB44C3E}"/>
              </a:ext>
            </a:extLst>
          </p:cNvPr>
          <p:cNvSpPr>
            <a:spLocks noGrp="1"/>
          </p:cNvSpPr>
          <p:nvPr/>
        </p:nvSpPr>
        <p:spPr>
          <a:xfrm>
            <a:off x="1238250" y="3143250"/>
            <a:ext cx="2286000" cy="438150"/>
          </a:xfrm>
          <a:prstGeom prst="rect">
            <a:avLst/>
          </a:prstGeom>
          <a:noFill/>
          <a:ln w="0">
            <a:noFill/>
            <a:prstDash val="solid"/>
          </a:ln>
        </p:spPr>
        <p:txBody>
          <a:bodyPr anchor="ctr"/>
          <a:lstStyle>
            <a:defPPr algn="l">
              <a:defRPr sz="1200" b="0">
                <a:solidFill>
                  <a:srgbClr val="223047"/>
                </a:solidFill>
              </a:defRPr>
            </a:defPPr>
          </a:lstStyle>
          <a:p>
            <a:pPr algn="l">
              <a:defRPr sz="1200" b="0">
                <a:solidFill>
                  <a:srgbClr val="223047"/>
                </a:solidFill>
              </a:defRPr>
            </a:pPr>
            <a:r>
              <a:rPr sz="1200" b="0">
                <a:solidFill>
                  <a:srgbClr val="223047"/>
                </a:solidFill>
              </a:rPr>
              <a:t>Model calls</a:t>
            </a:r>
          </a:p>
        </p:txBody>
      </p:sp>
      <p:sp>
        <p:nvSpPr>
          <p:cNvPr id="8" name="Rounded Rectangle 7">
            <a:extLst>
              <a:ext uri="{FF2B5EF4-FFF2-40B4-BE49-F238E27FC236}">
                <a16:creationId xmlns:a16="http://schemas.microsoft.com/office/drawing/2014/main" id="{73981204-FECC-4B97-A924-A7A78C2C06EB}"/>
              </a:ext>
            </a:extLst>
          </p:cNvPr>
          <p:cNvSpPr>
            <a:spLocks noGrp="1"/>
          </p:cNvSpPr>
          <p:nvPr/>
        </p:nvSpPr>
        <p:spPr>
          <a:xfrm>
            <a:off x="952500" y="3752850"/>
            <a:ext cx="104775" cy="104775"/>
          </a:xfrm>
          <a:prstGeom prst="roundRect">
            <a:avLst>
              <a:gd name="adj" fmla="val 18182"/>
            </a:avLst>
          </a:prstGeom>
          <a:solidFill>
            <a:srgbClr val="175CE5"/>
          </a:solidFill>
          <a:ln w="0">
            <a:noFill/>
            <a:prstDash val="solid"/>
          </a:ln>
        </p:spPr>
        <p:txBody>
          <a:bodyPr/>
          <a:lstStyle/>
          <a:p>
            <a:endParaRPr lang="en-US"/>
          </a:p>
        </p:txBody>
      </p:sp>
      <p:sp>
        <p:nvSpPr>
          <p:cNvPr id="9" name="Rectangle 8">
            <a:extLst>
              <a:ext uri="{FF2B5EF4-FFF2-40B4-BE49-F238E27FC236}">
                <a16:creationId xmlns:a16="http://schemas.microsoft.com/office/drawing/2014/main" id="{DBA0EAD7-4EAE-48CA-AF00-2FF922E1557F}"/>
              </a:ext>
            </a:extLst>
          </p:cNvPr>
          <p:cNvSpPr>
            <a:spLocks noGrp="1"/>
          </p:cNvSpPr>
          <p:nvPr/>
        </p:nvSpPr>
        <p:spPr>
          <a:xfrm>
            <a:off x="1238250" y="3638550"/>
            <a:ext cx="2286000" cy="438150"/>
          </a:xfrm>
          <a:prstGeom prst="rect">
            <a:avLst/>
          </a:prstGeom>
          <a:noFill/>
          <a:ln w="0">
            <a:noFill/>
            <a:prstDash val="solid"/>
          </a:ln>
        </p:spPr>
        <p:txBody>
          <a:bodyPr anchor="ctr"/>
          <a:lstStyle>
            <a:defPPr algn="l">
              <a:defRPr sz="1200" b="0">
                <a:solidFill>
                  <a:srgbClr val="223047"/>
                </a:solidFill>
              </a:defRPr>
            </a:defPPr>
          </a:lstStyle>
          <a:p>
            <a:pPr algn="l">
              <a:defRPr sz="1200" b="0">
                <a:solidFill>
                  <a:srgbClr val="223047"/>
                </a:solidFill>
              </a:defRPr>
            </a:pPr>
            <a:r>
              <a:rPr sz="1200" b="0">
                <a:solidFill>
                  <a:srgbClr val="223047"/>
                </a:solidFill>
              </a:rPr>
              <a:t>Tool calls</a:t>
            </a:r>
          </a:p>
        </p:txBody>
      </p:sp>
      <p:sp>
        <p:nvSpPr>
          <p:cNvPr id="10" name="Rounded Rectangle 9">
            <a:extLst>
              <a:ext uri="{FF2B5EF4-FFF2-40B4-BE49-F238E27FC236}">
                <a16:creationId xmlns:a16="http://schemas.microsoft.com/office/drawing/2014/main" id="{E9DAE383-26CB-42C3-AC03-64E133D62069}"/>
              </a:ext>
            </a:extLst>
          </p:cNvPr>
          <p:cNvSpPr>
            <a:spLocks noGrp="1"/>
          </p:cNvSpPr>
          <p:nvPr/>
        </p:nvSpPr>
        <p:spPr>
          <a:xfrm>
            <a:off x="952500" y="4248150"/>
            <a:ext cx="104775" cy="104775"/>
          </a:xfrm>
          <a:prstGeom prst="roundRect">
            <a:avLst>
              <a:gd name="adj" fmla="val 18182"/>
            </a:avLst>
          </a:prstGeom>
          <a:solidFill>
            <a:srgbClr val="175CE5"/>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F1F0EB62-2659-4A09-86F6-0B13C945506C}"/>
              </a:ext>
            </a:extLst>
          </p:cNvPr>
          <p:cNvSpPr>
            <a:spLocks noGrp="1"/>
          </p:cNvSpPr>
          <p:nvPr/>
        </p:nvSpPr>
        <p:spPr>
          <a:xfrm>
            <a:off x="1238250" y="4133850"/>
            <a:ext cx="2286000" cy="438150"/>
          </a:xfrm>
          <a:prstGeom prst="rect">
            <a:avLst/>
          </a:prstGeom>
          <a:noFill/>
          <a:ln w="0">
            <a:noFill/>
            <a:prstDash val="solid"/>
          </a:ln>
        </p:spPr>
        <p:txBody>
          <a:bodyPr anchor="ctr"/>
          <a:lstStyle>
            <a:defPPr algn="l">
              <a:defRPr sz="1200" b="0">
                <a:solidFill>
                  <a:srgbClr val="223047"/>
                </a:solidFill>
              </a:defRPr>
            </a:defPPr>
          </a:lstStyle>
          <a:p>
            <a:pPr algn="l">
              <a:defRPr sz="1200" b="0">
                <a:solidFill>
                  <a:srgbClr val="223047"/>
                </a:solidFill>
              </a:defRPr>
            </a:pPr>
            <a:r>
              <a:rPr sz="1200" b="0">
                <a:solidFill>
                  <a:srgbClr val="223047"/>
                </a:solidFill>
              </a:rPr>
              <a:t>Errors</a:t>
            </a:r>
          </a:p>
        </p:txBody>
      </p:sp>
      <p:sp>
        <p:nvSpPr>
          <p:cNvPr id="12" name="Rounded Rectangle 11">
            <a:extLst>
              <a:ext uri="{FF2B5EF4-FFF2-40B4-BE49-F238E27FC236}">
                <a16:creationId xmlns:a16="http://schemas.microsoft.com/office/drawing/2014/main" id="{09A3B15A-265C-4458-8859-CF6F4EA9BBF0}"/>
              </a:ext>
            </a:extLst>
          </p:cNvPr>
          <p:cNvSpPr>
            <a:spLocks noGrp="1"/>
          </p:cNvSpPr>
          <p:nvPr/>
        </p:nvSpPr>
        <p:spPr>
          <a:xfrm>
            <a:off x="952500" y="4743450"/>
            <a:ext cx="104775" cy="104775"/>
          </a:xfrm>
          <a:prstGeom prst="roundRect">
            <a:avLst>
              <a:gd name="adj" fmla="val 18182"/>
            </a:avLst>
          </a:prstGeom>
          <a:solidFill>
            <a:srgbClr val="175CE5"/>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8A0BAD8C-8941-41CF-A430-DDD3D00D6BCB}"/>
              </a:ext>
            </a:extLst>
          </p:cNvPr>
          <p:cNvSpPr>
            <a:spLocks noGrp="1"/>
          </p:cNvSpPr>
          <p:nvPr/>
        </p:nvSpPr>
        <p:spPr>
          <a:xfrm>
            <a:off x="1238250" y="4629150"/>
            <a:ext cx="2286000" cy="438150"/>
          </a:xfrm>
          <a:prstGeom prst="rect">
            <a:avLst/>
          </a:prstGeom>
          <a:noFill/>
          <a:ln w="0">
            <a:noFill/>
            <a:prstDash val="solid"/>
          </a:ln>
        </p:spPr>
        <p:txBody>
          <a:bodyPr anchor="ctr"/>
          <a:lstStyle>
            <a:defPPr algn="l">
              <a:defRPr sz="1200" b="0">
                <a:solidFill>
                  <a:srgbClr val="223047"/>
                </a:solidFill>
              </a:defRPr>
            </a:defPPr>
          </a:lstStyle>
          <a:p>
            <a:pPr algn="l">
              <a:defRPr sz="1200" b="0">
                <a:solidFill>
                  <a:srgbClr val="223047"/>
                </a:solidFill>
              </a:defRPr>
            </a:pPr>
            <a:r>
              <a:rPr sz="1200" b="0">
                <a:solidFill>
                  <a:srgbClr val="223047"/>
                </a:solidFill>
              </a:rPr>
              <a:t>Latency and cost</a:t>
            </a:r>
          </a:p>
        </p:txBody>
      </p:sp>
      <p:sp>
        <p:nvSpPr>
          <p:cNvPr id="14" name="Rounded Rectangle 13">
            <a:extLst>
              <a:ext uri="{FF2B5EF4-FFF2-40B4-BE49-F238E27FC236}">
                <a16:creationId xmlns:a16="http://schemas.microsoft.com/office/drawing/2014/main" id="{C4B549FD-F0C3-418A-872D-F096187C2C4D}"/>
              </a:ext>
            </a:extLst>
          </p:cNvPr>
          <p:cNvSpPr>
            <a:spLocks noGrp="1"/>
          </p:cNvSpPr>
          <p:nvPr/>
        </p:nvSpPr>
        <p:spPr>
          <a:xfrm>
            <a:off x="4229100" y="3257550"/>
            <a:ext cx="104775" cy="104775"/>
          </a:xfrm>
          <a:prstGeom prst="roundRect">
            <a:avLst>
              <a:gd name="adj" fmla="val 18182"/>
            </a:avLst>
          </a:prstGeom>
          <a:solidFill>
            <a:srgbClr val="008A91"/>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BF53C2D7-0F60-4862-B9E8-E5EDC8333DB4}"/>
              </a:ext>
            </a:extLst>
          </p:cNvPr>
          <p:cNvSpPr>
            <a:spLocks noGrp="1"/>
          </p:cNvSpPr>
          <p:nvPr/>
        </p:nvSpPr>
        <p:spPr>
          <a:xfrm>
            <a:off x="4514850" y="3143250"/>
            <a:ext cx="2381250" cy="438150"/>
          </a:xfrm>
          <a:prstGeom prst="rect">
            <a:avLst/>
          </a:prstGeom>
          <a:noFill/>
          <a:ln w="0">
            <a:noFill/>
            <a:prstDash val="solid"/>
          </a:ln>
        </p:spPr>
        <p:txBody>
          <a:bodyPr anchor="ctr"/>
          <a:lstStyle>
            <a:defPPr algn="l">
              <a:defRPr sz="1200" b="0">
                <a:solidFill>
                  <a:srgbClr val="223047"/>
                </a:solidFill>
              </a:defRPr>
            </a:defPPr>
          </a:lstStyle>
          <a:p>
            <a:pPr algn="l">
              <a:defRPr sz="1200" b="0">
                <a:solidFill>
                  <a:srgbClr val="223047"/>
                </a:solidFill>
              </a:defRPr>
            </a:pPr>
            <a:r>
              <a:rPr sz="1200" b="0">
                <a:solidFill>
                  <a:srgbClr val="223047"/>
                </a:solidFill>
              </a:rPr>
              <a:t>Task completion</a:t>
            </a:r>
          </a:p>
        </p:txBody>
      </p:sp>
      <p:sp>
        <p:nvSpPr>
          <p:cNvPr id="16" name="Rounded Rectangle 15">
            <a:extLst>
              <a:ext uri="{FF2B5EF4-FFF2-40B4-BE49-F238E27FC236}">
                <a16:creationId xmlns:a16="http://schemas.microsoft.com/office/drawing/2014/main" id="{04087BA4-00B2-4B13-B6A6-8BAD46A00FEB}"/>
              </a:ext>
            </a:extLst>
          </p:cNvPr>
          <p:cNvSpPr>
            <a:spLocks noGrp="1"/>
          </p:cNvSpPr>
          <p:nvPr/>
        </p:nvSpPr>
        <p:spPr>
          <a:xfrm>
            <a:off x="4229100" y="3752850"/>
            <a:ext cx="104775" cy="104775"/>
          </a:xfrm>
          <a:prstGeom prst="roundRect">
            <a:avLst>
              <a:gd name="adj" fmla="val 18182"/>
            </a:avLst>
          </a:prstGeom>
          <a:solidFill>
            <a:srgbClr val="008A91"/>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C452AD74-8496-4BBC-9087-49AFC06FF16C}"/>
              </a:ext>
            </a:extLst>
          </p:cNvPr>
          <p:cNvSpPr>
            <a:spLocks noGrp="1"/>
          </p:cNvSpPr>
          <p:nvPr/>
        </p:nvSpPr>
        <p:spPr>
          <a:xfrm>
            <a:off x="4514850" y="3638550"/>
            <a:ext cx="2381250" cy="438150"/>
          </a:xfrm>
          <a:prstGeom prst="rect">
            <a:avLst/>
          </a:prstGeom>
          <a:noFill/>
          <a:ln w="0">
            <a:noFill/>
            <a:prstDash val="solid"/>
          </a:ln>
        </p:spPr>
        <p:txBody>
          <a:bodyPr anchor="ctr"/>
          <a:lstStyle>
            <a:defPPr algn="l">
              <a:defRPr sz="1200" b="0">
                <a:solidFill>
                  <a:srgbClr val="223047"/>
                </a:solidFill>
              </a:defRPr>
            </a:defPPr>
          </a:lstStyle>
          <a:p>
            <a:pPr algn="l">
              <a:defRPr sz="1200" b="0">
                <a:solidFill>
                  <a:srgbClr val="223047"/>
                </a:solidFill>
              </a:defRPr>
            </a:pPr>
            <a:r>
              <a:rPr sz="1200" b="0">
                <a:solidFill>
                  <a:srgbClr val="223047"/>
                </a:solidFill>
              </a:rPr>
              <a:t>Tool choice</a:t>
            </a:r>
          </a:p>
        </p:txBody>
      </p:sp>
      <p:sp>
        <p:nvSpPr>
          <p:cNvPr id="18" name="Rounded Rectangle 17">
            <a:extLst>
              <a:ext uri="{FF2B5EF4-FFF2-40B4-BE49-F238E27FC236}">
                <a16:creationId xmlns:a16="http://schemas.microsoft.com/office/drawing/2014/main" id="{89DC1CE8-6DA5-42BD-85D8-CC9009E8E7DC}"/>
              </a:ext>
            </a:extLst>
          </p:cNvPr>
          <p:cNvSpPr>
            <a:spLocks noGrp="1"/>
          </p:cNvSpPr>
          <p:nvPr/>
        </p:nvSpPr>
        <p:spPr>
          <a:xfrm>
            <a:off x="4229100" y="4248150"/>
            <a:ext cx="104775" cy="104775"/>
          </a:xfrm>
          <a:prstGeom prst="roundRect">
            <a:avLst>
              <a:gd name="adj" fmla="val 18182"/>
            </a:avLst>
          </a:prstGeom>
          <a:solidFill>
            <a:srgbClr val="008A91"/>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A64E7B0F-3C16-443A-ADAA-282543272EF4}"/>
              </a:ext>
            </a:extLst>
          </p:cNvPr>
          <p:cNvSpPr>
            <a:spLocks noGrp="1"/>
          </p:cNvSpPr>
          <p:nvPr/>
        </p:nvSpPr>
        <p:spPr>
          <a:xfrm>
            <a:off x="4514850" y="4133850"/>
            <a:ext cx="2381250" cy="438150"/>
          </a:xfrm>
          <a:prstGeom prst="rect">
            <a:avLst/>
          </a:prstGeom>
          <a:noFill/>
          <a:ln w="0">
            <a:noFill/>
            <a:prstDash val="solid"/>
          </a:ln>
        </p:spPr>
        <p:txBody>
          <a:bodyPr anchor="ctr"/>
          <a:lstStyle>
            <a:defPPr algn="l">
              <a:defRPr sz="1200" b="0">
                <a:solidFill>
                  <a:srgbClr val="223047"/>
                </a:solidFill>
              </a:defRPr>
            </a:defPPr>
          </a:lstStyle>
          <a:p>
            <a:pPr algn="l">
              <a:defRPr sz="1200" b="0">
                <a:solidFill>
                  <a:srgbClr val="223047"/>
                </a:solidFill>
              </a:defRPr>
            </a:pPr>
            <a:r>
              <a:rPr sz="1200" b="0">
                <a:solidFill>
                  <a:srgbClr val="223047"/>
                </a:solidFill>
              </a:rPr>
              <a:t>Evidence quality</a:t>
            </a:r>
          </a:p>
        </p:txBody>
      </p:sp>
      <p:sp>
        <p:nvSpPr>
          <p:cNvPr id="20" name="Rounded Rectangle 19">
            <a:extLst>
              <a:ext uri="{FF2B5EF4-FFF2-40B4-BE49-F238E27FC236}">
                <a16:creationId xmlns:a16="http://schemas.microsoft.com/office/drawing/2014/main" id="{7D5EE55C-6198-432E-BE5F-74C03118DE58}"/>
              </a:ext>
            </a:extLst>
          </p:cNvPr>
          <p:cNvSpPr>
            <a:spLocks noGrp="1"/>
          </p:cNvSpPr>
          <p:nvPr/>
        </p:nvSpPr>
        <p:spPr>
          <a:xfrm>
            <a:off x="4229100" y="4743450"/>
            <a:ext cx="104775" cy="104775"/>
          </a:xfrm>
          <a:prstGeom prst="roundRect">
            <a:avLst>
              <a:gd name="adj" fmla="val 18182"/>
            </a:avLst>
          </a:prstGeom>
          <a:solidFill>
            <a:srgbClr val="008A91"/>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9D5E9FB5-212C-4487-A0F9-13C15344653A}"/>
              </a:ext>
            </a:extLst>
          </p:cNvPr>
          <p:cNvSpPr>
            <a:spLocks noGrp="1"/>
          </p:cNvSpPr>
          <p:nvPr/>
        </p:nvSpPr>
        <p:spPr>
          <a:xfrm>
            <a:off x="4514850" y="4629150"/>
            <a:ext cx="2381250" cy="438150"/>
          </a:xfrm>
          <a:prstGeom prst="rect">
            <a:avLst/>
          </a:prstGeom>
          <a:noFill/>
          <a:ln w="0">
            <a:noFill/>
            <a:prstDash val="solid"/>
          </a:ln>
        </p:spPr>
        <p:txBody>
          <a:bodyPr anchor="ctr"/>
          <a:lstStyle>
            <a:defPPr algn="l">
              <a:defRPr sz="1200" b="0">
                <a:solidFill>
                  <a:srgbClr val="223047"/>
                </a:solidFill>
              </a:defRPr>
            </a:defPPr>
          </a:lstStyle>
          <a:p>
            <a:pPr algn="l">
              <a:defRPr sz="1200" b="0">
                <a:solidFill>
                  <a:srgbClr val="223047"/>
                </a:solidFill>
              </a:defRPr>
            </a:pPr>
            <a:r>
              <a:rPr sz="1200" b="0">
                <a:solidFill>
                  <a:srgbClr val="223047"/>
                </a:solidFill>
              </a:rPr>
              <a:t>Policy compliance</a:t>
            </a:r>
          </a:p>
        </p:txBody>
      </p:sp>
      <p:sp>
        <p:nvSpPr>
          <p:cNvPr id="22" name="Rounded Rectangle 21">
            <a:extLst>
              <a:ext uri="{FF2B5EF4-FFF2-40B4-BE49-F238E27FC236}">
                <a16:creationId xmlns:a16="http://schemas.microsoft.com/office/drawing/2014/main" id="{B68E7310-D5A3-47B6-9850-96AC995D0B71}"/>
              </a:ext>
            </a:extLst>
          </p:cNvPr>
          <p:cNvSpPr>
            <a:spLocks noGrp="1"/>
          </p:cNvSpPr>
          <p:nvPr/>
        </p:nvSpPr>
        <p:spPr>
          <a:xfrm>
            <a:off x="7505700" y="3257550"/>
            <a:ext cx="104775" cy="104775"/>
          </a:xfrm>
          <a:prstGeom prst="roundRect">
            <a:avLst>
              <a:gd name="adj" fmla="val 18182"/>
            </a:avLst>
          </a:prstGeom>
          <a:solidFill>
            <a:srgbClr val="F4B900"/>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2914DBE0-D60E-42FF-98C8-1849560B38A9}"/>
              </a:ext>
            </a:extLst>
          </p:cNvPr>
          <p:cNvSpPr>
            <a:spLocks noGrp="1"/>
          </p:cNvSpPr>
          <p:nvPr/>
        </p:nvSpPr>
        <p:spPr>
          <a:xfrm>
            <a:off x="7791450" y="3143250"/>
            <a:ext cx="2381250" cy="438150"/>
          </a:xfrm>
          <a:prstGeom prst="rect">
            <a:avLst/>
          </a:prstGeom>
          <a:noFill/>
          <a:ln w="0">
            <a:noFill/>
            <a:prstDash val="solid"/>
          </a:ln>
        </p:spPr>
        <p:txBody>
          <a:bodyPr anchor="ctr"/>
          <a:lstStyle>
            <a:defPPr algn="l">
              <a:defRPr sz="1200" b="0">
                <a:solidFill>
                  <a:srgbClr val="223047"/>
                </a:solidFill>
              </a:defRPr>
            </a:defPPr>
          </a:lstStyle>
          <a:p>
            <a:pPr algn="l">
              <a:defRPr sz="1200" b="0">
                <a:solidFill>
                  <a:srgbClr val="223047"/>
                </a:solidFill>
              </a:defRPr>
            </a:pPr>
            <a:r>
              <a:rPr sz="1200" b="0">
                <a:solidFill>
                  <a:srgbClr val="223047"/>
                </a:solidFill>
              </a:rPr>
              <a:t>Collect failures</a:t>
            </a:r>
          </a:p>
        </p:txBody>
      </p:sp>
      <p:sp>
        <p:nvSpPr>
          <p:cNvPr id="24" name="Rounded Rectangle 23">
            <a:extLst>
              <a:ext uri="{FF2B5EF4-FFF2-40B4-BE49-F238E27FC236}">
                <a16:creationId xmlns:a16="http://schemas.microsoft.com/office/drawing/2014/main" id="{791701CC-EAE8-4C5C-9B94-CD3D138E1FEB}"/>
              </a:ext>
            </a:extLst>
          </p:cNvPr>
          <p:cNvSpPr>
            <a:spLocks noGrp="1"/>
          </p:cNvSpPr>
          <p:nvPr/>
        </p:nvSpPr>
        <p:spPr>
          <a:xfrm>
            <a:off x="7505700" y="3752850"/>
            <a:ext cx="104775" cy="104775"/>
          </a:xfrm>
          <a:prstGeom prst="roundRect">
            <a:avLst>
              <a:gd name="adj" fmla="val 18182"/>
            </a:avLst>
          </a:prstGeom>
          <a:solidFill>
            <a:srgbClr val="F4B900"/>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9CCD2576-3516-48CC-A388-CCD93EA3FF2E}"/>
              </a:ext>
            </a:extLst>
          </p:cNvPr>
          <p:cNvSpPr>
            <a:spLocks noGrp="1"/>
          </p:cNvSpPr>
          <p:nvPr/>
        </p:nvSpPr>
        <p:spPr>
          <a:xfrm>
            <a:off x="7791450" y="3638550"/>
            <a:ext cx="2381250" cy="438150"/>
          </a:xfrm>
          <a:prstGeom prst="rect">
            <a:avLst/>
          </a:prstGeom>
          <a:noFill/>
          <a:ln w="0">
            <a:noFill/>
            <a:prstDash val="solid"/>
          </a:ln>
        </p:spPr>
        <p:txBody>
          <a:bodyPr anchor="ctr"/>
          <a:lstStyle>
            <a:defPPr algn="l">
              <a:defRPr sz="1200" b="0">
                <a:solidFill>
                  <a:srgbClr val="223047"/>
                </a:solidFill>
              </a:defRPr>
            </a:defPPr>
          </a:lstStyle>
          <a:p>
            <a:pPr algn="l">
              <a:defRPr sz="1200" b="0">
                <a:solidFill>
                  <a:srgbClr val="223047"/>
                </a:solidFill>
              </a:defRPr>
            </a:pPr>
            <a:r>
              <a:rPr sz="1200" b="0">
                <a:solidFill>
                  <a:srgbClr val="223047"/>
                </a:solidFill>
              </a:rPr>
              <a:t>Add regression cases</a:t>
            </a:r>
          </a:p>
        </p:txBody>
      </p:sp>
      <p:sp>
        <p:nvSpPr>
          <p:cNvPr id="26" name="Rounded Rectangle 25">
            <a:extLst>
              <a:ext uri="{FF2B5EF4-FFF2-40B4-BE49-F238E27FC236}">
                <a16:creationId xmlns:a16="http://schemas.microsoft.com/office/drawing/2014/main" id="{B20E3C04-FAAF-4513-98E3-6960714973AB}"/>
              </a:ext>
            </a:extLst>
          </p:cNvPr>
          <p:cNvSpPr>
            <a:spLocks noGrp="1"/>
          </p:cNvSpPr>
          <p:nvPr/>
        </p:nvSpPr>
        <p:spPr>
          <a:xfrm>
            <a:off x="7505700" y="4248150"/>
            <a:ext cx="104775" cy="104775"/>
          </a:xfrm>
          <a:prstGeom prst="roundRect">
            <a:avLst>
              <a:gd name="adj" fmla="val 18182"/>
            </a:avLst>
          </a:prstGeom>
          <a:solidFill>
            <a:srgbClr val="F4B900"/>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3305B0D8-FCAA-4C63-A362-486F4B248C72}"/>
              </a:ext>
            </a:extLst>
          </p:cNvPr>
          <p:cNvSpPr>
            <a:spLocks noGrp="1"/>
          </p:cNvSpPr>
          <p:nvPr/>
        </p:nvSpPr>
        <p:spPr>
          <a:xfrm>
            <a:off x="7791450" y="4133850"/>
            <a:ext cx="2381250" cy="438150"/>
          </a:xfrm>
          <a:prstGeom prst="rect">
            <a:avLst/>
          </a:prstGeom>
          <a:noFill/>
          <a:ln w="0">
            <a:noFill/>
            <a:prstDash val="solid"/>
          </a:ln>
        </p:spPr>
        <p:txBody>
          <a:bodyPr anchor="ctr"/>
          <a:lstStyle>
            <a:defPPr algn="l">
              <a:defRPr sz="1200" b="0">
                <a:solidFill>
                  <a:srgbClr val="223047"/>
                </a:solidFill>
              </a:defRPr>
            </a:defPPr>
          </a:lstStyle>
          <a:p>
            <a:pPr algn="l">
              <a:defRPr sz="1200" b="0">
                <a:solidFill>
                  <a:srgbClr val="223047"/>
                </a:solidFill>
              </a:defRPr>
            </a:pPr>
            <a:r>
              <a:rPr sz="1200" b="0">
                <a:solidFill>
                  <a:srgbClr val="223047"/>
                </a:solidFill>
              </a:rPr>
              <a:t>Compare versions</a:t>
            </a:r>
          </a:p>
        </p:txBody>
      </p:sp>
      <p:sp>
        <p:nvSpPr>
          <p:cNvPr id="28" name="Rounded Rectangle 27">
            <a:extLst>
              <a:ext uri="{FF2B5EF4-FFF2-40B4-BE49-F238E27FC236}">
                <a16:creationId xmlns:a16="http://schemas.microsoft.com/office/drawing/2014/main" id="{DB3176AE-33A1-40C8-8D5C-D2DB7CFE270E}"/>
              </a:ext>
            </a:extLst>
          </p:cNvPr>
          <p:cNvSpPr>
            <a:spLocks noGrp="1"/>
          </p:cNvSpPr>
          <p:nvPr/>
        </p:nvSpPr>
        <p:spPr>
          <a:xfrm>
            <a:off x="7505700" y="4743450"/>
            <a:ext cx="104775" cy="104775"/>
          </a:xfrm>
          <a:prstGeom prst="roundRect">
            <a:avLst>
              <a:gd name="adj" fmla="val 18182"/>
            </a:avLst>
          </a:prstGeom>
          <a:solidFill>
            <a:srgbClr val="F4B900"/>
          </a:solidFill>
          <a:ln w="0">
            <a:noFill/>
            <a:prstDash val="solid"/>
          </a:ln>
        </p:spPr>
        <p:txBody>
          <a:bodyPr/>
          <a:lstStyle/>
          <a:p>
            <a:endParaRPr lang="en-US"/>
          </a:p>
        </p:txBody>
      </p:sp>
      <p:sp>
        <p:nvSpPr>
          <p:cNvPr id="29" name="Rectangle 28">
            <a:extLst>
              <a:ext uri="{FF2B5EF4-FFF2-40B4-BE49-F238E27FC236}">
                <a16:creationId xmlns:a16="http://schemas.microsoft.com/office/drawing/2014/main" id="{19B324E2-DF2E-4E9A-AAD5-01BB54B806B8}"/>
              </a:ext>
            </a:extLst>
          </p:cNvPr>
          <p:cNvSpPr>
            <a:spLocks noGrp="1"/>
          </p:cNvSpPr>
          <p:nvPr/>
        </p:nvSpPr>
        <p:spPr>
          <a:xfrm>
            <a:off x="7791450" y="4629150"/>
            <a:ext cx="2381250" cy="438150"/>
          </a:xfrm>
          <a:prstGeom prst="rect">
            <a:avLst/>
          </a:prstGeom>
          <a:noFill/>
          <a:ln w="0">
            <a:noFill/>
            <a:prstDash val="solid"/>
          </a:ln>
        </p:spPr>
        <p:txBody>
          <a:bodyPr anchor="ctr"/>
          <a:lstStyle>
            <a:defPPr algn="l">
              <a:defRPr sz="1200" b="0">
                <a:solidFill>
                  <a:srgbClr val="223047"/>
                </a:solidFill>
              </a:defRPr>
            </a:defPPr>
          </a:lstStyle>
          <a:p>
            <a:pPr algn="l">
              <a:defRPr sz="1200" b="0">
                <a:solidFill>
                  <a:srgbClr val="223047"/>
                </a:solidFill>
              </a:defRPr>
            </a:pPr>
            <a:r>
              <a:rPr sz="1200" b="0">
                <a:solidFill>
                  <a:srgbClr val="223047"/>
                </a:solidFill>
              </a:rPr>
              <a:t>Monitor live use</a:t>
            </a:r>
          </a:p>
        </p:txBody>
      </p:sp>
      <p:sp>
        <p:nvSpPr>
          <p:cNvPr id="30" name="Rectangle 29">
            <a:extLst>
              <a:ext uri="{FF2B5EF4-FFF2-40B4-BE49-F238E27FC236}">
                <a16:creationId xmlns:a16="http://schemas.microsoft.com/office/drawing/2014/main" id="{515AB0C1-99CB-44DF-886B-DA8996F35C72}"/>
              </a:ext>
            </a:extLst>
          </p:cNvPr>
          <p:cNvSpPr>
            <a:spLocks noGrp="1"/>
          </p:cNvSpPr>
          <p:nvPr/>
        </p:nvSpPr>
        <p:spPr>
          <a:xfrm>
            <a:off x="2286000" y="5429250"/>
            <a:ext cx="6667500" cy="361950"/>
          </a:xfrm>
          <a:prstGeom prst="rect">
            <a:avLst/>
          </a:prstGeom>
          <a:noFill/>
          <a:ln w="0">
            <a:noFill/>
            <a:prstDash val="solid"/>
          </a:ln>
        </p:spPr>
        <p:txBody>
          <a:bodyPr anchor="ctr"/>
          <a:lstStyle>
            <a:defPPr algn="ctr">
              <a:defRPr sz="1500" b="1">
                <a:solidFill>
                  <a:srgbClr val="203D67"/>
                </a:solidFill>
              </a:defRPr>
            </a:defPPr>
          </a:lstStyle>
          <a:p>
            <a:pPr algn="ctr">
              <a:defRPr sz="1500" b="1">
                <a:solidFill>
                  <a:srgbClr val="203D67"/>
                </a:solidFill>
              </a:defRPr>
            </a:pPr>
            <a:r>
              <a:rPr sz="1500" b="1">
                <a:solidFill>
                  <a:srgbClr val="203D67"/>
                </a:solidFill>
              </a:rPr>
              <a:t>Offline tests catch known failures. Online monitoring discovers new ones.</a:t>
            </a:r>
          </a:p>
        </p:txBody>
      </p:sp>
    </p:spTree>
    <p:extLst>
      <p:ext uri="{BB962C8B-B14F-4D97-AF65-F5344CB8AC3E}">
        <p14:creationId xmlns:p14="http://schemas.microsoft.com/office/powerpoint/2010/main" val="2104281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475FCF5-53FD-48D0-9599-5476661D8330}"/>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F650BB0C-2FBD-4EDB-8041-D0D00A84E0FB}"/>
              </a:ext>
            </a:extLst>
          </p:cNvPr>
          <p:cNvSpPr>
            <a:spLocks noGrp="1"/>
          </p:cNvSpPr>
          <p:nvPr/>
        </p:nvSpPr>
        <p:spPr>
          <a:xfrm>
            <a:off x="628650" y="1314450"/>
            <a:ext cx="8572500" cy="552450"/>
          </a:xfrm>
          <a:prstGeom prst="rect">
            <a:avLst/>
          </a:prstGeom>
          <a:noFill/>
          <a:ln w="0">
            <a:noFill/>
            <a:prstDash val="solid"/>
          </a:ln>
        </p:spPr>
        <p:txBody>
          <a:bodyPr anchor="ctr"/>
          <a:lstStyle>
            <a:defPPr algn="l">
              <a:defRPr sz="2400" b="1">
                <a:solidFill>
                  <a:srgbClr val="203D67"/>
                </a:solidFill>
              </a:defRPr>
            </a:defPPr>
          </a:lstStyle>
          <a:p>
            <a:pPr algn="l">
              <a:defRPr sz="2400" b="1">
                <a:solidFill>
                  <a:srgbClr val="203D67"/>
                </a:solidFill>
              </a:defRPr>
            </a:pPr>
            <a:r>
              <a:rPr sz="2400" b="1">
                <a:solidFill>
                  <a:srgbClr val="203D67"/>
                </a:solidFill>
              </a:rPr>
              <a:t>Five questions for every agent</a:t>
            </a:r>
          </a:p>
        </p:txBody>
      </p:sp>
      <p:sp>
        <p:nvSpPr>
          <p:cNvPr id="3" name="Rectangle 2">
            <a:extLst>
              <a:ext uri="{FF2B5EF4-FFF2-40B4-BE49-F238E27FC236}">
                <a16:creationId xmlns:a16="http://schemas.microsoft.com/office/drawing/2014/main" id="{D2E89C70-9167-431A-9B23-84FB195A027C}"/>
              </a:ext>
            </a:extLst>
          </p:cNvPr>
          <p:cNvSpPr>
            <a:spLocks noGrp="1"/>
          </p:cNvSpPr>
          <p:nvPr/>
        </p:nvSpPr>
        <p:spPr>
          <a:xfrm>
            <a:off x="819150" y="2571750"/>
            <a:ext cx="533400" cy="361950"/>
          </a:xfrm>
          <a:prstGeom prst="rect">
            <a:avLst/>
          </a:prstGeom>
          <a:noFill/>
          <a:ln w="0">
            <a:noFill/>
            <a:prstDash val="solid"/>
          </a:ln>
        </p:spPr>
        <p:txBody>
          <a:bodyPr anchor="ctr"/>
          <a:lstStyle>
            <a:defPPr algn="l">
              <a:defRPr sz="1725" b="1">
                <a:solidFill>
                  <a:srgbClr val="175CE5"/>
                </a:solidFill>
              </a:defRPr>
            </a:defPPr>
          </a:lstStyle>
          <a:p>
            <a:pPr algn="l">
              <a:defRPr sz="1725" b="1">
                <a:solidFill>
                  <a:srgbClr val="175CE5"/>
                </a:solidFill>
              </a:defRPr>
            </a:pPr>
            <a:r>
              <a:rPr sz="1725" b="1">
                <a:solidFill>
                  <a:srgbClr val="175CE5"/>
                </a:solidFill>
              </a:rPr>
              <a:t>01</a:t>
            </a:r>
          </a:p>
        </p:txBody>
      </p:sp>
      <p:sp>
        <p:nvSpPr>
          <p:cNvPr id="4" name="Rectangle 3">
            <a:extLst>
              <a:ext uri="{FF2B5EF4-FFF2-40B4-BE49-F238E27FC236}">
                <a16:creationId xmlns:a16="http://schemas.microsoft.com/office/drawing/2014/main" id="{36E3FCC7-3918-4F08-BA39-581E40048CE7}"/>
              </a:ext>
            </a:extLst>
          </p:cNvPr>
          <p:cNvSpPr>
            <a:spLocks noGrp="1"/>
          </p:cNvSpPr>
          <p:nvPr/>
        </p:nvSpPr>
        <p:spPr>
          <a:xfrm>
            <a:off x="1562100" y="2552700"/>
            <a:ext cx="7353300" cy="419100"/>
          </a:xfrm>
          <a:prstGeom prst="rect">
            <a:avLst/>
          </a:prstGeom>
          <a:noFill/>
          <a:ln w="0">
            <a:noFill/>
            <a:prstDash val="solid"/>
          </a:ln>
        </p:spPr>
        <p:txBody>
          <a:bodyPr anchor="ctr"/>
          <a:lstStyle>
            <a:defPPr algn="l">
              <a:defRPr sz="1500" b="1">
                <a:solidFill>
                  <a:srgbClr val="223047"/>
                </a:solidFill>
              </a:defRPr>
            </a:defPPr>
          </a:lstStyle>
          <a:p>
            <a:pPr algn="l">
              <a:defRPr sz="1500" b="1">
                <a:solidFill>
                  <a:srgbClr val="223047"/>
                </a:solidFill>
              </a:defRPr>
            </a:pPr>
            <a:r>
              <a:rPr sz="1500" b="1">
                <a:solidFill>
                  <a:srgbClr val="223047"/>
                </a:solidFill>
              </a:rPr>
              <a:t>What goal does the agent own?</a:t>
            </a:r>
          </a:p>
        </p:txBody>
      </p:sp>
      <p:sp>
        <p:nvSpPr>
          <p:cNvPr id="5" name="Rectangle 4">
            <a:extLst>
              <a:ext uri="{FF2B5EF4-FFF2-40B4-BE49-F238E27FC236}">
                <a16:creationId xmlns:a16="http://schemas.microsoft.com/office/drawing/2014/main" id="{477B77D8-64D4-403E-97A9-5DE4DECD096D}"/>
              </a:ext>
            </a:extLst>
          </p:cNvPr>
          <p:cNvSpPr>
            <a:spLocks noGrp="1"/>
          </p:cNvSpPr>
          <p:nvPr/>
        </p:nvSpPr>
        <p:spPr>
          <a:xfrm>
            <a:off x="819150" y="3181350"/>
            <a:ext cx="533400" cy="361950"/>
          </a:xfrm>
          <a:prstGeom prst="rect">
            <a:avLst/>
          </a:prstGeom>
          <a:noFill/>
          <a:ln w="0">
            <a:noFill/>
            <a:prstDash val="solid"/>
          </a:ln>
        </p:spPr>
        <p:txBody>
          <a:bodyPr anchor="ctr"/>
          <a:lstStyle>
            <a:defPPr algn="l">
              <a:defRPr sz="1725" b="1">
                <a:solidFill>
                  <a:srgbClr val="42BCC9"/>
                </a:solidFill>
              </a:defRPr>
            </a:defPPr>
          </a:lstStyle>
          <a:p>
            <a:pPr algn="l">
              <a:defRPr sz="1725" b="1">
                <a:solidFill>
                  <a:srgbClr val="42BCC9"/>
                </a:solidFill>
              </a:defRPr>
            </a:pPr>
            <a:r>
              <a:rPr sz="1725" b="1">
                <a:solidFill>
                  <a:srgbClr val="42BCC9"/>
                </a:solidFill>
              </a:rPr>
              <a:t>02</a:t>
            </a:r>
          </a:p>
        </p:txBody>
      </p:sp>
      <p:sp>
        <p:nvSpPr>
          <p:cNvPr id="6" name="Rectangle 5">
            <a:extLst>
              <a:ext uri="{FF2B5EF4-FFF2-40B4-BE49-F238E27FC236}">
                <a16:creationId xmlns:a16="http://schemas.microsoft.com/office/drawing/2014/main" id="{57D9D0BB-A1D6-4DFF-89AB-4F3E2E74649D}"/>
              </a:ext>
            </a:extLst>
          </p:cNvPr>
          <p:cNvSpPr>
            <a:spLocks noGrp="1"/>
          </p:cNvSpPr>
          <p:nvPr/>
        </p:nvSpPr>
        <p:spPr>
          <a:xfrm>
            <a:off x="1562100" y="3162300"/>
            <a:ext cx="7353300" cy="419100"/>
          </a:xfrm>
          <a:prstGeom prst="rect">
            <a:avLst/>
          </a:prstGeom>
          <a:noFill/>
          <a:ln w="0">
            <a:noFill/>
            <a:prstDash val="solid"/>
          </a:ln>
        </p:spPr>
        <p:txBody>
          <a:bodyPr anchor="ctr"/>
          <a:lstStyle>
            <a:defPPr algn="l">
              <a:defRPr sz="1500" b="1">
                <a:solidFill>
                  <a:srgbClr val="223047"/>
                </a:solidFill>
              </a:defRPr>
            </a:defPPr>
          </a:lstStyle>
          <a:p>
            <a:pPr algn="l">
              <a:defRPr sz="1500" b="1">
                <a:solidFill>
                  <a:srgbClr val="223047"/>
                </a:solidFill>
              </a:defRPr>
            </a:pPr>
            <a:r>
              <a:rPr sz="1500" b="1">
                <a:solidFill>
                  <a:srgbClr val="223047"/>
                </a:solidFill>
              </a:rPr>
              <a:t>Which decisions genuinely require a model?</a:t>
            </a:r>
          </a:p>
        </p:txBody>
      </p:sp>
      <p:sp>
        <p:nvSpPr>
          <p:cNvPr id="7" name="Rectangle 6">
            <a:extLst>
              <a:ext uri="{FF2B5EF4-FFF2-40B4-BE49-F238E27FC236}">
                <a16:creationId xmlns:a16="http://schemas.microsoft.com/office/drawing/2014/main" id="{C460C3D0-DF9A-4963-9957-0ADCFBA923C8}"/>
              </a:ext>
            </a:extLst>
          </p:cNvPr>
          <p:cNvSpPr>
            <a:spLocks noGrp="1"/>
          </p:cNvSpPr>
          <p:nvPr/>
        </p:nvSpPr>
        <p:spPr>
          <a:xfrm>
            <a:off x="819150" y="3790950"/>
            <a:ext cx="533400" cy="361950"/>
          </a:xfrm>
          <a:prstGeom prst="rect">
            <a:avLst/>
          </a:prstGeom>
          <a:noFill/>
          <a:ln w="0">
            <a:noFill/>
            <a:prstDash val="solid"/>
          </a:ln>
        </p:spPr>
        <p:txBody>
          <a:bodyPr anchor="ctr"/>
          <a:lstStyle>
            <a:defPPr algn="l">
              <a:defRPr sz="1725" b="1">
                <a:solidFill>
                  <a:srgbClr val="F4B900"/>
                </a:solidFill>
              </a:defRPr>
            </a:defPPr>
          </a:lstStyle>
          <a:p>
            <a:pPr algn="l">
              <a:defRPr sz="1725" b="1">
                <a:solidFill>
                  <a:srgbClr val="F4B900"/>
                </a:solidFill>
              </a:defRPr>
            </a:pPr>
            <a:r>
              <a:rPr sz="1725" b="1">
                <a:solidFill>
                  <a:srgbClr val="F4B900"/>
                </a:solidFill>
              </a:rPr>
              <a:t>03</a:t>
            </a:r>
          </a:p>
        </p:txBody>
      </p:sp>
      <p:sp>
        <p:nvSpPr>
          <p:cNvPr id="8" name="Rectangle 7">
            <a:extLst>
              <a:ext uri="{FF2B5EF4-FFF2-40B4-BE49-F238E27FC236}">
                <a16:creationId xmlns:a16="http://schemas.microsoft.com/office/drawing/2014/main" id="{7E1490CA-A040-4BC6-96DB-CC4BD7043A5C}"/>
              </a:ext>
            </a:extLst>
          </p:cNvPr>
          <p:cNvSpPr>
            <a:spLocks noGrp="1"/>
          </p:cNvSpPr>
          <p:nvPr/>
        </p:nvSpPr>
        <p:spPr>
          <a:xfrm>
            <a:off x="1562100" y="3771900"/>
            <a:ext cx="7353300" cy="419100"/>
          </a:xfrm>
          <a:prstGeom prst="rect">
            <a:avLst/>
          </a:prstGeom>
          <a:noFill/>
          <a:ln w="0">
            <a:noFill/>
            <a:prstDash val="solid"/>
          </a:ln>
        </p:spPr>
        <p:txBody>
          <a:bodyPr anchor="ctr"/>
          <a:lstStyle>
            <a:defPPr algn="l">
              <a:defRPr sz="1500" b="1">
                <a:solidFill>
                  <a:srgbClr val="223047"/>
                </a:solidFill>
              </a:defRPr>
            </a:defPPr>
          </a:lstStyle>
          <a:p>
            <a:pPr algn="l">
              <a:defRPr sz="1500" b="1">
                <a:solidFill>
                  <a:srgbClr val="223047"/>
                </a:solidFill>
              </a:defRPr>
            </a:pPr>
            <a:r>
              <a:rPr sz="1500" b="1">
                <a:solidFill>
                  <a:srgbClr val="223047"/>
                </a:solidFill>
              </a:rPr>
              <a:t>Which tools and permissions does it need?</a:t>
            </a:r>
          </a:p>
        </p:txBody>
      </p:sp>
      <p:sp>
        <p:nvSpPr>
          <p:cNvPr id="9" name="Rectangle 8">
            <a:extLst>
              <a:ext uri="{FF2B5EF4-FFF2-40B4-BE49-F238E27FC236}">
                <a16:creationId xmlns:a16="http://schemas.microsoft.com/office/drawing/2014/main" id="{C6A1E71F-88DD-4BC2-83AE-DDB93DF9F76A}"/>
              </a:ext>
            </a:extLst>
          </p:cNvPr>
          <p:cNvSpPr>
            <a:spLocks noGrp="1"/>
          </p:cNvSpPr>
          <p:nvPr/>
        </p:nvSpPr>
        <p:spPr>
          <a:xfrm>
            <a:off x="819150" y="4400550"/>
            <a:ext cx="533400" cy="361950"/>
          </a:xfrm>
          <a:prstGeom prst="rect">
            <a:avLst/>
          </a:prstGeom>
          <a:noFill/>
          <a:ln w="0">
            <a:noFill/>
            <a:prstDash val="solid"/>
          </a:ln>
        </p:spPr>
        <p:txBody>
          <a:bodyPr anchor="ctr"/>
          <a:lstStyle>
            <a:defPPr algn="l">
              <a:defRPr sz="1725" b="1">
                <a:solidFill>
                  <a:srgbClr val="008A91"/>
                </a:solidFill>
              </a:defRPr>
            </a:defPPr>
          </a:lstStyle>
          <a:p>
            <a:pPr algn="l">
              <a:defRPr sz="1725" b="1">
                <a:solidFill>
                  <a:srgbClr val="008A91"/>
                </a:solidFill>
              </a:defRPr>
            </a:pPr>
            <a:r>
              <a:rPr sz="1725" b="1">
                <a:solidFill>
                  <a:srgbClr val="008A91"/>
                </a:solidFill>
              </a:rPr>
              <a:t>04</a:t>
            </a:r>
          </a:p>
        </p:txBody>
      </p:sp>
      <p:sp>
        <p:nvSpPr>
          <p:cNvPr id="10" name="Rectangle 9">
            <a:extLst>
              <a:ext uri="{FF2B5EF4-FFF2-40B4-BE49-F238E27FC236}">
                <a16:creationId xmlns:a16="http://schemas.microsoft.com/office/drawing/2014/main" id="{0869BBE9-03DA-4097-94F7-A808CEAC69C1}"/>
              </a:ext>
            </a:extLst>
          </p:cNvPr>
          <p:cNvSpPr>
            <a:spLocks noGrp="1"/>
          </p:cNvSpPr>
          <p:nvPr/>
        </p:nvSpPr>
        <p:spPr>
          <a:xfrm>
            <a:off x="1562100" y="4381500"/>
            <a:ext cx="7353300" cy="419100"/>
          </a:xfrm>
          <a:prstGeom prst="rect">
            <a:avLst/>
          </a:prstGeom>
          <a:noFill/>
          <a:ln w="0">
            <a:noFill/>
            <a:prstDash val="solid"/>
          </a:ln>
        </p:spPr>
        <p:txBody>
          <a:bodyPr anchor="ctr"/>
          <a:lstStyle>
            <a:defPPr algn="l">
              <a:defRPr sz="1500" b="1">
                <a:solidFill>
                  <a:srgbClr val="223047"/>
                </a:solidFill>
              </a:defRPr>
            </a:defPPr>
          </a:lstStyle>
          <a:p>
            <a:pPr algn="l">
              <a:defRPr sz="1500" b="1">
                <a:solidFill>
                  <a:srgbClr val="223047"/>
                </a:solidFill>
              </a:defRPr>
            </a:pPr>
            <a:r>
              <a:rPr sz="1500" b="1">
                <a:solidFill>
                  <a:srgbClr val="223047"/>
                </a:solidFill>
              </a:rPr>
              <a:t>What can go wrong?</a:t>
            </a:r>
          </a:p>
        </p:txBody>
      </p:sp>
      <p:sp>
        <p:nvSpPr>
          <p:cNvPr id="11" name="Rectangle 10">
            <a:extLst>
              <a:ext uri="{FF2B5EF4-FFF2-40B4-BE49-F238E27FC236}">
                <a16:creationId xmlns:a16="http://schemas.microsoft.com/office/drawing/2014/main" id="{63DF40C3-B3E5-490D-911D-AC3A1113E8A2}"/>
              </a:ext>
            </a:extLst>
          </p:cNvPr>
          <p:cNvSpPr>
            <a:spLocks noGrp="1"/>
          </p:cNvSpPr>
          <p:nvPr/>
        </p:nvSpPr>
        <p:spPr>
          <a:xfrm>
            <a:off x="819150" y="5010150"/>
            <a:ext cx="533400" cy="361950"/>
          </a:xfrm>
          <a:prstGeom prst="rect">
            <a:avLst/>
          </a:prstGeom>
          <a:noFill/>
          <a:ln w="0">
            <a:noFill/>
            <a:prstDash val="solid"/>
          </a:ln>
        </p:spPr>
        <p:txBody>
          <a:bodyPr anchor="ctr"/>
          <a:lstStyle>
            <a:defPPr algn="l">
              <a:defRPr sz="1725" b="1">
                <a:solidFill>
                  <a:srgbClr val="EE7D5B"/>
                </a:solidFill>
              </a:defRPr>
            </a:defPPr>
          </a:lstStyle>
          <a:p>
            <a:pPr algn="l">
              <a:defRPr sz="1725" b="1">
                <a:solidFill>
                  <a:srgbClr val="EE7D5B"/>
                </a:solidFill>
              </a:defRPr>
            </a:pPr>
            <a:r>
              <a:rPr sz="1725" b="1">
                <a:solidFill>
                  <a:srgbClr val="EE7D5B"/>
                </a:solidFill>
              </a:rPr>
              <a:t>05</a:t>
            </a:r>
          </a:p>
        </p:txBody>
      </p:sp>
      <p:sp>
        <p:nvSpPr>
          <p:cNvPr id="12" name="Rectangle 11">
            <a:extLst>
              <a:ext uri="{FF2B5EF4-FFF2-40B4-BE49-F238E27FC236}">
                <a16:creationId xmlns:a16="http://schemas.microsoft.com/office/drawing/2014/main" id="{69E96E6C-A631-41CC-B62D-4A5D51D0F5C8}"/>
              </a:ext>
            </a:extLst>
          </p:cNvPr>
          <p:cNvSpPr>
            <a:spLocks noGrp="1"/>
          </p:cNvSpPr>
          <p:nvPr/>
        </p:nvSpPr>
        <p:spPr>
          <a:xfrm>
            <a:off x="1562100" y="4991100"/>
            <a:ext cx="7353300" cy="419100"/>
          </a:xfrm>
          <a:prstGeom prst="rect">
            <a:avLst/>
          </a:prstGeom>
          <a:noFill/>
          <a:ln w="0">
            <a:noFill/>
            <a:prstDash val="solid"/>
          </a:ln>
        </p:spPr>
        <p:txBody>
          <a:bodyPr anchor="ctr"/>
          <a:lstStyle>
            <a:defPPr algn="l">
              <a:defRPr sz="1500" b="1">
                <a:solidFill>
                  <a:srgbClr val="223047"/>
                </a:solidFill>
              </a:defRPr>
            </a:defPPr>
          </a:lstStyle>
          <a:p>
            <a:pPr algn="l">
              <a:defRPr sz="1500" b="1">
                <a:solidFill>
                  <a:srgbClr val="223047"/>
                </a:solidFill>
              </a:defRPr>
            </a:pPr>
            <a:r>
              <a:rPr sz="1500" b="1">
                <a:solidFill>
                  <a:srgbClr val="223047"/>
                </a:solidFill>
              </a:rPr>
              <a:t>How will we test whether it succeeded?</a:t>
            </a:r>
          </a:p>
        </p:txBody>
      </p:sp>
      <p:sp>
        <p:nvSpPr>
          <p:cNvPr id="13" name="Rectangle 12">
            <a:extLst>
              <a:ext uri="{FF2B5EF4-FFF2-40B4-BE49-F238E27FC236}">
                <a16:creationId xmlns:a16="http://schemas.microsoft.com/office/drawing/2014/main" id="{178C9E62-6261-401E-A800-8655320EB022}"/>
              </a:ext>
            </a:extLst>
          </p:cNvPr>
          <p:cNvSpPr>
            <a:spLocks noGrp="1"/>
          </p:cNvSpPr>
          <p:nvPr/>
        </p:nvSpPr>
        <p:spPr>
          <a:xfrm>
            <a:off x="7239000" y="5391150"/>
            <a:ext cx="3429000" cy="419100"/>
          </a:xfrm>
          <a:prstGeom prst="rect">
            <a:avLst/>
          </a:prstGeom>
          <a:noFill/>
          <a:ln w="0">
            <a:noFill/>
            <a:prstDash val="solid"/>
          </a:ln>
        </p:spPr>
        <p:txBody>
          <a:bodyPr anchor="ctr"/>
          <a:lstStyle>
            <a:defPPr algn="ctr">
              <a:defRPr sz="1725" b="1">
                <a:solidFill>
                  <a:srgbClr val="008A91"/>
                </a:solidFill>
              </a:defRPr>
            </a:defPPr>
          </a:lstStyle>
          <a:p>
            <a:pPr algn="ctr">
              <a:defRPr sz="1725" b="1">
                <a:solidFill>
                  <a:srgbClr val="008A91"/>
                </a:solidFill>
              </a:defRPr>
            </a:pPr>
            <a:r>
              <a:rPr sz="1725" b="1">
                <a:solidFill>
                  <a:srgbClr val="008A91"/>
                </a:solidFill>
              </a:rPr>
              <a:t>Questions and discussion</a:t>
            </a:r>
          </a:p>
        </p:txBody>
      </p:sp>
    </p:spTree>
    <p:extLst>
      <p:ext uri="{BB962C8B-B14F-4D97-AF65-F5344CB8AC3E}">
        <p14:creationId xmlns:p14="http://schemas.microsoft.com/office/powerpoint/2010/main" val="179800974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5090</Words>
  <Application>Microsoft Macintosh PowerPoint</Application>
  <DocSecurity>0</DocSecurity>
  <PresentationFormat>Widescreen</PresentationFormat>
  <Paragraphs>640</Paragraphs>
  <Slides>31</Slides>
  <Notes>31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31</vt:i4>
      </vt:variant>
    </vt:vector>
  </HeadingPairs>
  <TitlesOfParts>
    <vt:vector size="33" baseType="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Fariba Yousefi</cp:lastModifiedBy>
  <cp:revision>7</cp:revision>
  <dcterms:created xsi:type="dcterms:W3CDTF">2026-10-15T12:59:59Z</dcterms:created>
  <dcterms:modified xsi:type="dcterms:W3CDTF">2026-10-15T21:35:09Z</dcterms:modified>
</cp:coreProperties>
</file>