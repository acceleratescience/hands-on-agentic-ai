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75" r:id="rId3"/>
    <p:sldId id="276" r:id="rId4"/>
    <p:sldId id="257" r:id="rId5"/>
    <p:sldId id="264" r:id="rId6"/>
    <p:sldId id="272" r:id="rId7"/>
    <p:sldId id="269" r:id="rId8"/>
    <p:sldId id="274" r:id="rId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9596FD-F770-F225-87FC-3FA302DF3916}" v="381" dt="2026-09-23T13:07:27.3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34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Daniels" userId="S::rkd43@cam.ac.uk::aaa4fbe9-f474-4140-b10b-5257398ac308" providerId="AD" clId="Web-{BDA0D978-713E-F97A-4F3D-3076CEB25389}"/>
    <pc:docChg chg="modSld">
      <pc:chgData name="Ryan Daniels" userId="S::rkd43@cam.ac.uk::aaa4fbe9-f474-4140-b10b-5257398ac308" providerId="AD" clId="Web-{BDA0D978-713E-F97A-4F3D-3076CEB25389}" dt="2026-02-09T15:33:13.473" v="0"/>
      <pc:docMkLst>
        <pc:docMk/>
      </pc:docMkLst>
      <pc:sldChg chg="delSp">
        <pc:chgData name="Ryan Daniels" userId="S::rkd43@cam.ac.uk::aaa4fbe9-f474-4140-b10b-5257398ac308" providerId="AD" clId="Web-{BDA0D978-713E-F97A-4F3D-3076CEB25389}" dt="2026-02-09T15:33:13.473" v="0"/>
        <pc:sldMkLst>
          <pc:docMk/>
          <pc:sldMk cId="109857222" sldId="256"/>
        </pc:sldMkLst>
        <pc:spChg chg="del">
          <ac:chgData name="Ryan Daniels" userId="S::rkd43@cam.ac.uk::aaa4fbe9-f474-4140-b10b-5257398ac308" providerId="AD" clId="Web-{BDA0D978-713E-F97A-4F3D-3076CEB25389}" dt="2026-02-09T15:33:13.473" v="0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Ryan Daniels" userId="S::rkd43@cam.ac.uk::aaa4fbe9-f474-4140-b10b-5257398ac308" providerId="AD" clId="Web-{9D856C1E-26A0-9FB6-DA29-0AB6D7546793}"/>
    <pc:docChg chg="modSld">
      <pc:chgData name="Ryan Daniels" userId="S::rkd43@cam.ac.uk::aaa4fbe9-f474-4140-b10b-5257398ac308" providerId="AD" clId="Web-{9D856C1E-26A0-9FB6-DA29-0AB6D7546793}" dt="2026-02-09T15:31:50.567" v="0" actId="20577"/>
      <pc:docMkLst>
        <pc:docMk/>
      </pc:docMkLst>
      <pc:sldChg chg="modSp">
        <pc:chgData name="Ryan Daniels" userId="S::rkd43@cam.ac.uk::aaa4fbe9-f474-4140-b10b-5257398ac308" providerId="AD" clId="Web-{9D856C1E-26A0-9FB6-DA29-0AB6D7546793}" dt="2026-02-09T15:31:50.567" v="0" actId="20577"/>
        <pc:sldMkLst>
          <pc:docMk/>
          <pc:sldMk cId="109857222" sldId="256"/>
        </pc:sldMkLst>
        <pc:spChg chg="mod">
          <ac:chgData name="Ryan Daniels" userId="S::rkd43@cam.ac.uk::aaa4fbe9-f474-4140-b10b-5257398ac308" providerId="AD" clId="Web-{9D856C1E-26A0-9FB6-DA29-0AB6D7546793}" dt="2026-02-09T15:31:50.567" v="0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Radzim Sendyka" userId="S::rs2071@cam.ac.uk::c34e45c7-8fd4-474d-b626-7b28853f9a0f" providerId="AD" clId="Web-{D29596FD-F770-F225-87FC-3FA302DF3916}"/>
    <pc:docChg chg="addSld modSld sldOrd">
      <pc:chgData name="Radzim Sendyka" userId="S::rs2071@cam.ac.uk::c34e45c7-8fd4-474d-b626-7b28853f9a0f" providerId="AD" clId="Web-{D29596FD-F770-F225-87FC-3FA302DF3916}" dt="2026-09-23T13:07:27.015" v="376" actId="20577"/>
      <pc:docMkLst>
        <pc:docMk/>
      </pc:docMkLst>
      <pc:sldChg chg="ord">
        <pc:chgData name="Radzim Sendyka" userId="S::rs2071@cam.ac.uk::c34e45c7-8fd4-474d-b626-7b28853f9a0f" providerId="AD" clId="Web-{D29596FD-F770-F225-87FC-3FA302DF3916}" dt="2026-09-23T13:02:27.182" v="149"/>
        <pc:sldMkLst>
          <pc:docMk/>
          <pc:sldMk cId="3997258095" sldId="269"/>
        </pc:sldMkLst>
      </pc:sldChg>
      <pc:sldChg chg="modSp new">
        <pc:chgData name="Radzim Sendyka" userId="S::rs2071@cam.ac.uk::c34e45c7-8fd4-474d-b626-7b28853f9a0f" providerId="AD" clId="Web-{D29596FD-F770-F225-87FC-3FA302DF3916}" dt="2026-09-23T13:02:20.760" v="148" actId="20577"/>
        <pc:sldMkLst>
          <pc:docMk/>
          <pc:sldMk cId="2210593182" sldId="273"/>
        </pc:sldMkLst>
        <pc:spChg chg="mod">
          <ac:chgData name="Radzim Sendyka" userId="S::rs2071@cam.ac.uk::c34e45c7-8fd4-474d-b626-7b28853f9a0f" providerId="AD" clId="Web-{D29596FD-F770-F225-87FC-3FA302DF3916}" dt="2026-09-23T13:00:59.180" v="10" actId="20577"/>
          <ac:spMkLst>
            <pc:docMk/>
            <pc:sldMk cId="2210593182" sldId="273"/>
            <ac:spMk id="2" creationId="{FB9288F3-BDF6-DBE9-533A-7E304767931F}"/>
          </ac:spMkLst>
        </pc:spChg>
        <pc:spChg chg="mod">
          <ac:chgData name="Radzim Sendyka" userId="S::rs2071@cam.ac.uk::c34e45c7-8fd4-474d-b626-7b28853f9a0f" providerId="AD" clId="Web-{D29596FD-F770-F225-87FC-3FA302DF3916}" dt="2026-09-23T13:02:20.760" v="148" actId="20577"/>
          <ac:spMkLst>
            <pc:docMk/>
            <pc:sldMk cId="2210593182" sldId="273"/>
            <ac:spMk id="3" creationId="{8DE1E9CB-5E70-5E71-3090-6D63369CA786}"/>
          </ac:spMkLst>
        </pc:spChg>
      </pc:sldChg>
      <pc:sldChg chg="addSp delSp modSp add replId">
        <pc:chgData name="Radzim Sendyka" userId="S::rs2071@cam.ac.uk::c34e45c7-8fd4-474d-b626-7b28853f9a0f" providerId="AD" clId="Web-{D29596FD-F770-F225-87FC-3FA302DF3916}" dt="2026-09-23T13:07:27.015" v="376" actId="20577"/>
        <pc:sldMkLst>
          <pc:docMk/>
          <pc:sldMk cId="2499628712" sldId="274"/>
        </pc:sldMkLst>
        <pc:spChg chg="mod">
          <ac:chgData name="Radzim Sendyka" userId="S::rs2071@cam.ac.uk::c34e45c7-8fd4-474d-b626-7b28853f9a0f" providerId="AD" clId="Web-{D29596FD-F770-F225-87FC-3FA302DF3916}" dt="2026-09-23T13:07:27.015" v="376" actId="20577"/>
          <ac:spMkLst>
            <pc:docMk/>
            <pc:sldMk cId="2499628712" sldId="274"/>
            <ac:spMk id="3" creationId="{9B69B2B3-16DE-C47F-6291-92B654548528}"/>
          </ac:spMkLst>
        </pc:spChg>
        <pc:spChg chg="add del mod">
          <ac:chgData name="Radzim Sendyka" userId="S::rs2071@cam.ac.uk::c34e45c7-8fd4-474d-b626-7b28853f9a0f" providerId="AD" clId="Web-{D29596FD-F770-F225-87FC-3FA302DF3916}" dt="2026-09-23T13:05:19.966" v="259"/>
          <ac:spMkLst>
            <pc:docMk/>
            <pc:sldMk cId="2499628712" sldId="274"/>
            <ac:spMk id="5" creationId="{40CE72FF-5DFE-3C8D-663B-A23E2E7C6D43}"/>
          </ac:spMkLst>
        </pc:spChg>
        <pc:spChg chg="add del mod">
          <ac:chgData name="Radzim Sendyka" userId="S::rs2071@cam.ac.uk::c34e45c7-8fd4-474d-b626-7b28853f9a0f" providerId="AD" clId="Web-{D29596FD-F770-F225-87FC-3FA302DF3916}" dt="2026-09-23T13:05:19.966" v="258"/>
          <ac:spMkLst>
            <pc:docMk/>
            <pc:sldMk cId="2499628712" sldId="274"/>
            <ac:spMk id="6" creationId="{A1E70D69-9F31-9301-FA7B-5C11A87769EA}"/>
          </ac:spMkLst>
        </pc:spChg>
        <pc:spChg chg="add del mod">
          <ac:chgData name="Radzim Sendyka" userId="S::rs2071@cam.ac.uk::c34e45c7-8fd4-474d-b626-7b28853f9a0f" providerId="AD" clId="Web-{D29596FD-F770-F225-87FC-3FA302DF3916}" dt="2026-09-23T13:05:19.966" v="257"/>
          <ac:spMkLst>
            <pc:docMk/>
            <pc:sldMk cId="2499628712" sldId="274"/>
            <ac:spMk id="7" creationId="{6F1D1797-6D93-203A-E168-57C7C7139C10}"/>
          </ac:spMkLst>
        </pc:spChg>
        <pc:spChg chg="add del mod">
          <ac:chgData name="Radzim Sendyka" userId="S::rs2071@cam.ac.uk::c34e45c7-8fd4-474d-b626-7b28853f9a0f" providerId="AD" clId="Web-{D29596FD-F770-F225-87FC-3FA302DF3916}" dt="2026-09-23T13:05:19.966" v="256"/>
          <ac:spMkLst>
            <pc:docMk/>
            <pc:sldMk cId="2499628712" sldId="274"/>
            <ac:spMk id="8" creationId="{D77A82CF-8F01-E1B8-689A-8776C5AE6895}"/>
          </ac:spMkLst>
        </pc:spChg>
        <pc:spChg chg="add del mod">
          <ac:chgData name="Radzim Sendyka" userId="S::rs2071@cam.ac.uk::c34e45c7-8fd4-474d-b626-7b28853f9a0f" providerId="AD" clId="Web-{D29596FD-F770-F225-87FC-3FA302DF3916}" dt="2026-09-23T13:04:10.996" v="215"/>
          <ac:spMkLst>
            <pc:docMk/>
            <pc:sldMk cId="2499628712" sldId="274"/>
            <ac:spMk id="9" creationId="{A95B7048-35F5-071A-0758-38300FA36529}"/>
          </ac:spMkLst>
        </pc:spChg>
        <pc:spChg chg="add del">
          <ac:chgData name="Radzim Sendyka" userId="S::rs2071@cam.ac.uk::c34e45c7-8fd4-474d-b626-7b28853f9a0f" providerId="AD" clId="Web-{D29596FD-F770-F225-87FC-3FA302DF3916}" dt="2026-09-23T13:04:29.496" v="220"/>
          <ac:spMkLst>
            <pc:docMk/>
            <pc:sldMk cId="2499628712" sldId="274"/>
            <ac:spMk id="10" creationId="{C65F7363-894A-F812-C499-13FAF85A3BD3}"/>
          </ac:spMkLst>
        </pc:spChg>
        <pc:graphicFrameChg chg="add del">
          <ac:chgData name="Radzim Sendyka" userId="S::rs2071@cam.ac.uk::c34e45c7-8fd4-474d-b626-7b28853f9a0f" providerId="AD" clId="Web-{D29596FD-F770-F225-87FC-3FA302DF3916}" dt="2026-09-23T13:03:19.901" v="200"/>
          <ac:graphicFrameMkLst>
            <pc:docMk/>
            <pc:sldMk cId="2499628712" sldId="274"/>
            <ac:graphicFrameMk id="4" creationId="{9FD34C8F-F345-9D8B-E1E8-F7A2511893E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F3AFC-D5DA-4E7D-AE6C-7200F48BDA6F}" type="datetimeFigureOut">
              <a:t>10/16/2026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1336A-4609-4672-A31B-074C4A1403D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8486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This is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81336A-4609-4672-A31B-074C4A1403DD}" type="slidenum"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902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PI Discovery Using JSON Home - API Evangelist">
            <a:extLst>
              <a:ext uri="{FF2B5EF4-FFF2-40B4-BE49-F238E27FC236}">
                <a16:creationId xmlns:a16="http://schemas.microsoft.com/office/drawing/2014/main" id="{A110255F-EA8A-D9DA-7DD2-9D48BEBF5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29125" cy="4095750"/>
          </a:xfrm>
          <a:prstGeom prst="rect">
            <a:avLst/>
          </a:prstGeom>
        </p:spPr>
      </p:pic>
      <p:pic>
        <p:nvPicPr>
          <p:cNvPr id="6" name="Picture 5" descr="Making a ChatGPT-like UI for your application in 15 minutes | by Pranav Dhoolia | HeurisLabs | Medium">
            <a:extLst>
              <a:ext uri="{FF2B5EF4-FFF2-40B4-BE49-F238E27FC236}">
                <a16:creationId xmlns:a16="http://schemas.microsoft.com/office/drawing/2014/main" id="{F7FC86CE-1D06-0806-06DE-8DE405C1E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9840686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CC11C03-5251-6C57-DF56-1C73137A8702}"/>
              </a:ext>
            </a:extLst>
          </p:cNvPr>
          <p:cNvSpPr txBox="1">
            <a:spLocks/>
          </p:cNvSpPr>
          <p:nvPr/>
        </p:nvSpPr>
        <p:spPr>
          <a:xfrm>
            <a:off x="624348" y="34290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dirty="0"/>
              <a:t>Interfaces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6C962-7927-2D9B-B742-D07235B4A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UI - User Interface</a:t>
            </a:r>
          </a:p>
        </p:txBody>
      </p:sp>
      <p:pic>
        <p:nvPicPr>
          <p:cNvPr id="4" name="Picture 3" descr="Making a ChatGPT-like UI for your application in 15 minutes | by Pranav Dhoolia | HeurisLabs | Medium">
            <a:extLst>
              <a:ext uri="{FF2B5EF4-FFF2-40B4-BE49-F238E27FC236}">
                <a16:creationId xmlns:a16="http://schemas.microsoft.com/office/drawing/2014/main" id="{CA65BE63-35F0-4F0E-5D8C-474B4B1DD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619875" cy="4200525"/>
          </a:xfrm>
          <a:prstGeom prst="rect">
            <a:avLst/>
          </a:prstGeom>
        </p:spPr>
      </p:pic>
      <p:pic>
        <p:nvPicPr>
          <p:cNvPr id="5" name="Picture 4" descr="Can ChatGPT messege me first? : r/ChatGPT">
            <a:extLst>
              <a:ext uri="{FF2B5EF4-FFF2-40B4-BE49-F238E27FC236}">
                <a16:creationId xmlns:a16="http://schemas.microsoft.com/office/drawing/2014/main" id="{A0C474BF-63DB-A4E2-D33B-81D0B9E6C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988" y="1033463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780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75675-C1F1-6DC6-E5C2-6389F58BB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3E857-6262-25DF-AECC-4E3B67192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API - Application Programming Interface</a:t>
            </a:r>
          </a:p>
        </p:txBody>
      </p:sp>
      <p:pic>
        <p:nvPicPr>
          <p:cNvPr id="3" name="Picture 2" descr="What is an API? | CORSAIR">
            <a:extLst>
              <a:ext uri="{FF2B5EF4-FFF2-40B4-BE49-F238E27FC236}">
                <a16:creationId xmlns:a16="http://schemas.microsoft.com/office/drawing/2014/main" id="{40B1B4D0-A3DE-58E0-4170-03FA76BA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581" b="14998"/>
          <a:stretch>
            <a:fillRect/>
          </a:stretch>
        </p:blipFill>
        <p:spPr>
          <a:xfrm>
            <a:off x="4988923" y="1452851"/>
            <a:ext cx="6619875" cy="3218652"/>
          </a:xfrm>
          <a:prstGeom prst="rect">
            <a:avLst/>
          </a:prstGeom>
        </p:spPr>
      </p:pic>
      <p:pic>
        <p:nvPicPr>
          <p:cNvPr id="7" name="Picture 6" descr="API Discovery Using JSON Home - API Evangelist">
            <a:extLst>
              <a:ext uri="{FF2B5EF4-FFF2-40B4-BE49-F238E27FC236}">
                <a16:creationId xmlns:a16="http://schemas.microsoft.com/office/drawing/2014/main" id="{CCC5D978-5876-140C-4B9C-194D64B7F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85" y="2212398"/>
            <a:ext cx="4429125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72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2F179-70F4-E54B-DA2A-E8D7B0575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Behind the scenes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27CCE0-B5E8-BB6E-E50B-1D1DE876D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688" y="1393825"/>
            <a:ext cx="9820275" cy="5029200"/>
          </a:xfrm>
          <a:prstGeom prst="rect">
            <a:avLst/>
          </a:prstGeom>
        </p:spPr>
      </p:pic>
      <p:pic>
        <p:nvPicPr>
          <p:cNvPr id="7" name="Picture 6" descr="Making a ChatGPT-like UI for your application in 15 minutes | by Pranav Dhoolia | HeurisLabs | Medium">
            <a:extLst>
              <a:ext uri="{FF2B5EF4-FFF2-40B4-BE49-F238E27FC236}">
                <a16:creationId xmlns:a16="http://schemas.microsoft.com/office/drawing/2014/main" id="{3C4C68B6-F4AD-2040-0CD1-27AF46808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688" y="4700587"/>
            <a:ext cx="2098040" cy="133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491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Generated image">
            <a:extLst>
              <a:ext uri="{FF2B5EF4-FFF2-40B4-BE49-F238E27FC236}">
                <a16:creationId xmlns:a16="http://schemas.microsoft.com/office/drawing/2014/main" id="{F7368DD8-B266-F042-9A82-977B39C65A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4182" y="3085143"/>
            <a:ext cx="1967228" cy="2963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D89159-517F-AF58-89A0-2B878C75F87D}"/>
              </a:ext>
            </a:extLst>
          </p:cNvPr>
          <p:cNvSpPr txBox="1"/>
          <p:nvPr/>
        </p:nvSpPr>
        <p:spPr>
          <a:xfrm>
            <a:off x="163437" y="1099846"/>
            <a:ext cx="3545192" cy="9464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i="1"/>
              <a:t>"Give me a recipe for apple pie."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EF502-BB4C-EA01-C70E-15378EF095BD}"/>
              </a:ext>
            </a:extLst>
          </p:cNvPr>
          <p:cNvSpPr txBox="1"/>
          <p:nvPr/>
        </p:nvSpPr>
        <p:spPr>
          <a:xfrm>
            <a:off x="5648036" y="775855"/>
            <a:ext cx="635905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US" err="1">
                <a:solidFill>
                  <a:srgbClr val="666666"/>
                </a:solidFill>
                <a:latin typeface="Source Code Pro"/>
                <a:ea typeface="Source Code Pro"/>
              </a:rPr>
              <a:t>begin_of_text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|&gt;&lt;|</a:t>
            </a:r>
            <a:r>
              <a:rPr lang="en-US" err="1">
                <a:solidFill>
                  <a:srgbClr val="666666"/>
                </a:solidFill>
                <a:latin typeface="Source Code Pro"/>
                <a:ea typeface="Source Code Pro"/>
              </a:rPr>
              <a:t>start_header_id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r>
              <a:rPr lang="en-US">
                <a:solidFill>
                  <a:srgbClr val="0B7743"/>
                </a:solidFill>
                <a:latin typeface="Source Code Pro"/>
                <a:ea typeface="Source Code Pro"/>
              </a:rPr>
              <a:t>system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US" err="1">
                <a:solidFill>
                  <a:srgbClr val="666666"/>
                </a:solidFill>
                <a:latin typeface="Source Code Pro"/>
                <a:ea typeface="Source Code Pro"/>
              </a:rPr>
              <a:t>end_header_id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br>
              <a:rPr lang="en-US"/>
            </a:br>
            <a:r>
              <a:rPr lang="en-US">
                <a:solidFill>
                  <a:srgbClr val="9325A5"/>
                </a:solidFill>
                <a:latin typeface="Source Code Pro"/>
                <a:ea typeface="Source Code Pro"/>
              </a:rPr>
              <a:t>You are a helpful assistant.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US" err="1">
                <a:solidFill>
                  <a:srgbClr val="666666"/>
                </a:solidFill>
                <a:latin typeface="Source Code Pro"/>
                <a:ea typeface="Source Code Pro"/>
              </a:rPr>
              <a:t>eot_id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|&gt;&lt;|</a:t>
            </a:r>
            <a:r>
              <a:rPr lang="en-US" err="1">
                <a:solidFill>
                  <a:srgbClr val="666666"/>
                </a:solidFill>
                <a:latin typeface="Source Code Pro"/>
                <a:ea typeface="Source Code Pro"/>
              </a:rPr>
              <a:t>start_header_id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r>
              <a:rPr lang="en-US">
                <a:solidFill>
                  <a:srgbClr val="0B7743"/>
                </a:solidFill>
                <a:latin typeface="Source Code Pro"/>
                <a:ea typeface="Source Code Pro"/>
              </a:rPr>
              <a:t>user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US" err="1">
                <a:solidFill>
                  <a:srgbClr val="666666"/>
                </a:solidFill>
                <a:latin typeface="Source Code Pro"/>
                <a:ea typeface="Source Code Pro"/>
              </a:rPr>
              <a:t>end_header_id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br>
              <a:rPr lang="en-US"/>
            </a:br>
            <a:r>
              <a:rPr lang="en-US">
                <a:solidFill>
                  <a:srgbClr val="9325A5"/>
                </a:solidFill>
                <a:latin typeface="Source Code Pro"/>
                <a:ea typeface="Source Code Pro"/>
              </a:rPr>
              <a:t>Give me a recipe for apple pie.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US" err="1">
                <a:solidFill>
                  <a:srgbClr val="666666"/>
                </a:solidFill>
                <a:latin typeface="Source Code Pro"/>
                <a:ea typeface="Source Code Pro"/>
              </a:rPr>
              <a:t>eot_id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|&gt;&lt;|</a:t>
            </a:r>
            <a:r>
              <a:rPr lang="en-US" err="1">
                <a:solidFill>
                  <a:srgbClr val="666666"/>
                </a:solidFill>
                <a:latin typeface="Source Code Pro"/>
                <a:ea typeface="Source Code Pro"/>
              </a:rPr>
              <a:t>start_header_id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r>
              <a:rPr lang="en-US">
                <a:solidFill>
                  <a:srgbClr val="0B7743"/>
                </a:solidFill>
                <a:latin typeface="Source Code Pro"/>
                <a:ea typeface="Source Code Pro"/>
              </a:rPr>
              <a:t>assistant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US" err="1">
                <a:solidFill>
                  <a:srgbClr val="666666"/>
                </a:solidFill>
                <a:latin typeface="Source Code Pro"/>
                <a:ea typeface="Source Code Pro"/>
              </a:rPr>
              <a:t>end_header_id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2EEE7A-E805-CE4A-9F15-CE1CB2124B02}"/>
              </a:ext>
            </a:extLst>
          </p:cNvPr>
          <p:cNvSpPr txBox="1"/>
          <p:nvPr/>
        </p:nvSpPr>
        <p:spPr>
          <a:xfrm>
            <a:off x="5649577" y="4125575"/>
            <a:ext cx="631921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Source Code Pro"/>
                <a:ea typeface="Source Code Pro"/>
              </a:rPr>
              <a:t>[101, </a:t>
            </a:r>
            <a:endParaRPr lang="en-US">
              <a:latin typeface="Aptos" panose="020B0004020202020204"/>
              <a:ea typeface="Source Code Pro"/>
            </a:endParaRPr>
          </a:p>
          <a:p>
            <a:r>
              <a:rPr lang="en-GB">
                <a:latin typeface="Source Code Pro"/>
                <a:ea typeface="Source Code Pro"/>
              </a:rPr>
              <a:t>102, 5921, 103,</a:t>
            </a:r>
            <a:endParaRPr lang="en-US">
              <a:latin typeface="Aptos" panose="020B0004020202020204"/>
              <a:ea typeface="Source Code Pro"/>
            </a:endParaRPr>
          </a:p>
          <a:p>
            <a:r>
              <a:rPr lang="en-GB">
                <a:latin typeface="Source Code Pro"/>
                <a:ea typeface="Source Code Pro"/>
              </a:rPr>
              <a:t>84011, 97432, 34587, 123, 712, 104,</a:t>
            </a:r>
            <a:endParaRPr lang="en-US">
              <a:latin typeface="Aptos" panose="020B0004020202020204"/>
              <a:ea typeface="Source Code Pro"/>
            </a:endParaRPr>
          </a:p>
          <a:p>
            <a:r>
              <a:rPr lang="en-GB">
                <a:latin typeface="Source Code Pro"/>
                <a:ea typeface="Source Code Pro"/>
              </a:rPr>
              <a:t>102, 1246, 103,</a:t>
            </a:r>
            <a:endParaRPr lang="en-US">
              <a:latin typeface="Aptos" panose="020B0004020202020204"/>
              <a:ea typeface="Source Code Pro"/>
            </a:endParaRPr>
          </a:p>
          <a:p>
            <a:r>
              <a:rPr lang="en-GB">
                <a:latin typeface="Source Code Pro"/>
                <a:ea typeface="Source Code Pro"/>
              </a:rPr>
              <a:t>1487, 34578, 8891, 67, 86, 12413, 1775, 104,</a:t>
            </a:r>
            <a:endParaRPr lang="en-US">
              <a:latin typeface="Aptos" panose="020B0004020202020204"/>
              <a:ea typeface="Source Code Pro"/>
            </a:endParaRPr>
          </a:p>
          <a:p>
            <a:r>
              <a:rPr lang="en-GB">
                <a:latin typeface="Source Code Pro"/>
                <a:ea typeface="Source Code Pro"/>
              </a:rPr>
              <a:t>102, 1346, 103]</a:t>
            </a:r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4EBC0B9-7EDD-24A5-86CD-2C5B10B08E75}"/>
              </a:ext>
            </a:extLst>
          </p:cNvPr>
          <p:cNvSpPr/>
          <p:nvPr/>
        </p:nvSpPr>
        <p:spPr>
          <a:xfrm>
            <a:off x="4017817" y="1293091"/>
            <a:ext cx="1431635" cy="592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613D18-C17A-9982-47B9-D07B1BF44A2B}"/>
              </a:ext>
            </a:extLst>
          </p:cNvPr>
          <p:cNvSpPr txBox="1"/>
          <p:nvPr/>
        </p:nvSpPr>
        <p:spPr>
          <a:xfrm>
            <a:off x="3910059" y="454121"/>
            <a:ext cx="14162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b="1">
                <a:solidFill>
                  <a:srgbClr val="7030A0"/>
                </a:solidFill>
              </a:rPr>
              <a:t>chat template</a:t>
            </a:r>
            <a:endParaRPr lang="en-US" b="1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491C6C-AF64-543F-2A7C-A6E4C49E4918}"/>
              </a:ext>
            </a:extLst>
          </p:cNvPr>
          <p:cNvSpPr txBox="1"/>
          <p:nvPr/>
        </p:nvSpPr>
        <p:spPr>
          <a:xfrm>
            <a:off x="9105513" y="3426663"/>
            <a:ext cx="14162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b="1">
                <a:solidFill>
                  <a:srgbClr val="7030A0"/>
                </a:solidFill>
              </a:rPr>
              <a:t>tokenizer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AC11ADF-B888-E40F-DC18-9DA3B32D08E7}"/>
              </a:ext>
            </a:extLst>
          </p:cNvPr>
          <p:cNvSpPr/>
          <p:nvPr/>
        </p:nvSpPr>
        <p:spPr>
          <a:xfrm rot="5400000">
            <a:off x="8090407" y="3396218"/>
            <a:ext cx="1431635" cy="592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35BAC35-E36A-FD2D-D732-FDC0D7019A50}"/>
              </a:ext>
            </a:extLst>
          </p:cNvPr>
          <p:cNvSpPr/>
          <p:nvPr/>
        </p:nvSpPr>
        <p:spPr>
          <a:xfrm rot="10800000">
            <a:off x="4017817" y="4410363"/>
            <a:ext cx="1431635" cy="592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DBB98E-2C85-1895-9B36-57F6D4DD73EC}"/>
              </a:ext>
            </a:extLst>
          </p:cNvPr>
          <p:cNvSpPr txBox="1"/>
          <p:nvPr/>
        </p:nvSpPr>
        <p:spPr>
          <a:xfrm>
            <a:off x="461815" y="3271212"/>
            <a:ext cx="147781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b="1">
                <a:solidFill>
                  <a:srgbClr val="7030A0"/>
                </a:solidFill>
              </a:rPr>
              <a:t>Generate until we see special end token</a:t>
            </a:r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AD616D3-50DE-12EC-0121-855D3D9C7282}"/>
              </a:ext>
            </a:extLst>
          </p:cNvPr>
          <p:cNvSpPr/>
          <p:nvPr/>
        </p:nvSpPr>
        <p:spPr>
          <a:xfrm rot="10800000">
            <a:off x="392543" y="4410363"/>
            <a:ext cx="1431635" cy="592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56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2" grpId="0"/>
      <p:bldP spid="13" grpId="0"/>
      <p:bldP spid="14" grpId="0" animBg="1"/>
      <p:bldP spid="15" grpId="0" animBg="1"/>
      <p:bldP spid="16" grpId="0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509EE-3E66-ECC6-710D-A5274B105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7E1-A814-DD8D-8E39-C4D1C9B5E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Session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B244A-48E9-7AA5-396D-00FBF7A14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GB" sz="2000" err="1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session_state</a:t>
            </a:r>
            <a:r>
              <a:rPr lang="en-GB" sz="200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 = [</a:t>
            </a:r>
          </a:p>
          <a:p>
            <a:pPr>
              <a:buNone/>
            </a:pPr>
            <a:r>
              <a:rPr lang="en-GB" sz="2000">
                <a:solidFill>
                  <a:srgbClr val="0B7743"/>
                </a:solidFill>
                <a:latin typeface="Source Code Pro"/>
                <a:ea typeface="Source Code Pro"/>
              </a:rPr>
              <a:t>    ‘system’</a:t>
            </a:r>
            <a:r>
              <a:rPr lang="en-GB" sz="2000">
                <a:solidFill>
                  <a:srgbClr val="666666"/>
                </a:solidFill>
                <a:latin typeface="Source Code Pro"/>
                <a:ea typeface="Source Code Pro"/>
              </a:rPr>
              <a:t>    : </a:t>
            </a:r>
            <a:r>
              <a:rPr lang="en-GB" sz="2000">
                <a:solidFill>
                  <a:srgbClr val="9325A5"/>
                </a:solidFill>
                <a:latin typeface="Source Code Pro"/>
                <a:ea typeface="Source Code Pro"/>
              </a:rPr>
              <a:t>“You are an expert in baking.”</a:t>
            </a:r>
            <a:r>
              <a:rPr lang="en-GB" sz="200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  <a:endParaRPr lang="en-GB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None/>
            </a:pPr>
            <a:r>
              <a:rPr lang="en-GB" sz="2000">
                <a:solidFill>
                  <a:srgbClr val="0B7743"/>
                </a:solidFill>
                <a:latin typeface="Source Code Pro"/>
                <a:ea typeface="Source Code Pro"/>
              </a:rPr>
              <a:t>    ‘user’</a:t>
            </a:r>
            <a:r>
              <a:rPr lang="en-GB" sz="2000">
                <a:solidFill>
                  <a:srgbClr val="666666"/>
                </a:solidFill>
                <a:latin typeface="Source Code Pro"/>
                <a:ea typeface="Source Code Pro"/>
              </a:rPr>
              <a:t>      : </a:t>
            </a:r>
            <a:r>
              <a:rPr lang="en-GB" sz="2000">
                <a:solidFill>
                  <a:srgbClr val="9325A5"/>
                </a:solidFill>
                <a:latin typeface="Source Code Pro"/>
                <a:ea typeface="Source Code Pro"/>
              </a:rPr>
              <a:t>“Provide me a recipe for macarons.”</a:t>
            </a:r>
            <a:r>
              <a:rPr lang="en-GB" sz="200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  <a:endParaRPr lang="en-GB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2000">
                <a:solidFill>
                  <a:srgbClr val="0B7743"/>
                </a:solidFill>
                <a:latin typeface="Source Code Pro"/>
                <a:ea typeface="Source Code Pro"/>
              </a:rPr>
              <a:t>    ‘assistant’</a:t>
            </a:r>
            <a:r>
              <a:rPr lang="en-GB" sz="2000">
                <a:solidFill>
                  <a:srgbClr val="666666"/>
                </a:solidFill>
                <a:latin typeface="Source Code Pro"/>
                <a:ea typeface="Source Code Pro"/>
              </a:rPr>
              <a:t> : </a:t>
            </a:r>
            <a:r>
              <a:rPr lang="en-GB" sz="2000">
                <a:solidFill>
                  <a:srgbClr val="9325A5"/>
                </a:solidFill>
                <a:latin typeface="Source Code Pro"/>
                <a:ea typeface="Source Code Pro"/>
              </a:rPr>
              <a:t>“Certainly! Here is a recipe for macarons …”</a:t>
            </a:r>
            <a:r>
              <a:rPr lang="en-GB" sz="200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</a:p>
          <a:p>
            <a:pPr marL="0" indent="0">
              <a:buNone/>
            </a:pPr>
            <a:r>
              <a:rPr lang="en-GB" sz="2000">
                <a:solidFill>
                  <a:srgbClr val="0B7743"/>
                </a:solidFill>
                <a:latin typeface="Source Code Pro"/>
                <a:ea typeface="Source Code Pro"/>
              </a:rPr>
              <a:t>    ‘user’</a:t>
            </a:r>
            <a:r>
              <a:rPr lang="en-GB" sz="2000">
                <a:solidFill>
                  <a:srgbClr val="666666"/>
                </a:solidFill>
                <a:latin typeface="Source Code Pro"/>
                <a:ea typeface="Source Code Pro"/>
              </a:rPr>
              <a:t>      : </a:t>
            </a:r>
            <a:r>
              <a:rPr lang="en-GB" sz="2000">
                <a:solidFill>
                  <a:srgbClr val="9325A5"/>
                </a:solidFill>
                <a:latin typeface="Source Code Pro"/>
                <a:ea typeface="Source Code Pro"/>
              </a:rPr>
              <a:t>“Is this the only way to make them?”</a:t>
            </a:r>
            <a:r>
              <a:rPr lang="en-GB" sz="200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  <a:endParaRPr lang="en-GB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2000">
                <a:solidFill>
                  <a:srgbClr val="0B7743"/>
                </a:solidFill>
                <a:latin typeface="Source Code Pro"/>
                <a:ea typeface="Source Code Pro"/>
              </a:rPr>
              <a:t>    ‘assistant’</a:t>
            </a:r>
            <a:r>
              <a:rPr lang="en-GB" sz="2000">
                <a:solidFill>
                  <a:srgbClr val="666666"/>
                </a:solidFill>
                <a:latin typeface="Source Code Pro"/>
                <a:ea typeface="Source Code Pro"/>
              </a:rPr>
              <a:t> : </a:t>
            </a:r>
            <a:r>
              <a:rPr lang="en-GB" sz="2000">
                <a:solidFill>
                  <a:srgbClr val="9325A5"/>
                </a:solidFill>
                <a:latin typeface="Source Code Pro"/>
                <a:ea typeface="Source Code Pro"/>
              </a:rPr>
              <a:t>“Actually no! There are two common ways to …”</a:t>
            </a:r>
            <a:r>
              <a:rPr lang="en-GB" sz="200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  <a:endParaRPr lang="en-GB" sz="200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/>
              <a:ea typeface="Source Code Pro"/>
            </a:endParaRPr>
          </a:p>
          <a:p>
            <a:pPr marL="0" indent="0">
              <a:buNone/>
            </a:pPr>
            <a:r>
              <a:rPr lang="en-GB" sz="2000">
                <a:solidFill>
                  <a:srgbClr val="0B7743"/>
                </a:solidFill>
                <a:latin typeface="Source Code Pro"/>
                <a:ea typeface="Source Code Pro"/>
              </a:rPr>
              <a:t>    ‘user’</a:t>
            </a:r>
            <a:r>
              <a:rPr lang="en-GB" sz="2000">
                <a:solidFill>
                  <a:srgbClr val="666666"/>
                </a:solidFill>
                <a:latin typeface="Source Code Pro"/>
                <a:ea typeface="Source Code Pro"/>
              </a:rPr>
              <a:t>      : </a:t>
            </a:r>
            <a:r>
              <a:rPr lang="en-GB" sz="2000">
                <a:solidFill>
                  <a:srgbClr val="9325A5"/>
                </a:solidFill>
                <a:latin typeface="Source Code Pro"/>
                <a:ea typeface="Source Code Pro"/>
              </a:rPr>
              <a:t>“I think I'll try the Italian method first.”</a:t>
            </a:r>
            <a:r>
              <a:rPr lang="en-GB" sz="200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  <a:endParaRPr lang="en-GB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2000">
                <a:solidFill>
                  <a:srgbClr val="0B7743"/>
                </a:solidFill>
                <a:latin typeface="Source Code Pro"/>
                <a:ea typeface="Source Code Pro"/>
              </a:rPr>
              <a:t>    ‘assistant’</a:t>
            </a:r>
            <a:r>
              <a:rPr lang="en-GB" sz="2000">
                <a:solidFill>
                  <a:srgbClr val="666666"/>
                </a:solidFill>
                <a:latin typeface="Source Code Pro"/>
                <a:ea typeface="Source Code Pro"/>
              </a:rPr>
              <a:t> : </a:t>
            </a:r>
            <a:r>
              <a:rPr lang="en-GB" sz="2000">
                <a:solidFill>
                  <a:srgbClr val="9325A5"/>
                </a:solidFill>
                <a:latin typeface="Source Code Pro"/>
                <a:ea typeface="Source Code Pro"/>
              </a:rPr>
              <a:t>“What an insightful idea! Let's get started …”</a:t>
            </a:r>
            <a:r>
              <a:rPr lang="en-GB" sz="200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  <a:endParaRPr lang="en-GB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Source Code Pro"/>
              </a:rPr>
              <a:t>             …</a:t>
            </a:r>
            <a:endParaRPr lang="en-GB" sz="2000">
              <a:solidFill>
                <a:schemeClr val="tx1">
                  <a:lumMod val="65000"/>
                  <a:lumOff val="35000"/>
                </a:schemeClr>
              </a:solidFill>
              <a:latin typeface="Source Code Pro"/>
              <a:ea typeface="Source Code Pro"/>
            </a:endParaRP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Source Code Pro"/>
              </a:rPr>
              <a:t>]</a:t>
            </a:r>
          </a:p>
          <a:p>
            <a:pPr marL="0" indent="0">
              <a:buNone/>
            </a:pPr>
            <a:endParaRPr lang="en-GB" sz="2200">
              <a:latin typeface="Aptos"/>
              <a:ea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321925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/LocalLLaMA - NoLiMa: Long-Context Evaluation Beyond Literal Matching - Finally a good benchmark that shows just how bad LLM performance is at long context. Massive drop at just 32k context for all models.">
            <a:extLst>
              <a:ext uri="{FF2B5EF4-FFF2-40B4-BE49-F238E27FC236}">
                <a16:creationId xmlns:a16="http://schemas.microsoft.com/office/drawing/2014/main" id="{DDEBD7AF-8240-B39D-B623-FD0A8EA1E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681" y="0"/>
            <a:ext cx="6499319" cy="68582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DDF3CE-1B4A-A5AA-798B-3CBF633D0BFD}"/>
              </a:ext>
            </a:extLst>
          </p:cNvPr>
          <p:cNvSpPr txBox="1"/>
          <p:nvPr/>
        </p:nvSpPr>
        <p:spPr>
          <a:xfrm>
            <a:off x="207380" y="6355913"/>
            <a:ext cx="233681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200">
                <a:ea typeface="+mn-lt"/>
                <a:cs typeface="+mn-lt"/>
              </a:rPr>
              <a:t>https://arxiv.org/abs/2502.05167</a:t>
            </a:r>
            <a:endParaRPr lang="en-US" sz="1200"/>
          </a:p>
        </p:txBody>
      </p:sp>
      <p:pic>
        <p:nvPicPr>
          <p:cNvPr id="3" name="Picture 2" descr="A graph of a needle in a haystack&#10;&#10;AI-generated content may be incorrect.">
            <a:extLst>
              <a:ext uri="{FF2B5EF4-FFF2-40B4-BE49-F238E27FC236}">
                <a16:creationId xmlns:a16="http://schemas.microsoft.com/office/drawing/2014/main" id="{E36B757F-5D77-5862-54E3-799068294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8640"/>
            <a:ext cx="5692681" cy="317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258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3067D-3030-C8EF-8FC9-6EA7C2593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DDA60-09DC-F72F-9A55-5D522C48C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9B2B3-16DE-C47F-6291-92B654548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8959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What APIs do you use?</a:t>
            </a:r>
          </a:p>
          <a:p>
            <a:pPr marL="0" indent="0">
              <a:buNone/>
            </a:pPr>
            <a:endParaRPr lang="en-GB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Real APIs (computer science definition)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Figurative (abstraction service)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Directly, Indirectly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What is the input and output you expect?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 descr="10 Drive-Thru Concepts &amp; Trends in 2026 | Interface">
            <a:extLst>
              <a:ext uri="{FF2B5EF4-FFF2-40B4-BE49-F238E27FC236}">
                <a16:creationId xmlns:a16="http://schemas.microsoft.com/office/drawing/2014/main" id="{DD7092AB-9CFE-B218-9AA4-2727B88F9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2534" y="0"/>
            <a:ext cx="3539466" cy="1985554"/>
          </a:xfrm>
          <a:prstGeom prst="rect">
            <a:avLst/>
          </a:prstGeom>
        </p:spPr>
      </p:pic>
      <p:pic>
        <p:nvPicPr>
          <p:cNvPr id="5" name="Picture 4" descr="Google Search Bar Vector Art, Icons, and Graphics for Free Download">
            <a:extLst>
              <a:ext uri="{FF2B5EF4-FFF2-40B4-BE49-F238E27FC236}">
                <a16:creationId xmlns:a16="http://schemas.microsoft.com/office/drawing/2014/main" id="{3C700A1D-402B-4F97-6860-1732F3A21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533" y="1985554"/>
            <a:ext cx="3514725" cy="1171575"/>
          </a:xfrm>
          <a:prstGeom prst="rect">
            <a:avLst/>
          </a:prstGeom>
        </p:spPr>
      </p:pic>
      <p:pic>
        <p:nvPicPr>
          <p:cNvPr id="6" name="Picture 5" descr="Outlook for Windows | Microsoft 365">
            <a:extLst>
              <a:ext uri="{FF2B5EF4-FFF2-40B4-BE49-F238E27FC236}">
                <a16:creationId xmlns:a16="http://schemas.microsoft.com/office/drawing/2014/main" id="{B2DA5CB1-3BE2-F3B9-1184-D92B09792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275" y="3157129"/>
            <a:ext cx="3514725" cy="1972249"/>
          </a:xfrm>
          <a:prstGeom prst="rect">
            <a:avLst/>
          </a:prstGeom>
        </p:spPr>
      </p:pic>
      <p:pic>
        <p:nvPicPr>
          <p:cNvPr id="7" name="Picture 6" descr="10: Good PhD-supervision: What you can expect | Tress Academic">
            <a:extLst>
              <a:ext uri="{FF2B5EF4-FFF2-40B4-BE49-F238E27FC236}">
                <a16:creationId xmlns:a16="http://schemas.microsoft.com/office/drawing/2014/main" id="{36C06BF7-EAE5-A425-F59A-17FA17827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274" y="4857219"/>
            <a:ext cx="3514725" cy="200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628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311</Words>
  <Application>Microsoft Office PowerPoint</Application>
  <PresentationFormat>Widescreen</PresentationFormat>
  <Paragraphs>36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Courier New</vt:lpstr>
      <vt:lpstr>Source Code Pro</vt:lpstr>
      <vt:lpstr>office theme</vt:lpstr>
      <vt:lpstr>PowerPoint Presentation</vt:lpstr>
      <vt:lpstr>UI - User Interface</vt:lpstr>
      <vt:lpstr>API - Application Programming Interface</vt:lpstr>
      <vt:lpstr>Behind the scenes</vt:lpstr>
      <vt:lpstr>PowerPoint Presentation</vt:lpstr>
      <vt:lpstr>Session state</vt:lpstr>
      <vt:lpstr>PowerPoint Presentation</vt:lpstr>
      <vt:lpstr>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Radzim Sendyka</cp:lastModifiedBy>
  <cp:revision>2</cp:revision>
  <dcterms:created xsi:type="dcterms:W3CDTF">2025-07-29T08:46:07Z</dcterms:created>
  <dcterms:modified xsi:type="dcterms:W3CDTF">2026-10-16T10:30:30Z</dcterms:modified>
</cp:coreProperties>
</file>