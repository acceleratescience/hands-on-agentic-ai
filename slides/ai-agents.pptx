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f7441d19b1d447c" /><Relationship Type="http://schemas.openxmlformats.org/officeDocument/2006/relationships/extended-properties" Target="/docProps/app.xml" Id="R0cb4ba5b74144a18" /><Relationship Type="http://schemas.openxmlformats.org/officeDocument/2006/relationships/officeDocument" Target="/ppt/presentation.xml" Id="R7ba80016c9b54160" /></Relationships>
</file>

<file path=ppt/presentation.xml><?xml version="1.0" encoding="utf-8"?>
<p:presentation xmlns:p="http://schemas.openxmlformats.org/presentationml/2006/main">
  <p:sldMasterIdLst>
    <p:sldMasterId xmlns:r="http://schemas.openxmlformats.org/officeDocument/2006/relationships" id="2147483648" r:id="R0ea42b7c9f9a4506"/>
  </p:sldMasterIdLst>
  <p:notesMasterIdLst>
    <p:notesMasterId xmlns:r="http://schemas.openxmlformats.org/officeDocument/2006/relationships" r:id="R0a5576580b014fe4"/>
  </p:notesMasterIdLst>
  <p:sldIdLst>
    <p:sldId xmlns:r="http://schemas.openxmlformats.org/officeDocument/2006/relationships" id="256" r:id="Rc0daedae9d544ead"/>
    <p:sldId xmlns:r="http://schemas.openxmlformats.org/officeDocument/2006/relationships" id="257" r:id="R4097794a7ec44d17"/>
    <p:sldId xmlns:r="http://schemas.openxmlformats.org/officeDocument/2006/relationships" id="258" r:id="Rf3dd9ff187524263"/>
    <p:sldId xmlns:r="http://schemas.openxmlformats.org/officeDocument/2006/relationships" id="259" r:id="R62c339b012344867"/>
    <p:sldId xmlns:r="http://schemas.openxmlformats.org/officeDocument/2006/relationships" id="260" r:id="Rd15c1eef761644ad"/>
    <p:sldId xmlns:r="http://schemas.openxmlformats.org/officeDocument/2006/relationships" id="261" r:id="R79ecb757c6ab49e5"/>
    <p:sldId xmlns:r="http://schemas.openxmlformats.org/officeDocument/2006/relationships" id="262" r:id="R1651400763064135"/>
    <p:sldId xmlns:r="http://schemas.openxmlformats.org/officeDocument/2006/relationships" id="263" r:id="Rc1ebbd84d8b64085"/>
    <p:sldId xmlns:r="http://schemas.openxmlformats.org/officeDocument/2006/relationships" id="264" r:id="R496c0dabd6ae44f2"/>
    <p:sldId xmlns:r="http://schemas.openxmlformats.org/officeDocument/2006/relationships" id="265" r:id="R5843c1951a1840e3"/>
    <p:sldId xmlns:r="http://schemas.openxmlformats.org/officeDocument/2006/relationships" id="266" r:id="Rd431a6f9b59043c9"/>
    <p:sldId xmlns:r="http://schemas.openxmlformats.org/officeDocument/2006/relationships" id="267" r:id="Rd7509865b5f24282"/>
    <p:sldId xmlns:r="http://schemas.openxmlformats.org/officeDocument/2006/relationships" id="268" r:id="R83a808d897f54d72"/>
    <p:sldId xmlns:r="http://schemas.openxmlformats.org/officeDocument/2006/relationships" id="269" r:id="Rabbc176520264216"/>
    <p:sldId xmlns:r="http://schemas.openxmlformats.org/officeDocument/2006/relationships" id="270" r:id="R5fc64c9dd4184153"/>
    <p:sldId xmlns:r="http://schemas.openxmlformats.org/officeDocument/2006/relationships" id="271" r:id="R8cfce0de946d4aa0"/>
    <p:sldId xmlns:r="http://schemas.openxmlformats.org/officeDocument/2006/relationships" id="272" r:id="Ra35ce83907ab4926"/>
    <p:sldId xmlns:r="http://schemas.openxmlformats.org/officeDocument/2006/relationships" id="273" r:id="Rda454e58587a4420"/>
    <p:sldId xmlns:r="http://schemas.openxmlformats.org/officeDocument/2006/relationships" id="274" r:id="Rc722bf83e90643f3"/>
    <p:sldId xmlns:r="http://schemas.openxmlformats.org/officeDocument/2006/relationships" id="275" r:id="Rd42876dc528943dc"/>
    <p:sldId xmlns:r="http://schemas.openxmlformats.org/officeDocument/2006/relationships" id="276" r:id="R287575797c224c65"/>
    <p:sldId xmlns:r="http://schemas.openxmlformats.org/officeDocument/2006/relationships" id="277" r:id="Rc71e9eddf3e14c33"/>
    <p:sldId xmlns:r="http://schemas.openxmlformats.org/officeDocument/2006/relationships" id="278" r:id="R3fda0408ee964e8a"/>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9ff9bbe2145d427b" /><Relationship Type="http://schemas.openxmlformats.org/officeDocument/2006/relationships/slideMaster" Target="/ppt/slideMasters/slideMaster1.xml" Id="R0ea42b7c9f9a4506" /><Relationship Type="http://schemas.openxmlformats.org/officeDocument/2006/relationships/notesMaster" Target="/ppt/notesMasters/notesMaster1.xml" Id="R0a5576580b014fe4" /><Relationship Type="http://schemas.openxmlformats.org/officeDocument/2006/relationships/presProps" Target="/ppt/presProps.xml" Id="R76035aa77ee44cb9" /><Relationship Type="http://schemas.openxmlformats.org/officeDocument/2006/relationships/viewProps" Target="/ppt/viewProps.xml" Id="R569d292970ea4723" /><Relationship Type="http://schemas.openxmlformats.org/officeDocument/2006/relationships/tableStyles" Target="/ppt/tableStyles.xml" Id="Rc7649b01e25f4d63" /><Relationship Type="http://schemas.openxmlformats.org/officeDocument/2006/relationships/slide" Target="/ppt/slides/slide1.xml" Id="Rc0daedae9d544ead" /><Relationship Type="http://schemas.openxmlformats.org/officeDocument/2006/relationships/slide" Target="/ppt/slides/slide2.xml" Id="R4097794a7ec44d17" /><Relationship Type="http://schemas.openxmlformats.org/officeDocument/2006/relationships/slide" Target="/ppt/slides/slide3.xml" Id="Rf3dd9ff187524263" /><Relationship Type="http://schemas.openxmlformats.org/officeDocument/2006/relationships/slide" Target="/ppt/slides/slide4.xml" Id="R62c339b012344867" /><Relationship Type="http://schemas.openxmlformats.org/officeDocument/2006/relationships/slide" Target="/ppt/slides/slide5.xml" Id="Rd15c1eef761644ad" /><Relationship Type="http://schemas.openxmlformats.org/officeDocument/2006/relationships/slide" Target="/ppt/slides/slide6.xml" Id="R79ecb757c6ab49e5" /><Relationship Type="http://schemas.openxmlformats.org/officeDocument/2006/relationships/slide" Target="/ppt/slides/slide7.xml" Id="R1651400763064135" /><Relationship Type="http://schemas.openxmlformats.org/officeDocument/2006/relationships/slide" Target="/ppt/slides/slide8.xml" Id="Rc1ebbd84d8b64085" /><Relationship Type="http://schemas.openxmlformats.org/officeDocument/2006/relationships/slide" Target="/ppt/slides/slide9.xml" Id="R496c0dabd6ae44f2" /><Relationship Type="http://schemas.openxmlformats.org/officeDocument/2006/relationships/slide" Target="/ppt/slides/slide10.xml" Id="R5843c1951a1840e3" /><Relationship Type="http://schemas.openxmlformats.org/officeDocument/2006/relationships/slide" Target="/ppt/slides/slide11.xml" Id="Rd431a6f9b59043c9" /><Relationship Type="http://schemas.openxmlformats.org/officeDocument/2006/relationships/slide" Target="/ppt/slides/slide12.xml" Id="Rd7509865b5f24282" /><Relationship Type="http://schemas.openxmlformats.org/officeDocument/2006/relationships/slide" Target="/ppt/slides/slide13.xml" Id="R83a808d897f54d72" /><Relationship Type="http://schemas.openxmlformats.org/officeDocument/2006/relationships/slide" Target="/ppt/slides/slide14.xml" Id="Rabbc176520264216" /><Relationship Type="http://schemas.openxmlformats.org/officeDocument/2006/relationships/slide" Target="/ppt/slides/slide15.xml" Id="R5fc64c9dd4184153" /><Relationship Type="http://schemas.openxmlformats.org/officeDocument/2006/relationships/slide" Target="/ppt/slides/slide16.xml" Id="R8cfce0de946d4aa0" /><Relationship Type="http://schemas.openxmlformats.org/officeDocument/2006/relationships/slide" Target="/ppt/slides/slide17.xml" Id="Ra35ce83907ab4926" /><Relationship Type="http://schemas.openxmlformats.org/officeDocument/2006/relationships/slide" Target="/ppt/slides/slide18.xml" Id="Rda454e58587a4420" /><Relationship Type="http://schemas.openxmlformats.org/officeDocument/2006/relationships/slide" Target="/ppt/slides/slide19.xml" Id="Rc722bf83e90643f3" /><Relationship Type="http://schemas.openxmlformats.org/officeDocument/2006/relationships/slide" Target="/ppt/slides/slide20.xml" Id="Rd42876dc528943dc" /><Relationship Type="http://schemas.openxmlformats.org/officeDocument/2006/relationships/slide" Target="/ppt/slides/slide21.xml" Id="R287575797c224c65" /><Relationship Type="http://schemas.openxmlformats.org/officeDocument/2006/relationships/slide" Target="/ppt/slides/slide22.xml" Id="Rc71e9eddf3e14c33" /><Relationship Type="http://schemas.openxmlformats.org/officeDocument/2006/relationships/slide" Target="/ppt/slides/slide23.xml" Id="R3fda0408ee964e8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59363c54424a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a312f828914e89" /><Relationship Type="http://schemas.openxmlformats.org/officeDocument/2006/relationships/notesMaster" Target="/ppt/notesMasters/notesMaster1.xml" Id="R2cf04056fe004b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fc1b49893a4431" /><Relationship Type="http://schemas.openxmlformats.org/officeDocument/2006/relationships/notesMaster" Target="/ppt/notesMasters/notesMaster1.xml" Id="R5cdbfde7a97941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eccc30d1314577" /><Relationship Type="http://schemas.openxmlformats.org/officeDocument/2006/relationships/notesMaster" Target="/ppt/notesMasters/notesMaster1.xml" Id="Rd06b2b6dfbb742f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d4c396fa1145a6" /><Relationship Type="http://schemas.openxmlformats.org/officeDocument/2006/relationships/notesMaster" Target="/ppt/notesMasters/notesMaster1.xml" Id="R13b5e70551d34b77"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d6e6ba8f4244af" /><Relationship Type="http://schemas.openxmlformats.org/officeDocument/2006/relationships/notesMaster" Target="/ppt/notesMasters/notesMaster1.xml" Id="R5f7f5842bda749a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c954dbcb2644d03" /><Relationship Type="http://schemas.openxmlformats.org/officeDocument/2006/relationships/notesMaster" Target="/ppt/notesMasters/notesMaster1.xml" Id="R0c3e6a1bba5e41f9"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33b2f00adb43c6" /><Relationship Type="http://schemas.openxmlformats.org/officeDocument/2006/relationships/notesMaster" Target="/ppt/notesMasters/notesMaster1.xml" Id="R21b483b1103345ce" /></Relationships>
</file>

<file path=ppt/notesSlides/_rels/notesSlide8.xml.rels>&#65279;<?xml version="1.0" encoding="utf-8"?><Relationships xmlns="http://schemas.openxmlformats.org/package/2006/relationships"><Relationship Type="http://schemas.openxmlformats.org/officeDocument/2006/relationships/slide" Target="/ppt/slides/slide8.xml" Id="Rba88c423e5494e18" /><Relationship Type="http://schemas.openxmlformats.org/officeDocument/2006/relationships/notesMaster" Target="/ppt/notesMasters/notesMaster1.xml" Id="Rd7bb0663119f4a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66fa89c4b043fa" /><Relationship Type="http://schemas.openxmlformats.org/officeDocument/2006/relationships/notesMaster" Target="/ppt/notesMasters/notesMaster1.xml" Id="Re470fe02a43140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69ef7f1be84e50" /><Relationship Type="http://schemas.openxmlformats.org/officeDocument/2006/relationships/notesMaster" Target="/ppt/notesMasters/notesMaster1.xml" Id="R46689d11aa2f43a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0ba6672f90c47fe" /><Relationship Type="http://schemas.openxmlformats.org/officeDocument/2006/relationships/notesMaster" Target="/ppt/notesMasters/notesMaster1.xml" Id="R57499a80ed1d478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ce3a5be163e4bea" /><Relationship Type="http://schemas.openxmlformats.org/officeDocument/2006/relationships/notesMaster" Target="/ppt/notesMasters/notesMaster1.xml" Id="Rfa0d64c10b224c5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bb6710420b14472" /><Relationship Type="http://schemas.openxmlformats.org/officeDocument/2006/relationships/notesMaster" Target="/ppt/notesMasters/notesMaster1.xml" Id="R68aad740a40c48f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f8668f689be4517" /><Relationship Type="http://schemas.openxmlformats.org/officeDocument/2006/relationships/notesMaster" Target="/ppt/notesMasters/notesMaster1.xml" Id="R4579745df098453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eaf63bb09154eb5" /><Relationship Type="http://schemas.openxmlformats.org/officeDocument/2006/relationships/notesMaster" Target="/ppt/notesMasters/notesMaster1.xml" Id="Rfb255511fc14468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06eafecd11546a5" /><Relationship Type="http://schemas.openxmlformats.org/officeDocument/2006/relationships/notesMaster" Target="/ppt/notesMasters/notesMaster1.xml" Id="R4ba16205b39d4fb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cfee073645b409a" /><Relationship Type="http://schemas.openxmlformats.org/officeDocument/2006/relationships/notesMaster" Target="/ppt/notesMasters/notesMaster1.xml" Id="R06de5529240e4ba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b544c43641b42a6" /><Relationship Type="http://schemas.openxmlformats.org/officeDocument/2006/relationships/notesMaster" Target="/ppt/notesMasters/notesMaster1.xml" Id="R1d36a078a5ee44c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3b5dab984ed4f08" /><Relationship Type="http://schemas.openxmlformats.org/officeDocument/2006/relationships/notesMaster" Target="/ppt/notesMasters/notesMaster1.xml" Id="R8da75f919a6a47c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2f8e14ba95845b5" /><Relationship Type="http://schemas.openxmlformats.org/officeDocument/2006/relationships/notesMaster" Target="/ppt/notesMasters/notesMaster1.xml" Id="R68260b15fbf142e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140cb43dfc14b42" /><Relationship Type="http://schemas.openxmlformats.org/officeDocument/2006/relationships/notesMaster" Target="/ppt/notesMasters/notesMaster1.xml" Id="Rbb02054883804e6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78bc70536154b2a" /><Relationship Type="http://schemas.openxmlformats.org/officeDocument/2006/relationships/notesMaster" Target="/ppt/notesMasters/notesMaster1.xml" Id="Radc79776079a4a1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fffc7ebcc1b444f" /><Relationship Type="http://schemas.openxmlformats.org/officeDocument/2006/relationships/notesMaster" Target="/ppt/notesMasters/notesMaster1.xml" Id="R6e2789a9296042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r>
              <a:t/>
            </a:r>
            <a:endParaRPr/>
          </a:p>
          <a:p xmlns:a="http://schemas.openxmlformats.org/drawingml/2006/main">
            <a:r>
              <a:t>What this slide explains: The session focuses on the complete agent system rather than the language model alone.</a:t>
            </a:r>
          </a:p>
          <a:p xmlns:a="http://schemas.openxmlformats.org/drawingml/2006/main">
            <a:r>
              <a:t/>
            </a:r>
          </a:p>
          <a:p xmlns:a="http://schemas.openxmlformats.org/drawingml/2006/main">
            <a:r>
              <a:t>Speaker notes: Set expectations for a fast practical overview. The audience should leave able to distinguish an agent from a chatbot, explain the decision and action loop, and identify the controls required before deployment.</a:t>
            </a:r>
            <a:endParaRPr/>
          </a:p>
          <a:p xmlns:a="http://schemas.openxmlformats.org/drawingml/2006/main">
            <a:r>
              <a:t/>
            </a:r>
          </a:p>
          <a:p xmlns:a="http://schemas.openxmlformats.org/drawingml/2006/main">
            <a:r>
              <a:t>Example: A research assistant that searches literature, checks evidence and prepares a cited recommendation.</a:t>
            </a:r>
          </a:p>
          <a:p xmlns:a="http://schemas.openxmlformats.org/drawingml/2006/main">
            <a:r>
              <a:t/>
            </a:r>
          </a:p>
          <a:p xmlns:a="http://schemas.openxmlformats.org/drawingml/2006/main">
            <a:r>
              <a:t>Transition: Begin with a plain definition of an AI agent.</a:t>
            </a:r>
          </a:p>
          <a:p xmlns:a="http://schemas.openxmlformats.org/drawingml/2006/main">
            <a:r>
              <a:t/>
            </a:r>
          </a:p>
          <a:p xmlns:a="http://schemas.openxmlformats.org/drawingml/2006/main">
            <a:r>
              <a:t>Sources:</a:t>
            </a:r>
          </a:p>
          <a:p xmlns:a="http://schemas.openxmlformats.org/drawingml/2006/main">
            <a:r>
              <a:t>- https://huggingface.co/learn/agents-course/en/unit1/introduction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 30 seconds</a:t>
            </a:r>
          </a:p>
          <a:p xmlns:a="http://schemas.openxmlformats.org/drawingml/2006/main">
            <a:r>
              <a:t/>
            </a:r>
            <a:endParaRPr/>
          </a:p>
          <a:p xmlns:a="http://schemas.openxmlformats.org/drawingml/2006/main">
            <a:r>
              <a:t>What this slide explains: An AI agent uses a model to choose and perform actions in pursuit of a goal.</a:t>
            </a:r>
          </a:p>
          <a:p xmlns:a="http://schemas.openxmlformats.org/drawingml/2006/main">
            <a:r>
              <a:t/>
            </a:r>
          </a:p>
          <a:p xmlns:a="http://schemas.openxmlformats.org/drawingml/2006/main">
            <a:r>
              <a:t>Speaker notes: Emphasize that the agent is the whole system. The model proposes the next action, tools affect the environment, state records progress, and the controller decides whether to continue. The feedback arrow matters because each result can change the next decision.</a:t>
            </a:r>
            <a:endParaRPr/>
          </a:p>
          <a:p xmlns:a="http://schemas.openxmlformats.org/drawingml/2006/main">
            <a:r>
              <a:t/>
            </a:r>
          </a:p>
          <a:p xmlns:a="http://schemas.openxmlformats.org/drawingml/2006/main">
            <a:r>
              <a:t>Example: A literature agent searches for papers, observes that results are too old, changes the query and searches again.</a:t>
            </a:r>
          </a:p>
          <a:p xmlns:a="http://schemas.openxmlformats.org/drawingml/2006/main">
            <a:r>
              <a:t/>
            </a:r>
          </a:p>
          <a:p xmlns:a="http://schemas.openxmlformats.org/drawingml/2006/main">
            <a:r>
              <a:t>Transition: Contrast this behaviour with chatbots and fixed workflows.</a:t>
            </a:r>
          </a:p>
          <a:p xmlns:a="http://schemas.openxmlformats.org/drawingml/2006/main">
            <a:r>
              <a:t/>
            </a:r>
          </a:p>
          <a:p xmlns:a="http://schemas.openxmlformats.org/drawingml/2006/main">
            <a:r>
              <a:t>Sources:</a:t>
            </a:r>
          </a:p>
          <a:p xmlns:a="http://schemas.openxmlformats.org/drawingml/2006/main">
            <a:r>
              <a:t>- https://huggingface.co/learn/agents-course/en/unit1/introduction</a:t>
            </a:r>
          </a:p>
          <a:p xmlns:a="http://schemas.openxmlformats.org/drawingml/2006/main">
            <a:r>
              <a:t>- https://huggingface.co/learn/agents-course/unit1/agent-steps-and-structure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endParaRPr/>
          </a:p>
          <a:p xmlns:a="http://schemas.openxmlformats.org/drawingml/2006/main">
            <a:r>
              <a:t>What this slide explains: Chatbots answer, fixed workflows follow predetermined steps, and agents choose the next step from feedback.</a:t>
            </a:r>
          </a:p>
          <a:p xmlns:a="http://schemas.openxmlformats.org/drawingml/2006/main">
            <a:r>
              <a:t/>
            </a:r>
          </a:p>
          <a:p xmlns:a="http://schemas.openxmlformats.org/drawingml/2006/main">
            <a:r>
              <a:t>Speaker notes: Use the same research task to make the distinction concrete. A chatbot answers from its current context. A workflow always performs the same search and summary sequence. An agent evaluates what it found and decides whether to search again, calculate, ask for approval or finish.</a:t>
            </a:r>
            <a:endParaRPr/>
          </a:p>
          <a:p xmlns:a="http://schemas.openxmlformats.org/drawingml/2006/main">
            <a:r>
              <a:t/>
            </a:r>
          </a:p>
          <a:p xmlns:a="http://schemas.openxmlformats.org/drawingml/2006/main">
            <a:r>
              <a:t>Example: If a search returns no evidence, a fixed workflow may continue to summarization while an agent can reformulate the search.</a:t>
            </a:r>
          </a:p>
          <a:p xmlns:a="http://schemas.openxmlformats.org/drawingml/2006/main">
            <a:r>
              <a:t/>
            </a:r>
          </a:p>
          <a:p xmlns:a="http://schemas.openxmlformats.org/drawingml/2006/main">
            <a:r>
              <a:t>Transition: Show where those decisions sit inside the agent controller.</a:t>
            </a:r>
          </a:p>
          <a:p xmlns:a="http://schemas.openxmlformats.org/drawingml/2006/main">
            <a:r>
              <a:t/>
            </a:r>
          </a:p>
          <a:p xmlns:a="http://schemas.openxmlformats.org/drawingml/2006/main">
            <a:r>
              <a:t>Sources:</a:t>
            </a:r>
          </a:p>
          <a:p xmlns:a="http://schemas.openxmlformats.org/drawingml/2006/main">
            <a:r>
              <a:t>- https://huggingface.co/learn/agents-course/en/unit1/introduction</a:t>
            </a:r>
          </a:p>
          <a:p xmlns:a="http://schemas.openxmlformats.org/drawingml/2006/main">
            <a:r>
              <a:t>- https://huggingface.co/learn/agents-course/unit1/agent-steps-and-structure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lvl="0">
              <a:buNone/>
            </a:pPr>
            <a:r>
              <a:rPr b="1"/>
              <a:t>Timing: 1 minute 30 seconds</a:t>
            </a:r>
          </a:p>
          <a:p xmlns:a="http://schemas.openxmlformats.org/drawingml/2006/main">
            <a:pPr lvl="0">
              <a:buNone/>
            </a:pPr>
            <a:r>
              <a:rPr b="1"/>
              <a:t/>
            </a:r>
          </a:p>
          <a:p xmlns:a="http://schemas.openxmlformats.org/drawingml/2006/main">
            <a:pPr lvl="0">
              <a:buNone/>
            </a:pPr>
            <a:r>
              <a:rPr b="1"/>
              <a:t>What this slide explains: The agent controller coordinates context, model decisions, action checks, execution and stopping.</a:t>
            </a:r>
          </a:p>
          <a:p xmlns:a="http://schemas.openxmlformats.org/drawingml/2006/main">
            <a:pPr lvl="0">
              <a:buNone/>
            </a:pPr>
            <a:r>
              <a:rPr b="1"/>
              <a:t/>
            </a:r>
          </a:p>
          <a:p xmlns:a="http://schemas.openxmlformats.org/drawingml/2006/main">
            <a:pPr lvl="0">
              <a:buNone/>
            </a:pPr>
            <a:r>
              <a:rPr b="1"/>
              <a:t>Speaker notes: Walk from left to right. The controller prepares context for the model. The model proposes an action. The controller validates permissions and arguments before execution. The result becomes an observation. A stopping rule then decides whether the task has finished. The controller, rather than the model, enforces safety and budgets.</a:t>
            </a:r>
          </a:p>
          <a:p xmlns:a="http://schemas.openxmlformats.org/drawingml/2006/main">
            <a:pPr lvl="0">
              <a:buNone/>
            </a:pPr>
            <a:r>
              <a:rPr b="1"/>
              <a:t/>
            </a:r>
          </a:p>
          <a:p xmlns:a="http://schemas.openxmlformats.org/drawingml/2006/main">
            <a:r>
              <a:t>Example: The model proposes searching a database. The controller checks that the database tool is allowed, runs the query and returns the records.</a:t>
            </a:r>
          </a:p>
          <a:p xmlns:a="http://schemas.openxmlformats.org/drawingml/2006/main">
            <a:r>
              <a:t/>
            </a:r>
          </a:p>
          <a:p xmlns:a="http://schemas.openxmlformats.org/drawingml/2006/main">
            <a:r>
              <a:t>Transition: Explain that systems can give this loop different degrees of autonomy.</a:t>
            </a:r>
          </a:p>
          <a:p xmlns:a="http://schemas.openxmlformats.org/drawingml/2006/main">
            <a:r>
              <a:t/>
            </a:r>
          </a:p>
          <a:p xmlns:a="http://schemas.openxmlformats.org/drawingml/2006/main">
            <a:r>
              <a:t>Sources:</a:t>
            </a:r>
            <a:endParaRPr/>
          </a:p>
          <a:p xmlns:a="http://schemas.openxmlformats.org/drawingml/2006/main">
            <a:r>
              <a:t>- https://huggingface.co/learn/agents-course/unit1/agent-steps-and-structure</a:t>
            </a:r>
          </a:p>
          <a:p xmlns:a="http://schemas.openxmlformats.org/drawingml/2006/main">
            <a:r>
              <a:t>- https://huggingface.co/learn/agents-course/en/unit1/actions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lvl="0">
              <a:buNone/>
            </a:pPr>
            <a:r>
              <a:rPr b="1"/>
              <a:t>Timing: 1 minute</a:t>
            </a:r>
          </a:p>
          <a:p xmlns:a="http://schemas.openxmlformats.org/drawingml/2006/main">
            <a:pPr lvl="0">
              <a:buNone/>
            </a:pPr>
            <a:r>
              <a:rPr b="1"/>
              <a:t/>
            </a:r>
          </a:p>
          <a:p xmlns:a="http://schemas.openxmlformats.org/drawingml/2006/main">
            <a:pPr lvl="0">
              <a:buNone/>
            </a:pPr>
            <a:r>
              <a:rPr b="1"/>
              <a:t>What this slide explains: Agency exists on a spectrum from one model call to a long-running adaptive system.</a:t>
            </a:r>
          </a:p>
          <a:p xmlns:a="http://schemas.openxmlformats.org/drawingml/2006/main">
            <a:pPr lvl="0">
              <a:buNone/>
            </a:pPr>
            <a:r>
              <a:rPr b="1"/>
              <a:t/>
            </a:r>
          </a:p>
          <a:p xmlns:a="http://schemas.openxmlformats.org/drawingml/2006/main">
            <a:pPr lvl="0">
              <a:buNone/>
            </a:pPr>
            <a:r>
              <a:rPr b="1"/>
              <a:t>Speaker notes: Move from left to right and describe the additional freedom at each stage. A router makes one constrained choice. A tool agent can choose and repeat actions. A long-running agent maintains state across many steps. More autonomy increases the need for testing, permissions, budgets and human oversight.</a:t>
            </a:r>
          </a:p>
          <a:p xmlns:a="http://schemas.openxmlformats.org/drawingml/2006/main">
            <a:r>
              <a:t/>
            </a:r>
          </a:p>
          <a:p xmlns:a="http://schemas.openxmlformats.org/drawingml/2006/main">
            <a:pPr lvl="0">
              <a:buNone/>
            </a:pPr>
            <a:r>
              <a:t>Example: A classification router chooses a document type. A research agent chooses multiple searches and calculations based on intermediate results.</a:t>
            </a:r>
          </a:p>
          <a:p xmlns:a="http://schemas.openxmlformats.org/drawingml/2006/main">
            <a:pPr lvl="0">
              <a:buNone/>
            </a:pPr>
            <a:r>
              <a:t/>
            </a:r>
          </a:p>
          <a:p xmlns:a="http://schemas.openxmlformats.org/drawingml/2006/main">
            <a:pPr lvl="0">
              <a:buNone/>
            </a:pPr>
            <a:r>
              <a:t>Transition: Now simplify all agent designs to their basic decision and feedback cycle.</a:t>
            </a:r>
          </a:p>
          <a:p xmlns:a="http://schemas.openxmlformats.org/drawingml/2006/main">
            <a:pPr lvl="0">
              <a:buNone/>
            </a:pPr>
            <a:r>
              <a:t/>
            </a:r>
          </a:p>
          <a:p xmlns:a="http://schemas.openxmlformats.org/drawingml/2006/main">
            <a:r>
              <a:t>Sources:</a:t>
            </a:r>
          </a:p>
          <a:p xmlns:a="http://schemas.openxmlformats.org/drawingml/2006/main">
            <a:r>
              <a:t>- https://huggingface.co/learn/agents-course/unit2/introduction</a:t>
            </a:r>
            <a:endParaRPr/>
          </a:p>
          <a:p xmlns:a="http://schemas.openxmlformats.org/drawingml/2006/main">
            <a:r>
              <a:t>- https://huggingface.co/learn/agents-course/unit1/agent-steps-and-structure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lvl="0">
              <a:buNone/>
            </a:pPr>
            <a:r>
              <a:rPr b="0"/>
              <a:t>Timing: 1 minute 30 seconds</a:t>
            </a:r>
          </a:p>
          <a:p xmlns:a="http://schemas.openxmlformats.org/drawingml/2006/main">
            <a:pPr lvl="0">
              <a:buNone/>
            </a:pPr>
            <a:r>
              <a:rPr b="0"/>
              <a:t/>
            </a:r>
          </a:p>
          <a:p xmlns:a="http://schemas.openxmlformats.org/drawingml/2006/main">
            <a:pPr lvl="0">
              <a:buNone/>
            </a:pPr>
            <a:r>
              <a:rPr b="0"/>
              <a:t>What this slide explains: Agents alternate between choosing an action and observing real results.</a:t>
            </a:r>
          </a:p>
          <a:p xmlns:a="http://schemas.openxmlformats.org/drawingml/2006/main">
            <a:pPr lvl="0">
              <a:buNone/>
            </a:pPr>
            <a:r>
              <a:rPr b="0"/>
              <a:t/>
            </a:r>
          </a:p>
          <a:p xmlns:a="http://schemas.openxmlformats.org/drawingml/2006/main">
            <a:r>
              <a:rPr b="0"/>
              <a:t>Speaker notes: Thought means the proposed next step, not a claim that the model exposes private internal reasoning. Action means a structured request to a tool. Observation means the actual result, including empty results and errors. The observation returns to the model so it can revise the next step.</a:t>
            </a:r>
          </a:p>
          <a:p xmlns:a="http://schemas.openxmlformats.org/drawingml/2006/main">
            <a:r>
              <a:rPr b="0"/>
              <a:t/>
            </a:r>
          </a:p>
          <a:p xmlns:a="http://schemas.openxmlformats.org/drawingml/2006/main">
            <a:r>
              <a:rPr b="0"/>
              <a:t>Example: Thought: recent evidence is needed. Action: search papers. Observation: five papers were found. Next thought: inspect the two papers that directly address safety.</a:t>
            </a:r>
          </a:p>
          <a:p xmlns:a="http://schemas.openxmlformats.org/drawingml/2006/main">
            <a:r>
              <a:rPr b="0"/>
              <a:t/>
            </a:r>
          </a:p>
          <a:p xmlns:a="http://schemas.openxmlformats.org/drawingml/2006/main">
            <a:r>
              <a:t>Transition: The controller needs state to preserve useful information across repeated cycles.</a:t>
            </a:r>
            <a:endParaRPr/>
          </a:p>
          <a:p xmlns:a="http://schemas.openxmlformats.org/drawingml/2006/main">
            <a:r>
              <a:t/>
            </a:r>
          </a:p>
          <a:p xmlns:a="http://schemas.openxmlformats.org/drawingml/2006/main">
            <a:r>
              <a:t>Sources:</a:t>
            </a:r>
          </a:p>
          <a:p xmlns:a="http://schemas.openxmlformats.org/drawingml/2006/main">
            <a:r>
              <a:t>- https://huggingface.co/learn/agents-course/unit1/agent-steps-and-structure</a:t>
            </a:r>
          </a:p>
          <a:p xmlns:a="http://schemas.openxmlformats.org/drawingml/2006/main">
            <a:r>
              <a:t>- https://huggingface.co/learn/agents-course/en/unit1/actions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pPr lvl="0">
              <a:buNone/>
            </a:pPr>
            <a:r>
              <a:rPr b="1"/>
              <a:t>What this slide explains: Agent state is the working record that carries the task across steps.</a:t>
            </a:r>
          </a:p>
          <a:p xmlns:a="http://schemas.openxmlformats.org/drawingml/2006/main">
            <a:pPr lvl="0">
              <a:buNone/>
            </a:pPr>
            <a:r>
              <a:rPr b="1"/>
              <a:t/>
            </a:r>
          </a:p>
          <a:p xmlns:a="http://schemas.openxmlformats.org/drawingml/2006/main">
            <a:pPr lvl="0">
              <a:buNone/>
            </a:pPr>
            <a:r>
              <a:rPr b="1"/>
              <a:t>Speaker notes: Explain each item briefly. Preserve the original goal so the task does not drift. Keep the current plan, raw tool results, evidence and errors. Record the remaining step, time or cost budget. Raw results support verification, while polished summaries alone can hide missing evidence or tool failures.</a:t>
            </a:r>
          </a:p>
          <a:p xmlns:a="http://schemas.openxmlformats.org/drawingml/2006/main">
            <a:pPr lvl="0">
              <a:buNone/>
            </a:pPr>
            <a:r>
              <a:rPr b="1"/>
              <a:t/>
            </a:r>
          </a:p>
          <a:p xmlns:a="http://schemas.openxmlformats.org/drawingml/2006/main">
            <a:pPr lvl="0">
              <a:buNone/>
            </a:pPr>
            <a:r>
              <a:rPr b="1"/>
              <a:t>Example: The state may contain three paper identifiers, extracted measurements, one failed download and four tool calls remaining.</a:t>
            </a:r>
          </a:p>
          <a:p xmlns:a="http://schemas.openxmlformats.org/drawingml/2006/main">
            <a:pPr lvl="0">
              <a:buNone/>
            </a:pPr>
            <a:r>
              <a:rPr b="1"/>
              <a:t/>
            </a:r>
          </a:p>
          <a:p xmlns:a="http://schemas.openxmlformats.org/drawingml/2006/main">
            <a:r>
              <a:t>Transition: State also supports reliable stopping conditions.</a:t>
            </a:r>
          </a:p>
          <a:p xmlns:a="http://schemas.openxmlformats.org/drawingml/2006/main">
            <a:r>
              <a:t/>
            </a:r>
          </a:p>
          <a:p xmlns:a="http://schemas.openxmlformats.org/drawingml/2006/main">
            <a:r>
              <a:t>Sources:</a:t>
            </a:r>
          </a:p>
          <a:p xmlns:a="http://schemas.openxmlformats.org/drawingml/2006/main">
            <a:r>
              <a:t>- https://huggingface.co/learn/agents-course/unit1/agent-steps-and-structure</a:t>
            </a:r>
            <a:endParaRPr/>
          </a:p>
          <a:p xmlns:a="http://schemas.openxmlformats.org/drawingml/2006/main">
            <a:r>
              <a:t>- https://huggingface.co/docs/smolagents/main/reference/agents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pPr lvl="0">
              <a:buNone/>
            </a:pPr>
            <a:r>
              <a:rPr b="1"/>
              <a:t/>
            </a:r>
          </a:p>
          <a:p xmlns:a="http://schemas.openxmlformats.org/drawingml/2006/main">
            <a:pPr lvl="0">
              <a:buNone/>
            </a:pPr>
            <a:r>
              <a:rPr b="1"/>
              <a:t>What this slide explains: An agent needs both success conditions and protective limits.</a:t>
            </a:r>
          </a:p>
          <a:p xmlns:a="http://schemas.openxmlformats.org/drawingml/2006/main">
            <a:pPr lvl="0">
              <a:buNone/>
            </a:pPr>
            <a:r>
              <a:rPr b="1"/>
              <a:t/>
            </a:r>
          </a:p>
          <a:p xmlns:a="http://schemas.openxmlformats.org/drawingml/2006/main">
            <a:pPr lvl="0">
              <a:buNone/>
            </a:pPr>
            <a:r>
              <a:rPr b="1"/>
              <a:t>Speaker notes: A success condition confirms that the task has a verifiable result. Protective limits stop execution when steps, time or money run out, when actions repeat, or when a human must approve the next action. A step limit prevents endless execution but does not prove that the goal was achieved.</a:t>
            </a:r>
          </a:p>
          <a:p xmlns:a="http://schemas.openxmlformats.org/drawingml/2006/main">
            <a:pPr lvl="0">
              <a:buNone/>
            </a:pPr>
            <a:r>
              <a:rPr b="1"/>
              <a:t/>
            </a:r>
          </a:p>
          <a:p xmlns:a="http://schemas.openxmlformats.org/drawingml/2006/main">
            <a:r>
              <a:t>Example: Stop successfully after finding three independent sources, or stop defensively after ten unsuccessful searches.</a:t>
            </a:r>
          </a:p>
          <a:p xmlns:a="http://schemas.openxmlformats.org/drawingml/2006/main">
            <a:pPr lvl="0">
              <a:buNone/>
            </a:pPr>
            <a:r>
              <a:rPr b="1"/>
              <a:t/>
            </a:r>
          </a:p>
          <a:p xmlns:a="http://schemas.openxmlformats.org/drawingml/2006/main">
            <a:pPr lvl="0">
              <a:buNone/>
            </a:pPr>
            <a:r>
              <a:rPr b="1"/>
              <a:t>Transition: Even with stopping rules, several common failure patterns remain.</a:t>
            </a:r>
          </a:p>
          <a:p xmlns:a="http://schemas.openxmlformats.org/drawingml/2006/main">
            <a:r>
              <a:t/>
            </a:r>
          </a:p>
          <a:p xmlns:a="http://schemas.openxmlformats.org/drawingml/2006/main">
            <a:r>
              <a:t>Sources:</a:t>
            </a:r>
            <a:endParaRPr/>
          </a:p>
          <a:p xmlns:a="http://schemas.openxmlformats.org/drawingml/2006/main">
            <a:r>
              <a:t>- https://huggingface.co/docs/smolagents/main/reference/agents</a:t>
            </a:r>
            <a:endParaRPr b="0"/>
          </a:p>
          <a:p xmlns:a="http://schemas.openxmlformats.org/drawingml/2006/main">
            <a:r>
              <a:t>- https://huggingface.co/learn/agents-course/en/bonus-unit2/what-is-agent-observability-and-evaluation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lvl="0">
              <a:buNone/>
            </a:pPr>
            <a:r>
              <a:rPr b="0"/>
              <a:t>Timing: 1 minute</a:t>
            </a:r>
          </a:p>
          <a:p xmlns:a="http://schemas.openxmlformats.org/drawingml/2006/main">
            <a:pPr lvl="0">
              <a:buNone/>
            </a:pPr>
            <a:r>
              <a:rPr b="0"/>
              <a:t/>
            </a:r>
          </a:p>
          <a:p xmlns:a="http://schemas.openxmlformats.org/drawingml/2006/main">
            <a:pPr lvl="0">
              <a:buNone/>
            </a:pPr>
            <a:r>
              <a:rPr b="0"/>
              <a:t>What this slide explains: Agent failures often occur inside the execution trace even when the final answer looks plausible.</a:t>
            </a:r>
          </a:p>
          <a:p xmlns:a="http://schemas.openxmlformats.org/drawingml/2006/main">
            <a:pPr lvl="0">
              <a:buNone/>
            </a:pPr>
            <a:r>
              <a:rPr b="0"/>
              <a:t/>
            </a:r>
          </a:p>
          <a:p xmlns:a="http://schemas.openxmlformats.org/drawingml/2006/main">
            <a:pPr lvl="0">
              <a:buNone/>
            </a:pPr>
            <a:r>
              <a:rPr b="0"/>
              <a:t>Speaker notes: Define each failure in one sentence. Looping repeats an action without learning. Bad arguments produce invalid tool calls. Error blindness treats a failed tool as a success. Early answering stops before adequate evidence exists. Context overload hides useful information in irrelevant history. Record the full trace to diagnose these failures.</a:t>
            </a:r>
          </a:p>
          <a:p xmlns:a="http://schemas.openxmlformats.org/drawingml/2006/main">
            <a:r>
              <a:rPr b="0"/>
              <a:t/>
            </a:r>
          </a:p>
          <a:p xmlns:a="http://schemas.openxmlformats.org/drawingml/2006/main">
            <a:r>
              <a:rPr b="0"/>
              <a:t>Example: An agent repeats the same empty search, ignores the failure and still writes a confident conclusion.</a:t>
            </a:r>
          </a:p>
          <a:p xmlns:a="http://schemas.openxmlformats.org/drawingml/2006/main">
            <a:r>
              <a:rPr b="0"/>
              <a:t/>
            </a:r>
          </a:p>
          <a:p xmlns:a="http://schemas.openxmlformats.org/drawingml/2006/main">
            <a:pPr lvl="0">
              <a:buNone/>
            </a:pPr>
            <a:r>
              <a:rPr b="0"/>
              <a:t>Transition: Tools create useful capabilities but also create these new failure surfaces.</a:t>
            </a:r>
          </a:p>
          <a:p xmlns:a="http://schemas.openxmlformats.org/drawingml/2006/main">
            <a:pPr lvl="0">
              <a:buNone/>
            </a:pPr>
            <a:r>
              <a:rPr b="0"/>
              <a:t/>
            </a:r>
          </a:p>
          <a:p xmlns:a="http://schemas.openxmlformats.org/drawingml/2006/main">
            <a:pPr lvl="0">
              <a:buNone/>
            </a:pPr>
            <a:r>
              <a:rPr b="0"/>
              <a:t>Sources:</a:t>
            </a:r>
          </a:p>
          <a:p xmlns:a="http://schemas.openxmlformats.org/drawingml/2006/main">
            <a:pPr lvl="0">
              <a:buNone/>
            </a:pPr>
            <a:r>
              <a:rPr b="0"/>
              <a:t>- https://huggingface.co/learn/agents-course/en/unit1/actions</a:t>
            </a:r>
          </a:p>
          <a:p xmlns:a="http://schemas.openxmlformats.org/drawingml/2006/main">
            <a:pPr lvl="0">
              <a:buNone/>
            </a:pPr>
            <a:r>
              <a:rPr b="0"/>
              <a:t>- https://huggingface.co/learn/agents-course/en/bonus-unit2/what-is-agent-observability-and-evaluation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0"/>
              <a:t>Timing: 1 minute</a:t>
            </a:r>
          </a:p>
          <a:p xmlns:a="http://schemas.openxmlformats.org/drawingml/2006/main">
            <a:pPr lvl="0">
              <a:buNone/>
            </a:pPr>
            <a:r>
              <a:rPr b="0"/>
              <a:t/>
            </a:r>
          </a:p>
          <a:p xmlns:a="http://schemas.openxmlformats.org/drawingml/2006/main">
            <a:pPr lvl="0">
              <a:buNone/>
            </a:pPr>
            <a:r>
              <a:rPr b="0"/>
              <a:t>What this slide explains: Tools give agents capabilities that a language model cannot perform reliably by itself.</a:t>
            </a:r>
          </a:p>
          <a:p xmlns:a="http://schemas.openxmlformats.org/drawingml/2006/main">
            <a:pPr lvl="0">
              <a:buNone/>
            </a:pPr>
            <a:r>
              <a:rPr b="0"/>
              <a:t/>
            </a:r>
          </a:p>
          <a:p xmlns:a="http://schemas.openxmlformats.org/drawingml/2006/main">
            <a:pPr lvl="0">
              <a:buNone/>
            </a:pPr>
            <a:r>
              <a:rPr b="0"/>
              <a:t>Speaker notes: Search provides current public information. Retrieval accesses private knowledge. Calculators perform exact computation. APIs act on external systems. File tools read or create artifacts. The model should request a tool instead of pretending it accessed information or performed an external action.</a:t>
            </a:r>
          </a:p>
          <a:p xmlns:a="http://schemas.openxmlformats.org/drawingml/2006/main">
            <a:pPr lvl="0">
              <a:buNone/>
            </a:pPr>
            <a:r>
              <a:rPr b="0"/>
              <a:t/>
            </a:r>
          </a:p>
          <a:p xmlns:a="http://schemas.openxmlformats.org/drawingml/2006/main">
            <a:r>
              <a:rPr b="0"/>
              <a:t>Example: A research agent searches publications, retrieves internal measurements, calculates summary statistics and writes a report.</a:t>
            </a:r>
          </a:p>
          <a:p xmlns:a="http://schemas.openxmlformats.org/drawingml/2006/main">
            <a:r>
              <a:rPr b="0"/>
              <a:t/>
            </a:r>
          </a:p>
          <a:p xmlns:a="http://schemas.openxmlformats.org/drawingml/2006/main">
            <a:r>
              <a:rPr b="0"/>
              <a:t>Transition: The quality of the agent depends heavily on the quality of each tool contract.</a:t>
            </a:r>
          </a:p>
          <a:p xmlns:a="http://schemas.openxmlformats.org/drawingml/2006/main">
            <a:r>
              <a:rPr b="0"/>
              <a:t/>
            </a:r>
          </a:p>
          <a:p xmlns:a="http://schemas.openxmlformats.org/drawingml/2006/main">
            <a:r>
              <a:t>Sources:</a:t>
            </a:r>
            <a:endParaRPr/>
          </a:p>
          <a:p xmlns:a="http://schemas.openxmlformats.org/drawingml/2006/main">
            <a:r>
              <a:t>- https://huggingface.co/learn/agents-course/en/unit1/tools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0"/>
              <a:t>Timing: 1 minute</a:t>
            </a:r>
          </a:p>
          <a:p xmlns:a="http://schemas.openxmlformats.org/drawingml/2006/main">
            <a:pPr lvl="0">
              <a:buNone/>
            </a:pPr>
            <a:r>
              <a:rPr b="0"/>
              <a:t/>
            </a:r>
          </a:p>
          <a:p xmlns:a="http://schemas.openxmlformats.org/drawingml/2006/main">
            <a:pPr lvl="0">
              <a:buNone/>
            </a:pPr>
            <a:r>
              <a:rPr b="0"/>
              <a:t>What this slide explains: A good tool has a clear contract that both the model and controller can understand.</a:t>
            </a:r>
          </a:p>
          <a:p xmlns:a="http://schemas.openxmlformats.org/drawingml/2006/main">
            <a:pPr lvl="0">
              <a:buNone/>
            </a:pPr>
            <a:r>
              <a:rPr b="0"/>
              <a:t/>
            </a:r>
          </a:p>
          <a:p xmlns:a="http://schemas.openxmlformats.org/drawingml/2006/main">
            <a:pPr lvl="0">
              <a:buNone/>
            </a:pPr>
            <a:r>
              <a:rPr b="0"/>
              <a:t>Speaker notes: Explain the search_papers example. The name should reveal the capability. The description should state when to use it. Typed inputs make arguments checkable. A defined output lets the agent interpret results consistently. The contract should also describe empty results, timeouts and other failures.</a:t>
            </a:r>
          </a:p>
          <a:p xmlns:a="http://schemas.openxmlformats.org/drawingml/2006/main">
            <a:pPr lvl="0">
              <a:buNone/>
            </a:pPr>
            <a:r>
              <a:rPr b="0"/>
              <a:t/>
            </a:r>
          </a:p>
          <a:p xmlns:a="http://schemas.openxmlformats.org/drawingml/2006/main">
            <a:r>
              <a:rPr b="0"/>
              <a:t>Example: search_papers(query: string, year_from: integer) returns a list of paper records or a structured error.</a:t>
            </a:r>
          </a:p>
          <a:p xmlns:a="http://schemas.openxmlformats.org/drawingml/2006/main">
            <a:pPr>
              <a:buNone/>
            </a:pPr>
            <a:r>
              <a:rPr sz="1200" b="0"/>
              <a:t/>
            </a:r>
          </a:p>
          <a:p xmlns:a="http://schemas.openxmlformats.org/drawingml/2006/main">
            <a:pPr>
              <a:buNone/>
            </a:pPr>
            <a:r>
              <a:rPr sz="1200" b="0"/>
              <a:t>Transition: Next, follow one tool request through selection, checking and execution.</a:t>
            </a:r>
          </a:p>
          <a:p xmlns:a="http://schemas.openxmlformats.org/drawingml/2006/main">
            <a:pPr>
              <a:buNone/>
            </a:pPr>
            <a:r>
              <a:rPr sz="1200" b="0"/>
              <a:t/>
            </a:r>
          </a:p>
          <a:p xmlns:a="http://schemas.openxmlformats.org/drawingml/2006/main">
            <a:pPr>
              <a:buNone/>
            </a:pPr>
            <a:r>
              <a:rPr sz="1200" b="0"/>
              <a:t>Sources:</a:t>
            </a:r>
          </a:p>
          <a:p xmlns:a="http://schemas.openxmlformats.org/drawingml/2006/main">
            <a:pPr>
              <a:buNone/>
            </a:pPr>
            <a:r>
              <a:rPr sz="1200" b="0"/>
              <a:t>- https://huggingface.co/learn/agents-course/en/unit1/tools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 30 seconds</a:t>
            </a:r>
          </a:p>
          <a:p xmlns:a="http://schemas.openxmlformats.org/drawingml/2006/main">
            <a:r>
              <a:t/>
            </a:r>
            <a:endParaRPr/>
          </a:p>
          <a:p xmlns:a="http://schemas.openxmlformats.org/drawingml/2006/main">
            <a:r>
              <a:t>What this slide explains: The model proposes a tool call, while the controller checks and executes it.</a:t>
            </a:r>
          </a:p>
          <a:p xmlns:a="http://schemas.openxmlformats.org/drawingml/2006/main">
            <a:r>
              <a:t/>
            </a:r>
          </a:p>
          <a:p xmlns:a="http://schemas.openxmlformats.org/drawingml/2006/main">
            <a:r>
              <a:t>Speaker notes: Tool descriptions enter the model context. The model selects a tool and produces structured arguments. The controller validates the tool name, argument types, permissions and budgets. Only then does it execute the tool and return the result. This separation keeps model output from becoming an unchecked external action.</a:t>
            </a:r>
            <a:endParaRPr/>
          </a:p>
          <a:p xmlns:a="http://schemas.openxmlformats.org/drawingml/2006/main">
            <a:r>
              <a:t/>
            </a:r>
          </a:p>
          <a:p xmlns:a="http://schemas.openxmlformats.org/drawingml/2006/main">
            <a:r>
              <a:t>Example: The model requests search_papers with a query and date range. The controller rejects the call if the date is malformed or the tool is not permitted.</a:t>
            </a:r>
          </a:p>
          <a:p xmlns:a="http://schemas.openxmlformats.org/drawingml/2006/main">
            <a:r>
              <a:t/>
            </a:r>
          </a:p>
          <a:p xmlns:a="http://schemas.openxmlformats.org/drawingml/2006/main">
            <a:r>
              <a:t>Transition: Some consequential tool calls also require explicit human approval.</a:t>
            </a:r>
          </a:p>
          <a:p xmlns:a="http://schemas.openxmlformats.org/drawingml/2006/main">
            <a:r>
              <a:t/>
            </a:r>
          </a:p>
          <a:p xmlns:a="http://schemas.openxmlformats.org/drawingml/2006/main">
            <a:r>
              <a:t>Sources:</a:t>
            </a:r>
          </a:p>
          <a:p xmlns:a="http://schemas.openxmlformats.org/drawingml/2006/main">
            <a:r>
              <a:t>- https://huggingface.co/learn/agents-course/en/unit1/tools</a:t>
            </a:r>
          </a:p>
          <a:p xmlns:a="http://schemas.openxmlformats.org/drawingml/2006/main">
            <a:r>
              <a:t>- https://huggingface.co/learn/agents-course/en/unit1/actions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endParaRPr/>
          </a:p>
          <a:p xmlns:a="http://schemas.openxmlformats.org/drawingml/2006/main">
            <a:r>
              <a:t>What this slide explains: Human approval belongs before consequential actions, not after they occur.</a:t>
            </a:r>
          </a:p>
          <a:p xmlns:a="http://schemas.openxmlformats.org/drawingml/2006/main">
            <a:r>
              <a:t/>
            </a:r>
          </a:p>
          <a:p xmlns:a="http://schemas.openxmlformats.org/drawingml/2006/main">
            <a:r>
              <a:t>Speaker notes: The controller evaluates the proposed action against policy. Low-risk actions may run automatically. Actions such as sending a message, purchasing, deleting data or changing access should pause for a person. The approval screen must show the exact action and its consequences.</a:t>
            </a:r>
            <a:endParaRPr/>
          </a:p>
          <a:p xmlns:a="http://schemas.openxmlformats.org/drawingml/2006/main">
            <a:r>
              <a:t/>
            </a:r>
          </a:p>
          <a:p xmlns:a="http://schemas.openxmlformats.org/drawingml/2006/main">
            <a:r>
              <a:t>Example: A research agent may read a dataset automatically but must ask before emailing results outside the organization.</a:t>
            </a:r>
          </a:p>
          <a:p xmlns:a="http://schemas.openxmlformats.org/drawingml/2006/main">
            <a:r>
              <a:t/>
            </a:r>
          </a:p>
          <a:p xmlns:a="http://schemas.openxmlformats.org/drawingml/2006/main">
            <a:r>
              <a:t>Transition: The next design question concerns what information the model sees and remembers.</a:t>
            </a:r>
          </a:p>
          <a:p xmlns:a="http://schemas.openxmlformats.org/drawingml/2006/main">
            <a:r>
              <a:t/>
            </a:r>
          </a:p>
          <a:p xmlns:a="http://schemas.openxmlformats.org/drawingml/2006/main">
            <a:r>
              <a:t>Sources:</a:t>
            </a:r>
          </a:p>
          <a:p xmlns:a="http://schemas.openxmlformats.org/drawingml/2006/main">
            <a:r>
              <a:t>- https://huggingface.co/learn/agents-course/en/unit1/actions</a:t>
            </a:r>
          </a:p>
          <a:p xmlns:a="http://schemas.openxmlformats.org/drawingml/2006/main">
            <a:r>
              <a:t>- https://huggingface.co/docs/smolagents/main/tutorials/secure_code_execution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endParaRPr/>
          </a:p>
          <a:p xmlns:a="http://schemas.openxmlformats.org/drawingml/2006/main">
            <a:r>
              <a:t>What this slide explains: Context, retrieval and memory solve different information problems.</a:t>
            </a:r>
          </a:p>
          <a:p xmlns:a="http://schemas.openxmlformats.org/drawingml/2006/main">
            <a:r>
              <a:t/>
            </a:r>
          </a:p>
          <a:p xmlns:a="http://schemas.openxmlformats.org/drawingml/2006/main">
            <a:r>
              <a:t>Speaker notes: Context is the information visible in the current model call. Retrieval is the method for locating relevant external information. Memory is selected information preserved across steps or sessions. Good systems select useful context rather than continually appending every prior message and tool result.</a:t>
            </a:r>
            <a:endParaRPr/>
          </a:p>
          <a:p xmlns:a="http://schemas.openxmlformats.org/drawingml/2006/main">
            <a:r>
              <a:t/>
            </a:r>
          </a:p>
          <a:p xmlns:a="http://schemas.openxmlformats.org/drawingml/2006/main">
            <a:r>
              <a:t>Example: A retrieval tool finds ten papers, the controller places three relevant passages in context, and memory preserves the chosen paper identifiers for later steps.</a:t>
            </a:r>
          </a:p>
          <a:p xmlns:a="http://schemas.openxmlformats.org/drawingml/2006/main">
            <a:r>
              <a:t/>
            </a:r>
          </a:p>
          <a:p xmlns:a="http://schemas.openxmlformats.org/drawingml/2006/main">
            <a:r>
              <a:t>Transition: This distinction explains how agentic retrieval differs from conventional RAG.</a:t>
            </a:r>
          </a:p>
          <a:p xmlns:a="http://schemas.openxmlformats.org/drawingml/2006/main">
            <a:r>
              <a:t/>
            </a:r>
          </a:p>
          <a:p xmlns:a="http://schemas.openxmlformats.org/drawingml/2006/main">
            <a:r>
              <a:t>Sources:</a:t>
            </a:r>
          </a:p>
          <a:p xmlns:a="http://schemas.openxmlformats.org/drawingml/2006/main">
            <a:r>
              <a:t>- https://huggingface.co/learn/agents-course/unit3/agentic-rag/agentic-rag</a:t>
            </a:r>
          </a:p>
          <a:p xmlns:a="http://schemas.openxmlformats.org/drawingml/2006/main">
            <a:r>
              <a:t>- https://huggingface.co/learn/agents-course/unit1/agent-steps-and-structure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 30 seconds</a:t>
            </a:r>
          </a:p>
          <a:p xmlns:a="http://schemas.openxmlformats.org/drawingml/2006/main">
            <a:r>
              <a:t/>
            </a:r>
            <a:endParaRPr/>
          </a:p>
          <a:p xmlns:a="http://schemas.openxmlformats.org/drawingml/2006/main">
            <a:r>
              <a:t>What this slide explains: Agentic retrieval lets the agent choose the source and decide whether more retrieval is needed.</a:t>
            </a:r>
          </a:p>
          <a:p xmlns:a="http://schemas.openxmlformats.org/drawingml/2006/main">
            <a:r>
              <a:t/>
            </a:r>
          </a:p>
          <a:p xmlns:a="http://schemas.openxmlformats.org/drawingml/2006/main">
            <a:r>
              <a:t>Speaker notes: Contrast this with conventional RAG, where a fixed retrieval step runs before every answer. In agentic retrieval, the model can choose web search, a private knowledge base, a calculator or no retrieval at all. It can inspect the first result and retrieve again. Flexibility improves coverage but creates tool-selection and stopping risks.</a:t>
            </a:r>
            <a:endParaRPr/>
          </a:p>
          <a:p xmlns:a="http://schemas.openxmlformats.org/drawingml/2006/main">
            <a:r>
              <a:t/>
            </a:r>
          </a:p>
          <a:p xmlns:a="http://schemas.openxmlformats.org/drawingml/2006/main">
            <a:r>
              <a:t>Example: The agent checks an internal database first, finds incomplete evidence, searches recent publications and then calculates a comparison.</a:t>
            </a:r>
          </a:p>
          <a:p xmlns:a="http://schemas.openxmlformats.org/drawingml/2006/main">
            <a:r>
              <a:t/>
            </a:r>
          </a:p>
          <a:p xmlns:a="http://schemas.openxmlformats.org/drawingml/2006/main">
            <a:r>
              <a:t>Transition: Apply the full design to one scientific research example.</a:t>
            </a:r>
          </a:p>
          <a:p xmlns:a="http://schemas.openxmlformats.org/drawingml/2006/main">
            <a:r>
              <a:t/>
            </a:r>
          </a:p>
          <a:p xmlns:a="http://schemas.openxmlformats.org/drawingml/2006/main">
            <a:r>
              <a:t>Sources:</a:t>
            </a:r>
          </a:p>
          <a:p xmlns:a="http://schemas.openxmlformats.org/drawingml/2006/main">
            <a:r>
              <a:t>- https://huggingface.co/learn/agents-course/unit3/agentic-rag/agentic-rag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What this slide explains: A research agent coordinates evidence gathering while a domain expert retains the experimental decision.</a:t>
            </a:r>
          </a:p>
          <a:p xmlns:a="http://schemas.openxmlformats.org/drawingml/2006/main">
            <a:r>
              <a:t/>
            </a:r>
          </a:p>
          <a:p xmlns:a="http://schemas.openxmlformats.org/drawingml/2006/main">
            <a:r>
              <a:t>Speaker notes: Walk through the example from question to recommendation. Search recent literature, retrieve internal measurements, run a statistical check, compare evidence and uncertainty, then produce a cited recommendation. The agent can return to an earlier step when evidence is insufficient. The scientist remains responsible for deciding whether laboratory work should proceed.</a:t>
            </a:r>
            <a:endParaRPr/>
          </a:p>
          <a:p xmlns:a="http://schemas.openxmlformats.org/drawingml/2006/main">
            <a:r>
              <a:t/>
            </a:r>
          </a:p>
          <a:p xmlns:a="http://schemas.openxmlformats.org/drawingml/2006/main">
            <a:r>
              <a:t>Example: If published stability results conflict with internal measurements, the agent searches for an independent study and reports the unresolved disagreement.</a:t>
            </a:r>
          </a:p>
          <a:p xmlns:a="http://schemas.openxmlformats.org/drawingml/2006/main">
            <a:r>
              <a:t/>
            </a:r>
          </a:p>
          <a:p xmlns:a="http://schemas.openxmlformats.org/drawingml/2006/main">
            <a:r>
              <a:t>Transition: Now map this conceptual design to the smolagents implementation.</a:t>
            </a:r>
          </a:p>
          <a:p xmlns:a="http://schemas.openxmlformats.org/drawingml/2006/main">
            <a:r>
              <a:t/>
            </a:r>
          </a:p>
          <a:p xmlns:a="http://schemas.openxmlformats.org/drawingml/2006/main">
            <a:r>
              <a:t>Sources:</a:t>
            </a:r>
          </a:p>
          <a:p xmlns:a="http://schemas.openxmlformats.org/drawingml/2006/main">
            <a:r>
              <a:t>- https://huggingface.co/learn/agents-course/unit3/agentic-rag/agentic-rag</a:t>
            </a:r>
          </a:p>
          <a:p xmlns:a="http://schemas.openxmlformats.org/drawingml/2006/main">
            <a:r>
              <a:t>- https://huggingface.co/learn/agents-course/en/unit2/smolagents/introduction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 30 seconds</a:t>
            </a:r>
          </a:p>
          <a:p xmlns:a="http://schemas.openxmlformats.org/drawingml/2006/main">
            <a:r>
              <a:t/>
            </a:r>
            <a:endParaRPr/>
          </a:p>
          <a:p xmlns:a="http://schemas.openxmlformats.org/drawingml/2006/main">
            <a:r>
              <a:t>What this slide explains: smolagents provides a multi-step controller that connects a model, tools, memory and results.</a:t>
            </a:r>
          </a:p>
          <a:p xmlns:a="http://schemas.openxmlformats.org/drawingml/2006/main">
            <a:r>
              <a:t/>
            </a:r>
          </a:p>
          <a:p xmlns:a="http://schemas.openxmlformats.org/drawingml/2006/main">
            <a:r>
              <a:t>Speaker notes: The model proposes actions. The controller executes tools, stores observations in memory and repeats until it obtains a result or reaches a limit. smolagents offers ToolCallingAgent for structured tool calls and CodeAgent for actions expressed as Python. This slide maps the earlier conceptual components to library objects.</a:t>
            </a:r>
            <a:endParaRPr/>
          </a:p>
          <a:p xmlns:a="http://schemas.openxmlformats.org/drawingml/2006/main">
            <a:r>
              <a:t/>
            </a:r>
          </a:p>
          <a:p xmlns:a="http://schemas.openxmlformats.org/drawingml/2006/main">
            <a:r>
              <a:t>Example: A ToolCallingAgent receives a search tool, a model and a maximum number of steps, then manages the loop automatically.</a:t>
            </a:r>
          </a:p>
          <a:p xmlns:a="http://schemas.openxmlformats.org/drawingml/2006/main">
            <a:r>
              <a:t/>
            </a:r>
          </a:p>
          <a:p xmlns:a="http://schemas.openxmlformats.org/drawingml/2006/main">
            <a:r>
              <a:t>Transition: Show the minimum code needed to instantiate that agent.</a:t>
            </a:r>
          </a:p>
          <a:p xmlns:a="http://schemas.openxmlformats.org/drawingml/2006/main">
            <a:r>
              <a:t/>
            </a:r>
          </a:p>
          <a:p xmlns:a="http://schemas.openxmlformats.org/drawingml/2006/main">
            <a:r>
              <a:t>Sources:</a:t>
            </a:r>
          </a:p>
          <a:p xmlns:a="http://schemas.openxmlformats.org/drawingml/2006/main">
            <a:r>
              <a:t>- https://huggingface.co/learn/agents-course/en/unit2/smolagents/introduction</a:t>
            </a:r>
          </a:p>
          <a:p xmlns:a="http://schemas.openxmlformats.org/drawingml/2006/main">
            <a:r>
              <a:t>- https://huggingface.co/docs/smolagents/main/reference/agents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What this slide explains: A minimal tool-calling agent needs a typed tool, a model, an explicit tool list and a step limit.</a:t>
            </a:r>
          </a:p>
          <a:p xmlns:a="http://schemas.openxmlformats.org/drawingml/2006/main">
            <a:r>
              <a:t/>
            </a:r>
          </a:p>
          <a:p xmlns:a="http://schemas.openxmlformats.org/drawingml/2006/main">
            <a:r>
              <a:t>Speaker notes: Read the code in four parts. The decorator publishes the Python function as a typed tool. The agent receives only that tool, which limits its action surface. The model supplies decisions. max_steps prevents unbounded execution. agent.run starts the loop and returns an inspectable result. Explain that production code also needs authentication, retries, logging and evaluation.</a:t>
            </a:r>
            <a:endParaRPr/>
          </a:p>
          <a:p xmlns:a="http://schemas.openxmlformats.org/drawingml/2006/main">
            <a:r>
              <a:t/>
            </a:r>
          </a:p>
          <a:p xmlns:a="http://schemas.openxmlformats.org/drawingml/2006/main">
            <a:r>
              <a:t>Example: Replace the placeholder search function with a real literature index client and validate the returned records before use.</a:t>
            </a:r>
          </a:p>
          <a:p xmlns:a="http://schemas.openxmlformats.org/drawingml/2006/main">
            <a:r>
              <a:t/>
            </a:r>
          </a:p>
          <a:p xmlns:a="http://schemas.openxmlformats.org/drawingml/2006/main">
            <a:r>
              <a:t>Transition: Framework choice should follow the control-flow needs of the application.</a:t>
            </a:r>
          </a:p>
          <a:p xmlns:a="http://schemas.openxmlformats.org/drawingml/2006/main">
            <a:r>
              <a:t/>
            </a:r>
          </a:p>
          <a:p xmlns:a="http://schemas.openxmlformats.org/drawingml/2006/main">
            <a:r>
              <a:t>Sources:</a:t>
            </a:r>
          </a:p>
          <a:p xmlns:a="http://schemas.openxmlformats.org/drawingml/2006/main">
            <a:r>
              <a:t>- https://huggingface.co/learn/agents-course/en/unit1/tools</a:t>
            </a:r>
          </a:p>
          <a:p xmlns:a="http://schemas.openxmlformats.org/drawingml/2006/main">
            <a:r>
              <a:t>- https://huggingface.co/learn/agents-course/en/unit2/smolagents/introduction</a:t>
            </a:r>
          </a:p>
          <a:p xmlns:a="http://schemas.openxmlformats.org/drawingml/2006/main">
            <a:r>
              <a:t>- https://huggingface.co/docs/smolagents/main/reference/agents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endParaRPr/>
          </a:p>
          <a:p xmlns:a="http://schemas.openxmlformats.org/drawingml/2006/main">
            <a:r>
              <a:t>What this slide explains: Frameworks package common control-flow patterns, but they do not replace system design.</a:t>
            </a:r>
          </a:p>
          <a:p xmlns:a="http://schemas.openxmlformats.org/drawingml/2006/main">
            <a:r>
              <a:t/>
            </a:r>
          </a:p>
          <a:p xmlns:a="http://schemas.openxmlformats.org/drawingml/2006/main">
            <a:r>
              <a:t>Speaker notes: Use plain Python for small deterministic workflows. smolagents suits lightweight tool or code agents. LangGraph suits explicit stateful orchestration. LlamaIndex focuses on data-centric applications. Choose after defining the workflow, state, tools and evaluation criteria.</a:t>
            </a:r>
            <a:endParaRPr/>
          </a:p>
          <a:p xmlns:a="http://schemas.openxmlformats.org/drawingml/2006/main">
            <a:r>
              <a:t/>
            </a:r>
          </a:p>
          <a:p xmlns:a="http://schemas.openxmlformats.org/drawingml/2006/main">
            <a:r>
              <a:t>Example: A two-step extraction pipeline may need only Python, while a stateful approval process may benefit from a graph-based framework.</a:t>
            </a:r>
          </a:p>
          <a:p xmlns:a="http://schemas.openxmlformats.org/drawingml/2006/main">
            <a:r>
              <a:t/>
            </a:r>
          </a:p>
          <a:p xmlns:a="http://schemas.openxmlformats.org/drawingml/2006/main">
            <a:r>
              <a:t>Transition: Multiple agents are another architectural choice, not a default requirement.</a:t>
            </a:r>
          </a:p>
          <a:p xmlns:a="http://schemas.openxmlformats.org/drawingml/2006/main">
            <a:r>
              <a:t/>
            </a:r>
          </a:p>
          <a:p xmlns:a="http://schemas.openxmlformats.org/drawingml/2006/main">
            <a:r>
              <a:t>Sources:</a:t>
            </a:r>
          </a:p>
          <a:p xmlns:a="http://schemas.openxmlformats.org/drawingml/2006/main">
            <a:r>
              <a:t>- https://huggingface.co/learn/agents-course/unit2/introduction</a:t>
            </a:r>
          </a:p>
          <a:p xmlns:a="http://schemas.openxmlformats.org/drawingml/2006/main">
            <a:r>
              <a:t>- https://huggingface.co/learn/agents-course/en/unit2/smolagents/introduction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 30 seconds</a:t>
            </a:r>
          </a:p>
          <a:p xmlns:a="http://schemas.openxmlformats.org/drawingml/2006/main">
            <a:r>
              <a:t/>
            </a:r>
            <a:endParaRPr/>
          </a:p>
          <a:p xmlns:a="http://schemas.openxmlformats.org/drawingml/2006/main">
            <a:r>
              <a:t>What this slide explains: A manager agent can delegate bounded tasks to specialists and integrate their results.</a:t>
            </a:r>
          </a:p>
          <a:p xmlns:a="http://schemas.openxmlformats.org/drawingml/2006/main">
            <a:r>
              <a:t/>
            </a:r>
          </a:p>
          <a:p xmlns:a="http://schemas.openxmlformats.org/drawingml/2006/main">
            <a:r>
              <a:t>Speaker notes: Explain each role. The search agent collects sources, the code agent analyses data, and the review agent checks evidence. The manager owns delegation and the final synthesis. Use multiple agents when tools, permissions or context must remain separate, or when independent work can run in parallel. Extra agent names alone do not justify this complexity.</a:t>
            </a:r>
            <a:endParaRPr/>
          </a:p>
          <a:p xmlns:a="http://schemas.openxmlformats.org/drawingml/2006/main">
            <a:r>
              <a:t/>
            </a:r>
          </a:p>
          <a:p xmlns:a="http://schemas.openxmlformats.org/drawingml/2006/main">
            <a:r>
              <a:t>Example: The manager asks a search specialist for sources and a review specialist to challenge the resulting recommendation before synthesis.</a:t>
            </a:r>
          </a:p>
          <a:p xmlns:a="http://schemas.openxmlformats.org/drawingml/2006/main">
            <a:r>
              <a:t/>
            </a:r>
          </a:p>
          <a:p xmlns:a="http://schemas.openxmlformats.org/drawingml/2006/main">
            <a:r>
              <a:t>Transition: Greater orchestration requires stronger security boundaries.</a:t>
            </a:r>
          </a:p>
          <a:p xmlns:a="http://schemas.openxmlformats.org/drawingml/2006/main">
            <a:r>
              <a:t/>
            </a:r>
          </a:p>
          <a:p xmlns:a="http://schemas.openxmlformats.org/drawingml/2006/main">
            <a:r>
              <a:t>Sources:</a:t>
            </a:r>
          </a:p>
          <a:p xmlns:a="http://schemas.openxmlformats.org/drawingml/2006/main">
            <a:r>
              <a:t>- https://huggingface.co/learn/agents-course/unit2/smolagents/multi_agent_systems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What this slide explains: Agents need least privilege, validation, budgets, isolation and approval boundaries.</a:t>
            </a:r>
          </a:p>
          <a:p xmlns:a="http://schemas.openxmlformats.org/drawingml/2006/main">
            <a:r>
              <a:t/>
            </a:r>
          </a:p>
          <a:p xmlns:a="http://schemas.openxmlformats.org/drawingml/2006/main">
            <a:r>
              <a:t>Speaker notes: Least privilege exposes only necessary tools and credentials. Validation checks every argument before execution. Budgets limit steps, time, tokens and money. Isolation restricts code, filesystem and network access. Approval pauses before consequential actions. A local code executor reduces some risk but does not provide complete isolation for untrusted code.</a:t>
            </a:r>
            <a:endParaRPr/>
          </a:p>
          <a:p xmlns:a="http://schemas.openxmlformats.org/drawingml/2006/main">
            <a:r>
              <a:t/>
            </a:r>
          </a:p>
          <a:p xmlns:a="http://schemas.openxmlformats.org/drawingml/2006/main">
            <a:r>
              <a:t>Example: Run generated code in a restricted remote environment with resource limits and no unnecessary credentials.</a:t>
            </a:r>
          </a:p>
          <a:p xmlns:a="http://schemas.openxmlformats.org/drawingml/2006/main">
            <a:r>
              <a:t/>
            </a:r>
          </a:p>
          <a:p xmlns:a="http://schemas.openxmlformats.org/drawingml/2006/main">
            <a:r>
              <a:t>Transition: Controls prevent harm, while observability and evaluation reveal whether the system works.</a:t>
            </a:r>
          </a:p>
          <a:p xmlns:a="http://schemas.openxmlformats.org/drawingml/2006/main">
            <a:r>
              <a:t/>
            </a:r>
          </a:p>
          <a:p xmlns:a="http://schemas.openxmlformats.org/drawingml/2006/main">
            <a:r>
              <a:t>Sources:</a:t>
            </a:r>
          </a:p>
          <a:p xmlns:a="http://schemas.openxmlformats.org/drawingml/2006/main">
            <a:r>
              <a:t>- https://huggingface.co/docs/smolagents/main/tutorials/secure_code_execution</a:t>
            </a:r>
          </a:p>
          <a:p xmlns:a="http://schemas.openxmlformats.org/drawingml/2006/main">
            <a:r>
              <a:t>- https://huggingface.co/learn/agents-course/en/unit1/actions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 30 seconds</a:t>
            </a:r>
          </a:p>
          <a:p xmlns:a="http://schemas.openxmlformats.org/drawingml/2006/main">
            <a:r>
              <a:t/>
            </a:r>
            <a:endParaRPr/>
          </a:p>
          <a:p xmlns:a="http://schemas.openxmlformats.org/drawingml/2006/main">
            <a:r>
              <a:t>What this slide explains: Reliable agents require traces, repeatable evaluations and monitoring of real use.</a:t>
            </a:r>
          </a:p>
          <a:p xmlns:a="http://schemas.openxmlformats.org/drawingml/2006/main">
            <a:r>
              <a:t/>
            </a:r>
          </a:p>
          <a:p xmlns:a="http://schemas.openxmlformats.org/drawingml/2006/main">
            <a:r>
              <a:t>Speaker notes: Trace model calls, tool calls, errors, latency and cost. Evaluate task completion, tool choice, evidence quality and policy compliance on a fixed dataset. Turn observed failures into regression cases. Offline tests catch known problems, while online monitoring finds new failures and changing usage patterns.</a:t>
            </a:r>
            <a:endParaRPr/>
          </a:p>
          <a:p xmlns:a="http://schemas.openxmlformats.org/drawingml/2006/main">
            <a:r>
              <a:t/>
            </a:r>
          </a:p>
          <a:p xmlns:a="http://schemas.openxmlformats.org/drawingml/2006/main">
            <a:r>
              <a:t>Example: A test case checks that the agent cites two valid sources and requests approval before sending a message.</a:t>
            </a:r>
          </a:p>
          <a:p xmlns:a="http://schemas.openxmlformats.org/drawingml/2006/main">
            <a:r>
              <a:t/>
            </a:r>
          </a:p>
          <a:p xmlns:a="http://schemas.openxmlformats.org/drawingml/2006/main">
            <a:r>
              <a:t>Transition: Close with the five questions that should guide every agent design.</a:t>
            </a:r>
          </a:p>
          <a:p xmlns:a="http://schemas.openxmlformats.org/drawingml/2006/main">
            <a:r>
              <a:t/>
            </a:r>
          </a:p>
          <a:p xmlns:a="http://schemas.openxmlformats.org/drawingml/2006/main">
            <a:r>
              <a:t>Sources:</a:t>
            </a:r>
          </a:p>
          <a:p xmlns:a="http://schemas.openxmlformats.org/drawingml/2006/main">
            <a:r>
              <a:t>- https://huggingface.co/learn/agents-course/en/bonus-unit2/what-is-agent-observability-and-evaluation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 30 seconds</a:t>
            </a:r>
          </a:p>
          <a:p xmlns:a="http://schemas.openxmlformats.org/drawingml/2006/main">
            <a:r>
              <a:t/>
            </a:r>
            <a:endParaRPr/>
          </a:p>
          <a:p xmlns:a="http://schemas.openxmlformats.org/drawingml/2006/main">
            <a:r>
              <a:t>What this slide explains: Five questions summarize the design decisions covered in the session.</a:t>
            </a:r>
          </a:p>
          <a:p xmlns:a="http://schemas.openxmlformats.org/drawingml/2006/main">
            <a:r>
              <a:t/>
            </a:r>
          </a:p>
          <a:p xmlns:a="http://schemas.openxmlformats.org/drawingml/2006/main">
            <a:r>
              <a:t>Speaker notes: Use the questions as a final checklist. Define the goal and success condition. Identify which decisions truly require a model. Limit tools and permissions. Anticipate failure modes. Decide how success will be tested before deployment. Invite questions and return to any item that remains unclear.</a:t>
            </a:r>
            <a:endParaRPr/>
          </a:p>
          <a:p xmlns:a="http://schemas.openxmlformats.org/drawingml/2006/main">
            <a:r>
              <a:t/>
            </a:r>
          </a:p>
          <a:p xmlns:a="http://schemas.openxmlformats.org/drawingml/2006/main">
            <a:r>
              <a:t>Example: For a research agent, define the evidence threshold, approved databases, stopping rules, likely retrieval failures and evaluation cases before writing code.</a:t>
            </a:r>
          </a:p>
          <a:p xmlns:a="http://schemas.openxmlformats.org/drawingml/2006/main">
            <a:r>
              <a:t/>
            </a:r>
          </a:p>
          <a:p xmlns:a="http://schemas.openxmlformats.org/drawingml/2006/main">
            <a:r>
              <a:t>Transition: End the session and invite discussion.</a:t>
            </a:r>
          </a:p>
          <a:p xmlns:a="http://schemas.openxmlformats.org/drawingml/2006/main">
            <a:r>
              <a:t/>
            </a:r>
          </a:p>
          <a:p xmlns:a="http://schemas.openxmlformats.org/drawingml/2006/main">
            <a:r>
              <a:t>Sources:</a:t>
            </a:r>
          </a:p>
          <a:p xmlns:a="http://schemas.openxmlformats.org/drawingml/2006/main">
            <a:r>
              <a:t>- https://huggingface.co/learn/agents-course/en/unit1/introduction</a:t>
            </a:r>
          </a:p>
          <a:p xmlns:a="http://schemas.openxmlformats.org/drawingml/2006/main">
            <a:r>
              <a:t>- https://huggingface.co/learn/agents-course/en/unit1/tools</a:t>
            </a:r>
          </a:p>
          <a:p xmlns:a="http://schemas.openxmlformats.org/drawingml/2006/main">
            <a:r>
              <a:t>- https://huggingface.co/docs/smolagents/main/tutorials/secure_code_execution</a:t>
            </a:r>
          </a:p>
          <a:p xmlns:a="http://schemas.openxmlformats.org/drawingml/2006/main">
            <a:r>
              <a:t>- https://huggingface.co/learn/agents-course/en/bonus-unit2/what-is-agent-observability-and-evaluation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7548e91175f4f1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aa34194e633486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6f5cf91c8f24f4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3c6e6efcc6447d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32b69daed434af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a7001a0efb745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AF8B97-1DC1-4BB1-A90D-6C210AD1A3F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Subtitle">
            <a:extLst xmlns:a="http://schemas.openxmlformats.org/drawingml/2006/main">
              <a:ext uri="{FF2B5EF4-FFF2-40B4-BE49-F238E27FC236}">
                <a16:creationId xmlns:a16="http://schemas.microsoft.com/office/drawing/2014/main" id="{352D7D2F-B770-4CEB-8FF3-024D42363E2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3907316-4B6F-4B73-8060-9188AADDBC1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3F9EB5-2B29-4800-8723-66DE4360FA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E6A74B37-AB8C-462C-B721-EDBFA60AD79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D553E2D-B7B5-4F77-A4A2-140D01E4608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77A60AB7-20CD-4923-9D8B-42CB703A3ED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6C92C3F4-D39D-4468-824F-E320BA92EF8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3FB4A0-F902-4875-B166-A14DCF6EDB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EEE5586B-F100-48B7-A4E7-4C0B3FCEF3D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b028d2c2da469a" /><Relationship Type="http://schemas.openxmlformats.org/officeDocument/2006/relationships/slideLayout" Target="/ppt/slideLayouts/slideLayout1.xml" Id="Rb2ca38d0207043ba" /><Relationship Type="http://schemas.openxmlformats.org/officeDocument/2006/relationships/slideLayout" Target="/ppt/slideLayouts/slideLayout2.xml" Id="Ra4213b5ca99d412a" /><Relationship Type="http://schemas.openxmlformats.org/officeDocument/2006/relationships/slideLayout" Target="/ppt/slideLayouts/slideLayout3.xml" Id="R0b0f03aa73cf4c21" /><Relationship Type="http://schemas.openxmlformats.org/officeDocument/2006/relationships/slideLayout" Target="/ppt/slideLayouts/slideLayout4.xml" Id="R3b429f2e67c04005" /><Relationship Type="http://schemas.openxmlformats.org/officeDocument/2006/relationships/slideLayout" Target="/ppt/slideLayouts/slideLayout5.xml" Id="R0e2ae98c4e2f4322" /><Relationship Type="http://schemas.openxmlformats.org/officeDocument/2006/relationships/slideLayout" Target="/ppt/slideLayouts/slideLayout6.xml" Id="Rce6093931cc849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2ca38d0207043ba"/>
    <p:sldLayoutId xmlns:r="http://schemas.openxmlformats.org/officeDocument/2006/relationships" id="2147483650" r:id="Ra4213b5ca99d412a"/>
    <p:sldLayoutId xmlns:r="http://schemas.openxmlformats.org/officeDocument/2006/relationships" id="2147483651" r:id="R0b0f03aa73cf4c21"/>
    <p:sldLayoutId xmlns:r="http://schemas.openxmlformats.org/officeDocument/2006/relationships" id="2147483652" r:id="R3b429f2e67c04005"/>
    <p:sldLayoutId xmlns:r="http://schemas.openxmlformats.org/officeDocument/2006/relationships" id="2147483653" r:id="R0e2ae98c4e2f4322"/>
    <p:sldLayoutId xmlns:r="http://schemas.openxmlformats.org/officeDocument/2006/relationships" id="2147483654" r:id="Rce6093931cc849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768a05a459344b3" /><Relationship Type="http://schemas.openxmlformats.org/officeDocument/2006/relationships/image" Target="/ppt/media/image.png" Id="R7fe159d326194259" /><Relationship Type="http://schemas.openxmlformats.org/officeDocument/2006/relationships/notesSlide" Target="/ppt/notesSlides/notesSlide1.xml" Id="R316933dd2e1948f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03b018319184029" /><Relationship Type="http://schemas.openxmlformats.org/officeDocument/2006/relationships/image" Target="/ppt/media/image.png" Id="Rb3f8cfb1b2e744ea" /><Relationship Type="http://schemas.openxmlformats.org/officeDocument/2006/relationships/notesSlide" Target="/ppt/notesSlides/notesSlide2.xml" Id="R40525d67508046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5f69c1762234438" /><Relationship Type="http://schemas.openxmlformats.org/officeDocument/2006/relationships/image" Target="/ppt/media/image.png" Id="Rbedbc89496784239" /><Relationship Type="http://schemas.openxmlformats.org/officeDocument/2006/relationships/notesSlide" Target="/ppt/notesSlides/notesSlide3.xml" Id="R26f823fb948746f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652c662c8ef48d6" /><Relationship Type="http://schemas.openxmlformats.org/officeDocument/2006/relationships/image" Target="/ppt/media/image.png" Id="R51f5d5651e7041c3" /><Relationship Type="http://schemas.openxmlformats.org/officeDocument/2006/relationships/notesSlide" Target="/ppt/notesSlides/notesSlide4.xml" Id="Rca1fae2712f8430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656b1357c244aef" /><Relationship Type="http://schemas.openxmlformats.org/officeDocument/2006/relationships/image" Target="/ppt/media/image.png" Id="Rada9ae2bbacc4867" /><Relationship Type="http://schemas.openxmlformats.org/officeDocument/2006/relationships/notesSlide" Target="/ppt/notesSlides/notesSlide5.xml" Id="Rd1f7ad4220694c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816543dab684a86" /><Relationship Type="http://schemas.openxmlformats.org/officeDocument/2006/relationships/image" Target="/ppt/media/image.png" Id="Rfea036e1a9ed4967" /><Relationship Type="http://schemas.openxmlformats.org/officeDocument/2006/relationships/notesSlide" Target="/ppt/notesSlides/notesSlide6.xml" Id="Rc0f1edeec0664d6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5455fb4f9c94be9" /><Relationship Type="http://schemas.openxmlformats.org/officeDocument/2006/relationships/image" Target="/ppt/media/image.png" Id="R00cc7de4f4434abf" /><Relationship Type="http://schemas.openxmlformats.org/officeDocument/2006/relationships/notesSlide" Target="/ppt/notesSlides/notesSlide7.xml" Id="Re9ce415bd4bc418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0fc3fd327d244ca" /><Relationship Type="http://schemas.openxmlformats.org/officeDocument/2006/relationships/image" Target="/ppt/media/image.png" Id="R446b68f2b4994e40" /><Relationship Type="http://schemas.openxmlformats.org/officeDocument/2006/relationships/notesSlide" Target="/ppt/notesSlides/notesSlide8.xml" Id="R4d7b72c2b4b549f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bf848a139ec47be" /><Relationship Type="http://schemas.openxmlformats.org/officeDocument/2006/relationships/image" Target="/ppt/media/image.png" Id="R9a6d0a7d06af4f1a" /><Relationship Type="http://schemas.openxmlformats.org/officeDocument/2006/relationships/notesSlide" Target="/ppt/notesSlides/notesSlide9.xml" Id="Rf9d81078f684430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e63f57ff45407b" /><Relationship Type="http://schemas.openxmlformats.org/officeDocument/2006/relationships/image" Target="/ppt/media/image.png" Id="R1c425a24916f4a85" /><Relationship Type="http://schemas.openxmlformats.org/officeDocument/2006/relationships/notesSlide" Target="/ppt/notesSlides/notesSlide10.xml" Id="R0e254623073f48b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b676233c7684146" /><Relationship Type="http://schemas.openxmlformats.org/officeDocument/2006/relationships/image" Target="/ppt/media/image.png" Id="R74162bf780534df4" /><Relationship Type="http://schemas.openxmlformats.org/officeDocument/2006/relationships/notesSlide" Target="/ppt/notesSlides/notesSlide11.xml" Id="Rfed197923efd499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cf06f5070534206" /><Relationship Type="http://schemas.openxmlformats.org/officeDocument/2006/relationships/image" Target="/ppt/media/image.png" Id="R2a76ed541e6d4500" /><Relationship Type="http://schemas.openxmlformats.org/officeDocument/2006/relationships/notesSlide" Target="/ppt/notesSlides/notesSlide12.xml" Id="R3aa00b5335be43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d714959699c4149" /><Relationship Type="http://schemas.openxmlformats.org/officeDocument/2006/relationships/image" Target="/ppt/media/image.png" Id="R2550161e90774ed1" /><Relationship Type="http://schemas.openxmlformats.org/officeDocument/2006/relationships/notesSlide" Target="/ppt/notesSlides/notesSlide13.xml" Id="Rcaaa989423604d9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d105d84fccc42f6" /><Relationship Type="http://schemas.openxmlformats.org/officeDocument/2006/relationships/image" Target="/ppt/media/image.png" Id="Re59647e23db34a75" /><Relationship Type="http://schemas.openxmlformats.org/officeDocument/2006/relationships/notesSlide" Target="/ppt/notesSlides/notesSlide14.xml" Id="R6dedf77ad10f47c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cd55abb188141c3" /><Relationship Type="http://schemas.openxmlformats.org/officeDocument/2006/relationships/image" Target="/ppt/media/image.png" Id="Rb5307f2fa38341a4" /><Relationship Type="http://schemas.openxmlformats.org/officeDocument/2006/relationships/notesSlide" Target="/ppt/notesSlides/notesSlide15.xml" Id="Rbb2a72753f0148f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6842ba06c584ae0" /><Relationship Type="http://schemas.openxmlformats.org/officeDocument/2006/relationships/image" Target="/ppt/media/image.png" Id="Rd9db4cf8cb8a431f" /><Relationship Type="http://schemas.openxmlformats.org/officeDocument/2006/relationships/notesSlide" Target="/ppt/notesSlides/notesSlide16.xml" Id="Rf4468ff50018439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b5f1485662c4084" /><Relationship Type="http://schemas.openxmlformats.org/officeDocument/2006/relationships/image" Target="/ppt/media/image.png" Id="R029cc784894b4281" /><Relationship Type="http://schemas.openxmlformats.org/officeDocument/2006/relationships/notesSlide" Target="/ppt/notesSlides/notesSlide17.xml" Id="Ra59160ef4dff4d5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f1bfb1599cc4d9e" /><Relationship Type="http://schemas.openxmlformats.org/officeDocument/2006/relationships/image" Target="/ppt/media/image.png" Id="Rc90189f18faa41b4" /><Relationship Type="http://schemas.openxmlformats.org/officeDocument/2006/relationships/notesSlide" Target="/ppt/notesSlides/notesSlide18.xml" Id="R33d0f1ba4ad6477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0483de50f1c41b0" /><Relationship Type="http://schemas.openxmlformats.org/officeDocument/2006/relationships/image" Target="/ppt/media/image.png" Id="Rff277ffc38e5447b" /><Relationship Type="http://schemas.openxmlformats.org/officeDocument/2006/relationships/notesSlide" Target="/ppt/notesSlides/notesSlide19.xml" Id="Rc716683215724e8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586d054ffab4ac3" /><Relationship Type="http://schemas.openxmlformats.org/officeDocument/2006/relationships/image" Target="/ppt/media/image.png" Id="R9ba26207f1bf4020" /><Relationship Type="http://schemas.openxmlformats.org/officeDocument/2006/relationships/notesSlide" Target="/ppt/notesSlides/notesSlide20.xml" Id="Ra13ea2bf438e49e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f5db789b6b14dc3" /><Relationship Type="http://schemas.openxmlformats.org/officeDocument/2006/relationships/image" Target="/ppt/media/image.png" Id="Rb740ccaede0a4612" /><Relationship Type="http://schemas.openxmlformats.org/officeDocument/2006/relationships/notesSlide" Target="/ppt/notesSlides/notesSlide21.xml" Id="Rcad334e1a421449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4b8f24dbd4a4f87" /><Relationship Type="http://schemas.openxmlformats.org/officeDocument/2006/relationships/image" Target="/ppt/media/image.png" Id="Rf68f20901a7d4f4e" /><Relationship Type="http://schemas.openxmlformats.org/officeDocument/2006/relationships/notesSlide" Target="/ppt/notesSlides/notesSlide22.xml" Id="R35e9b392ab8449b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0191575c08a42e6" /><Relationship Type="http://schemas.openxmlformats.org/officeDocument/2006/relationships/image" Target="/ppt/media/image.png" Id="R6b87686ae35b4a50" /><Relationship Type="http://schemas.openxmlformats.org/officeDocument/2006/relationships/notesSlide" Target="/ppt/notesSlides/notesSlide23.xml" Id="R2cc84c2b3cd3466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Picture 5">
            <a:extLst xmlns:a="http://schemas.openxmlformats.org/drawingml/2006/main">
              <a:ext uri="{FF2B5EF4-FFF2-40B4-BE49-F238E27FC236}">
                <a16:creationId xmlns:a16="http://schemas.microsoft.com/office/drawing/2014/main" id="{1BA5AB72-3B49-4974-B1E7-D7031BD8DBF1}"/>
              </a:ext>
            </a:extLst>
          </p:cNvPr>
          <p:cNvPicPr>
            <a:picLocks xmlns:a="http://schemas.openxmlformats.org/drawingml/2006/main" noChangeAspect="1"/>
          </p:cNvPicPr>
          <p:nvPr/>
        </p:nvPicPr>
        <p:blipFill>
          <a:blip xmlns:r="http://schemas.openxmlformats.org/officeDocument/2006/relationships" xmlns:a="http://schemas.openxmlformats.org/drawingml/2006/main" r:embed="R7fe159d32619425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018D680F-E17F-438E-92D0-713D4A674054}"/>
              </a:ext>
            </a:extLst>
          </p:cNvPr>
          <p:cNvSpPr>
            <a:spLocks xmlns:a="http://schemas.openxmlformats.org/drawingml/2006/main" noGrp="1"/>
          </p:cNvSpPr>
          <p:nvPr/>
        </p:nvSpPr>
        <p:spPr>
          <a:xfrm xmlns:a="http://schemas.openxmlformats.org/drawingml/2006/main">
            <a:off x="628650" y="152400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050" b="1">
                <a:solidFill>
                  <a:srgbClr val="175CE5"/>
                </a:solidFill>
              </a:defRPr>
            </a:defPPr>
          </a:lstStyle>
          <a:p xmlns:a="http://schemas.openxmlformats.org/drawingml/2006/main">
            <a:pPr algn="l">
              <a:buNone/>
              <a:defRPr sz="1050" b="1">
                <a:solidFill>
                  <a:srgbClr val="175CE5"/>
                </a:solidFill>
              </a:defRPr>
            </a:pPr>
            <a:r>
              <a:rPr sz="1050" b="1">
                <a:solidFill>
                  <a:srgbClr val="175CE5"/>
                </a:solidFill>
              </a:rPr>
              <a:t>30-MINUTE TALK</a:t>
            </a:r>
          </a:p>
        </p:txBody>
      </p:sp>
      <p:sp>
        <p:nvSpPr>
          <p:cNvPr id="3" name="Rectangle 2">
            <a:extLst xmlns:a="http://schemas.openxmlformats.org/drawingml/2006/main">
              <a:ext uri="{FF2B5EF4-FFF2-40B4-BE49-F238E27FC236}">
                <a16:creationId xmlns:a16="http://schemas.microsoft.com/office/drawing/2014/main" id="{6F65D5D3-8C35-439A-8502-EF8B8E57D9D0}"/>
              </a:ext>
            </a:extLst>
          </p:cNvPr>
          <p:cNvSpPr>
            <a:spLocks xmlns:a="http://schemas.openxmlformats.org/drawingml/2006/main" noGrp="1"/>
          </p:cNvSpPr>
          <p:nvPr/>
        </p:nvSpPr>
        <p:spPr>
          <a:xfrm xmlns:a="http://schemas.openxmlformats.org/drawingml/2006/main">
            <a:off x="628650" y="2076450"/>
            <a:ext cx="676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675" b="1">
                <a:solidFill>
                  <a:srgbClr val="203D67"/>
                </a:solidFill>
              </a:defRPr>
            </a:defPPr>
          </a:lstStyle>
          <a:p xmlns:a="http://schemas.openxmlformats.org/drawingml/2006/main">
            <a:pPr algn="l">
              <a:buNone/>
              <a:defRPr sz="3675" b="1">
                <a:solidFill>
                  <a:srgbClr val="203D67"/>
                </a:solidFill>
              </a:defRPr>
            </a:pPr>
            <a:r>
              <a:rPr sz="3675" b="1">
                <a:solidFill>
                  <a:srgbClr val="203D67"/>
                </a:solidFill>
              </a:rPr>
              <a:t>How AI agents work</a:t>
            </a:r>
          </a:p>
        </p:txBody>
      </p:sp>
      <p:sp>
        <p:nvSpPr>
          <p:cNvPr id="4" name="Rectangle 3">
            <a:extLst xmlns:a="http://schemas.openxmlformats.org/drawingml/2006/main">
              <a:ext uri="{FF2B5EF4-FFF2-40B4-BE49-F238E27FC236}">
                <a16:creationId xmlns:a16="http://schemas.microsoft.com/office/drawing/2014/main" id="{E3CCD487-0F7F-4C6D-A6E5-0C18504CC09F}"/>
              </a:ext>
            </a:extLst>
          </p:cNvPr>
          <p:cNvSpPr>
            <a:spLocks xmlns:a="http://schemas.openxmlformats.org/drawingml/2006/main" noGrp="1"/>
          </p:cNvSpPr>
          <p:nvPr/>
        </p:nvSpPr>
        <p:spPr>
          <a:xfrm xmlns:a="http://schemas.openxmlformats.org/drawingml/2006/main">
            <a:off x="647700" y="2933700"/>
            <a:ext cx="619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025" b="0">
                <a:solidFill>
                  <a:srgbClr val="008A91"/>
                </a:solidFill>
              </a:defRPr>
            </a:defPPr>
          </a:lstStyle>
          <a:p xmlns:a="http://schemas.openxmlformats.org/drawingml/2006/main">
            <a:pPr algn="l">
              <a:buNone/>
              <a:defRPr sz="2025" b="0">
                <a:solidFill>
                  <a:srgbClr val="008A91"/>
                </a:solidFill>
              </a:defRPr>
            </a:pPr>
            <a:r>
              <a:rPr sz="2025" b="0">
                <a:solidFill>
                  <a:srgbClr val="008A91"/>
                </a:solidFill>
              </a:rPr>
              <a:t>From tool calls to reliable systems</a:t>
            </a:r>
          </a:p>
        </p:txBody>
      </p:sp>
      <p:sp>
        <p:nvSpPr>
          <p:cNvPr id="5" name="Rectangle 4">
            <a:extLst xmlns:a="http://schemas.openxmlformats.org/drawingml/2006/main">
              <a:ext uri="{FF2B5EF4-FFF2-40B4-BE49-F238E27FC236}">
                <a16:creationId xmlns:a16="http://schemas.microsoft.com/office/drawing/2014/main" id="{5C810FBB-5D6C-4055-AF29-60A1DABFCD64}"/>
              </a:ext>
            </a:extLst>
          </p:cNvPr>
          <p:cNvSpPr>
            <a:spLocks xmlns:a="http://schemas.openxmlformats.org/drawingml/2006/main" noGrp="1"/>
          </p:cNvSpPr>
          <p:nvPr/>
        </p:nvSpPr>
        <p:spPr>
          <a:xfrm xmlns:a="http://schemas.openxmlformats.org/drawingml/2006/main">
            <a:off x="647700" y="3733800"/>
            <a:ext cx="6477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E6C80"/>
                </a:solidFill>
              </a:defRPr>
            </a:defPPr>
          </a:lstStyle>
          <a:p xmlns:a="http://schemas.openxmlformats.org/drawingml/2006/main">
            <a:pPr algn="l">
              <a:buNone/>
              <a:defRPr sz="1500" b="0">
                <a:solidFill>
                  <a:srgbClr val="5E6C80"/>
                </a:solidFill>
              </a:defRPr>
            </a:pPr>
            <a:r>
              <a:rPr sz="1500" b="0">
                <a:solidFill>
                  <a:srgbClr val="5E6C80"/>
                </a:solidFill>
              </a:rPr>
              <a:t>A practical introduction to agent architecture, retrieval, orchestration, safety and evaluation</a:t>
            </a:r>
          </a:p>
        </p:txBody>
      </p:sp>
    </p:spTree>
    <p:extLst>
      <p:ext uri="{BB962C8B-B14F-4D97-AF65-F5344CB8AC3E}">
        <p14:creationId xmlns:p14="http://schemas.microsoft.com/office/powerpoint/2010/main" val="101770974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7" name="Picture 16">
            <a:extLst xmlns:a="http://schemas.openxmlformats.org/drawingml/2006/main">
              <a:ext uri="{FF2B5EF4-FFF2-40B4-BE49-F238E27FC236}">
                <a16:creationId xmlns:a16="http://schemas.microsoft.com/office/drawing/2014/main" id="{0FE74A79-33AE-407C-9BE5-274B0C81A239}"/>
              </a:ext>
            </a:extLst>
          </p:cNvPr>
          <p:cNvPicPr>
            <a:picLocks xmlns:a="http://schemas.openxmlformats.org/drawingml/2006/main" noChangeAspect="1"/>
          </p:cNvPicPr>
          <p:nvPr/>
        </p:nvPicPr>
        <p:blipFill>
          <a:blip xmlns:r="http://schemas.openxmlformats.org/officeDocument/2006/relationships" xmlns:a="http://schemas.openxmlformats.org/drawingml/2006/main" r:embed="Rb3f8cfb1b2e744e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766E9064-191C-423B-B2A2-B430B4BCC936}"/>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What is an AI agent?</a:t>
            </a:r>
          </a:p>
        </p:txBody>
      </p:sp>
      <p:sp>
        <p:nvSpPr>
          <p:cNvPr id="3" name="Rectangle 2">
            <a:extLst xmlns:a="http://schemas.openxmlformats.org/drawingml/2006/main">
              <a:ext uri="{FF2B5EF4-FFF2-40B4-BE49-F238E27FC236}">
                <a16:creationId xmlns:a16="http://schemas.microsoft.com/office/drawing/2014/main" id="{9422880D-03C7-47D8-A7BF-41D2C34621B2}"/>
              </a:ext>
            </a:extLst>
          </p:cNvPr>
          <p:cNvSpPr>
            <a:spLocks xmlns:a="http://schemas.openxmlformats.org/drawingml/2006/main" noGrp="1"/>
          </p:cNvSpPr>
          <p:nvPr/>
        </p:nvSpPr>
        <p:spPr>
          <a:xfrm xmlns:a="http://schemas.openxmlformats.org/drawingml/2006/main">
            <a:off x="819150" y="2428875"/>
            <a:ext cx="8858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175" b="1">
                <a:solidFill>
                  <a:srgbClr val="203D67"/>
                </a:solidFill>
              </a:defRPr>
            </a:defPPr>
          </a:lstStyle>
          <a:p xmlns:a="http://schemas.openxmlformats.org/drawingml/2006/main">
            <a:pPr algn="l">
              <a:buNone/>
              <a:defRPr sz="2175" b="1">
                <a:solidFill>
                  <a:srgbClr val="203D67"/>
                </a:solidFill>
              </a:defRPr>
            </a:pPr>
            <a:r>
              <a:rPr sz="2175" b="1">
                <a:solidFill>
                  <a:srgbClr val="203D67"/>
                </a:solidFill>
              </a:rPr>
              <a:t>An AI agent is a system that uses a model to choose and perform actions in pursuit of a goal.</a:t>
            </a:r>
          </a:p>
        </p:txBody>
      </p:sp>
      <p:sp>
        <p:nvSpPr>
          <p:cNvPr id="4" name="Rounded Rectangle 3">
            <a:extLst xmlns:a="http://schemas.openxmlformats.org/drawingml/2006/main">
              <a:ext uri="{FF2B5EF4-FFF2-40B4-BE49-F238E27FC236}">
                <a16:creationId xmlns:a16="http://schemas.microsoft.com/office/drawing/2014/main" id="{580F1A3F-1400-49F8-84E1-C98750DE3ADB}"/>
              </a:ext>
            </a:extLst>
          </p:cNvPr>
          <p:cNvSpPr>
            <a:spLocks xmlns:a="http://schemas.openxmlformats.org/drawingml/2006/main" noGrp="1"/>
          </p:cNvSpPr>
          <p:nvPr/>
        </p:nvSpPr>
        <p:spPr>
          <a:xfrm xmlns:a="http://schemas.openxmlformats.org/drawingml/2006/main">
            <a:off x="952500" y="3762375"/>
            <a:ext cx="1428750" cy="685800"/>
          </a:xfrm>
          <a:prstGeom xmlns:a="http://schemas.openxmlformats.org/drawingml/2006/main" prst="roundRect">
            <a:avLst>
              <a:gd name="adj" fmla="val 16667"/>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B8BD3099-3181-48D5-8DF4-D6696D364AEE}"/>
              </a:ext>
            </a:extLst>
          </p:cNvPr>
          <p:cNvSpPr>
            <a:spLocks xmlns:a="http://schemas.openxmlformats.org/drawingml/2006/main" noGrp="1"/>
          </p:cNvSpPr>
          <p:nvPr/>
        </p:nvSpPr>
        <p:spPr>
          <a:xfrm xmlns:a="http://schemas.openxmlformats.org/drawingml/2006/main">
            <a:off x="1028700" y="3819525"/>
            <a:ext cx="12763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GOAL</a:t>
            </a:r>
          </a:p>
        </p:txBody>
      </p:sp>
      <p:sp>
        <p:nvSpPr>
          <p:cNvPr id="6" name="Rounded Rectangle 5">
            <a:extLst xmlns:a="http://schemas.openxmlformats.org/drawingml/2006/main">
              <a:ext uri="{FF2B5EF4-FFF2-40B4-BE49-F238E27FC236}">
                <a16:creationId xmlns:a16="http://schemas.microsoft.com/office/drawing/2014/main" id="{F0BD7389-3598-47CD-B1F2-8345B19D8112}"/>
              </a:ext>
            </a:extLst>
          </p:cNvPr>
          <p:cNvSpPr>
            <a:spLocks xmlns:a="http://schemas.openxmlformats.org/drawingml/2006/main" noGrp="1"/>
          </p:cNvSpPr>
          <p:nvPr/>
        </p:nvSpPr>
        <p:spPr>
          <a:xfrm xmlns:a="http://schemas.openxmlformats.org/drawingml/2006/main">
            <a:off x="3048000" y="3762375"/>
            <a:ext cx="1714500" cy="685800"/>
          </a:xfrm>
          <a:prstGeom xmlns:a="http://schemas.openxmlformats.org/drawingml/2006/main" prst="roundRect">
            <a:avLst>
              <a:gd name="adj" fmla="val 16667"/>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D8DFF5EB-253F-4130-BDC2-5C1CE5C0ECFD}"/>
              </a:ext>
            </a:extLst>
          </p:cNvPr>
          <p:cNvSpPr>
            <a:spLocks xmlns:a="http://schemas.openxmlformats.org/drawingml/2006/main" noGrp="1"/>
          </p:cNvSpPr>
          <p:nvPr/>
        </p:nvSpPr>
        <p:spPr>
          <a:xfrm xmlns:a="http://schemas.openxmlformats.org/drawingml/2006/main">
            <a:off x="3124200" y="3819525"/>
            <a:ext cx="156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CHOOSE</a:t>
            </a:r>
          </a:p>
          <a:p xmlns:a="http://schemas.openxmlformats.org/drawingml/2006/main">
            <a:pPr algn="ctr">
              <a:buNone/>
              <a:defRPr sz="1200" b="1">
                <a:solidFill>
                  <a:srgbClr val="203D67"/>
                </a:solidFill>
              </a:defRPr>
            </a:pPr>
            <a:r>
              <a:rPr sz="1200" b="1">
                <a:solidFill>
                  <a:srgbClr val="203D67"/>
                </a:solidFill>
              </a:rPr>
              <a:t>NEXT ACTION</a:t>
            </a:r>
          </a:p>
        </p:txBody>
      </p:sp>
      <p:sp>
        <p:nvSpPr>
          <p:cNvPr id="8" name="Rounded Rectangle 7">
            <a:extLst xmlns:a="http://schemas.openxmlformats.org/drawingml/2006/main">
              <a:ext uri="{FF2B5EF4-FFF2-40B4-BE49-F238E27FC236}">
                <a16:creationId xmlns:a16="http://schemas.microsoft.com/office/drawing/2014/main" id="{20292EA8-9FE8-49E1-AB0C-E50E66367473}"/>
              </a:ext>
            </a:extLst>
          </p:cNvPr>
          <p:cNvSpPr>
            <a:spLocks xmlns:a="http://schemas.openxmlformats.org/drawingml/2006/main" noGrp="1"/>
          </p:cNvSpPr>
          <p:nvPr/>
        </p:nvSpPr>
        <p:spPr>
          <a:xfrm xmlns:a="http://schemas.openxmlformats.org/drawingml/2006/main">
            <a:off x="5429250" y="3762375"/>
            <a:ext cx="1428750" cy="685800"/>
          </a:xfrm>
          <a:prstGeom xmlns:a="http://schemas.openxmlformats.org/drawingml/2006/main" prst="roundRect">
            <a:avLst>
              <a:gd name="adj" fmla="val 16667"/>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8E810B1C-41EF-41F0-992E-A66BD86447F9}"/>
              </a:ext>
            </a:extLst>
          </p:cNvPr>
          <p:cNvSpPr>
            <a:spLocks xmlns:a="http://schemas.openxmlformats.org/drawingml/2006/main" noGrp="1"/>
          </p:cNvSpPr>
          <p:nvPr/>
        </p:nvSpPr>
        <p:spPr>
          <a:xfrm xmlns:a="http://schemas.openxmlformats.org/drawingml/2006/main">
            <a:off x="5505450" y="3819525"/>
            <a:ext cx="12763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ACT</a:t>
            </a:r>
          </a:p>
        </p:txBody>
      </p:sp>
      <p:sp>
        <p:nvSpPr>
          <p:cNvPr id="10" name="Rounded Rectangle 9">
            <a:extLst xmlns:a="http://schemas.openxmlformats.org/drawingml/2006/main">
              <a:ext uri="{FF2B5EF4-FFF2-40B4-BE49-F238E27FC236}">
                <a16:creationId xmlns:a16="http://schemas.microsoft.com/office/drawing/2014/main" id="{86D99F2A-9103-4D72-8C08-AC695B81FC36}"/>
              </a:ext>
            </a:extLst>
          </p:cNvPr>
          <p:cNvSpPr>
            <a:spLocks xmlns:a="http://schemas.openxmlformats.org/drawingml/2006/main" noGrp="1"/>
          </p:cNvSpPr>
          <p:nvPr/>
        </p:nvSpPr>
        <p:spPr>
          <a:xfrm xmlns:a="http://schemas.openxmlformats.org/drawingml/2006/main">
            <a:off x="7524750" y="3762375"/>
            <a:ext cx="1714500" cy="685800"/>
          </a:xfrm>
          <a:prstGeom xmlns:a="http://schemas.openxmlformats.org/drawingml/2006/main" prst="roundRect">
            <a:avLst>
              <a:gd name="adj" fmla="val 16667"/>
            </a:avLst>
          </a:prstGeom>
          <a:solidFill xmlns:a="http://schemas.openxmlformats.org/drawingml/2006/main">
            <a:srgbClr val="FDE8E1"/>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682B2258-BAB3-4FA6-A598-5B1996E20791}"/>
              </a:ext>
            </a:extLst>
          </p:cNvPr>
          <p:cNvSpPr>
            <a:spLocks xmlns:a="http://schemas.openxmlformats.org/drawingml/2006/main" noGrp="1"/>
          </p:cNvSpPr>
          <p:nvPr/>
        </p:nvSpPr>
        <p:spPr>
          <a:xfrm xmlns:a="http://schemas.openxmlformats.org/drawingml/2006/main">
            <a:off x="7600950" y="3819525"/>
            <a:ext cx="156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OBSERVE</a:t>
            </a:r>
          </a:p>
          <a:p xmlns:a="http://schemas.openxmlformats.org/drawingml/2006/main">
            <a:pPr algn="ctr">
              <a:buNone/>
              <a:defRPr sz="1200" b="1">
                <a:solidFill>
                  <a:srgbClr val="203D67"/>
                </a:solidFill>
              </a:defRPr>
            </a:pPr>
            <a:r>
              <a:rPr sz="1200" b="1">
                <a:solidFill>
                  <a:srgbClr val="203D67"/>
                </a:solidFill>
              </a:rPr>
              <a:t>THE RESULT</a:t>
            </a:r>
          </a:p>
        </p:txBody>
      </p:sp>
      <p:cxnSp>
        <p:nvCxnSpPr>
          <p:cNvPr id="12" name="Straight Arrow Connector 11">
            <a:extLst xmlns:a="http://schemas.openxmlformats.org/drawingml/2006/main">
              <a:ext uri="{FF2B5EF4-FFF2-40B4-BE49-F238E27FC236}">
                <a16:creationId xmlns:a16="http://schemas.microsoft.com/office/drawing/2014/main" id="{840BCBE4-6E23-41AD-AC66-BC8B8D1D82C0}"/>
              </a:ext>
            </a:extLst>
          </p:cNvPr>
          <p:cNvCxnSpPr>
            <a:stCxn xmlns:a="http://schemas.openxmlformats.org/drawingml/2006/main" id="4" idx="3"/>
            <a:endCxn xmlns:a="http://schemas.openxmlformats.org/drawingml/2006/main" id="6" idx="1"/>
          </p:cNvCxnSpPr>
          <p:nvPr/>
        </p:nvCxnSpPr>
        <p:spPr>
          <a:xfrm xmlns:a="http://schemas.openxmlformats.org/drawingml/2006/main">
            <a:off x="2381250" y="4105275"/>
            <a:ext cx="66675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3" name="Straight Arrow Connector 12">
            <a:extLst xmlns:a="http://schemas.openxmlformats.org/drawingml/2006/main">
              <a:ext uri="{FF2B5EF4-FFF2-40B4-BE49-F238E27FC236}">
                <a16:creationId xmlns:a16="http://schemas.microsoft.com/office/drawing/2014/main" id="{626E2C04-36A9-4019-8173-38361493CCB6}"/>
              </a:ext>
            </a:extLst>
          </p:cNvPr>
          <p:cNvCxnSpPr>
            <a:stCxn xmlns:a="http://schemas.openxmlformats.org/drawingml/2006/main" id="6" idx="3"/>
            <a:endCxn xmlns:a="http://schemas.openxmlformats.org/drawingml/2006/main" id="8" idx="1"/>
          </p:cNvCxnSpPr>
          <p:nvPr/>
        </p:nvCxnSpPr>
        <p:spPr>
          <a:xfrm xmlns:a="http://schemas.openxmlformats.org/drawingml/2006/main">
            <a:off x="4762500" y="4105275"/>
            <a:ext cx="66675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4" name="Straight Arrow Connector 13">
            <a:extLst xmlns:a="http://schemas.openxmlformats.org/drawingml/2006/main">
              <a:ext uri="{FF2B5EF4-FFF2-40B4-BE49-F238E27FC236}">
                <a16:creationId xmlns:a16="http://schemas.microsoft.com/office/drawing/2014/main" id="{1B4FCC64-FFE4-40BA-83D4-0F8C7F9066BC}"/>
              </a:ext>
            </a:extLst>
          </p:cNvPr>
          <p:cNvCxnSpPr>
            <a:stCxn xmlns:a="http://schemas.openxmlformats.org/drawingml/2006/main" id="8" idx="3"/>
            <a:endCxn xmlns:a="http://schemas.openxmlformats.org/drawingml/2006/main" id="10" idx="1"/>
          </p:cNvCxnSpPr>
          <p:nvPr/>
        </p:nvCxnSpPr>
        <p:spPr>
          <a:xfrm xmlns:a="http://schemas.openxmlformats.org/drawingml/2006/main">
            <a:off x="6858000" y="4105275"/>
            <a:ext cx="66675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5" name="Straight Arrow Connector 14">
            <a:extLst xmlns:a="http://schemas.openxmlformats.org/drawingml/2006/main">
              <a:ext uri="{FF2B5EF4-FFF2-40B4-BE49-F238E27FC236}">
                <a16:creationId xmlns:a16="http://schemas.microsoft.com/office/drawing/2014/main" id="{CE4F8DCA-5664-4346-8E29-8D00FAC8691F}"/>
              </a:ext>
            </a:extLst>
          </p:cNvPr>
          <p:cNvCxnSpPr>
            <a:stCxn xmlns:a="http://schemas.openxmlformats.org/drawingml/2006/main" id="10" idx="2"/>
            <a:endCxn xmlns:a="http://schemas.openxmlformats.org/drawingml/2006/main" id="6" idx="2"/>
          </p:cNvCxnSpPr>
          <p:nvPr/>
        </p:nvCxnSpPr>
        <p:spPr>
          <a:xfrm xmlns:a="http://schemas.openxmlformats.org/drawingml/2006/main" flipH="1">
            <a:off x="3905250" y="4448175"/>
            <a:ext cx="4476750" cy="0"/>
          </a:xfrm>
          <a:prstGeom xmlns:a="http://schemas.openxmlformats.org/drawingml/2006/main" prst="straightConnector1">
            <a:avLst/>
          </a:prstGeom>
          <a:ln xmlns:a="http://schemas.openxmlformats.org/drawingml/2006/main" w="21431">
            <a:solidFill>
              <a:srgbClr val="008A91"/>
            </a:solidFill>
            <a:prstDash val="dash"/>
            <a:tailEnd type="arrow" w="med" len="med"/>
          </a:ln>
        </p:spPr>
      </p:cxnSp>
      <p:sp>
        <p:nvSpPr>
          <p:cNvPr id="16" name="Rectangle 15">
            <a:extLst xmlns:a="http://schemas.openxmlformats.org/drawingml/2006/main">
              <a:ext uri="{FF2B5EF4-FFF2-40B4-BE49-F238E27FC236}">
                <a16:creationId xmlns:a16="http://schemas.microsoft.com/office/drawing/2014/main" id="{15BBA116-64F1-4AE1-8950-526A5F7F2494}"/>
              </a:ext>
            </a:extLst>
          </p:cNvPr>
          <p:cNvSpPr>
            <a:spLocks xmlns:a="http://schemas.openxmlformats.org/drawingml/2006/main" noGrp="1"/>
          </p:cNvSpPr>
          <p:nvPr/>
        </p:nvSpPr>
        <p:spPr>
          <a:xfrm xmlns:a="http://schemas.openxmlformats.org/drawingml/2006/main">
            <a:off x="2524125" y="4953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008A91"/>
                </a:solidFill>
              </a:defRPr>
            </a:defPPr>
          </a:lstStyle>
          <a:p xmlns:a="http://schemas.openxmlformats.org/drawingml/2006/main">
            <a:pPr algn="ctr">
              <a:buNone/>
              <a:defRPr sz="1500" b="1">
                <a:solidFill>
                  <a:srgbClr val="008A91"/>
                </a:solidFill>
              </a:defRPr>
            </a:pPr>
            <a:r>
              <a:rPr sz="1500" b="1">
                <a:solidFill>
                  <a:srgbClr val="008A91"/>
                </a:solidFill>
              </a:rPr>
              <a:t>The agent includes the model, tools, state and control logic</a:t>
            </a:r>
          </a:p>
        </p:txBody>
      </p:sp>
    </p:spTree>
    <p:extLst>
      <p:ext uri="{BB962C8B-B14F-4D97-AF65-F5344CB8AC3E}">
        <p14:creationId xmlns:p14="http://schemas.microsoft.com/office/powerpoint/2010/main" val="3169597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Picture 12">
            <a:extLst xmlns:a="http://schemas.openxmlformats.org/drawingml/2006/main">
              <a:ext uri="{FF2B5EF4-FFF2-40B4-BE49-F238E27FC236}">
                <a16:creationId xmlns:a16="http://schemas.microsoft.com/office/drawing/2014/main" id="{6F4D968C-1FFE-41A9-A483-76D6A30B7675}"/>
              </a:ext>
            </a:extLst>
          </p:cNvPr>
          <p:cNvPicPr>
            <a:picLocks xmlns:a="http://schemas.openxmlformats.org/drawingml/2006/main" noChangeAspect="1"/>
          </p:cNvPicPr>
          <p:nvPr/>
        </p:nvPicPr>
        <p:blipFill>
          <a:blip xmlns:r="http://schemas.openxmlformats.org/officeDocument/2006/relationships" xmlns:a="http://schemas.openxmlformats.org/drawingml/2006/main" r:embed="Rbedbc8949678423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F98AC9AE-1124-4CE0-A513-038B42948399}"/>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Chatbot, workflow and agent</a:t>
            </a:r>
          </a:p>
        </p:txBody>
      </p:sp>
      <p:sp>
        <p:nvSpPr>
          <p:cNvPr id="3" name="Rectangle 2">
            <a:extLst xmlns:a="http://schemas.openxmlformats.org/drawingml/2006/main">
              <a:ext uri="{FF2B5EF4-FFF2-40B4-BE49-F238E27FC236}">
                <a16:creationId xmlns:a16="http://schemas.microsoft.com/office/drawing/2014/main" id="{81850A25-E6BD-4AB9-A417-EE01421AEDF8}"/>
              </a:ext>
            </a:extLst>
          </p:cNvPr>
          <p:cNvSpPr>
            <a:spLocks xmlns:a="http://schemas.openxmlformats.org/drawingml/2006/main" noGrp="1"/>
          </p:cNvSpPr>
          <p:nvPr/>
        </p:nvSpPr>
        <p:spPr>
          <a:xfrm xmlns:a="http://schemas.openxmlformats.org/drawingml/2006/main">
            <a:off x="781050" y="228600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5E6C80"/>
                </a:solidFill>
              </a:defRPr>
            </a:defPPr>
          </a:lstStyle>
          <a:p xmlns:a="http://schemas.openxmlformats.org/drawingml/2006/main">
            <a:pPr algn="l">
              <a:buNone/>
              <a:defRPr sz="1350" b="0">
                <a:solidFill>
                  <a:srgbClr val="5E6C80"/>
                </a:solidFill>
              </a:defRPr>
            </a:pPr>
            <a:r>
              <a:rPr sz="1350" b="0">
                <a:solidFill>
                  <a:srgbClr val="5E6C80"/>
                </a:solidFill>
              </a:rPr>
              <a:t>Same task: find recent evidence and prepare a recommendation</a:t>
            </a:r>
          </a:p>
        </p:txBody>
      </p:sp>
      <p:sp>
        <p:nvSpPr>
          <p:cNvPr id="4" name="Rectangle 3">
            <a:extLst xmlns:a="http://schemas.openxmlformats.org/drawingml/2006/main">
              <a:ext uri="{FF2B5EF4-FFF2-40B4-BE49-F238E27FC236}">
                <a16:creationId xmlns:a16="http://schemas.microsoft.com/office/drawing/2014/main" id="{690CC7F0-ED97-4CD2-A29C-604AB13167EB}"/>
              </a:ext>
            </a:extLst>
          </p:cNvPr>
          <p:cNvSpPr>
            <a:spLocks xmlns:a="http://schemas.openxmlformats.org/drawingml/2006/main" noGrp="1"/>
          </p:cNvSpPr>
          <p:nvPr/>
        </p:nvSpPr>
        <p:spPr>
          <a:xfrm xmlns:a="http://schemas.openxmlformats.org/drawingml/2006/main">
            <a:off x="838200" y="3048000"/>
            <a:ext cx="171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175CE5"/>
                </a:solidFill>
              </a:defRPr>
            </a:defPPr>
          </a:lstStyle>
          <a:p xmlns:a="http://schemas.openxmlformats.org/drawingml/2006/main">
            <a:pPr algn="l">
              <a:buNone/>
              <a:defRPr sz="1350" b="1">
                <a:solidFill>
                  <a:srgbClr val="175CE5"/>
                </a:solidFill>
              </a:defRPr>
            </a:pPr>
            <a:r>
              <a:rPr sz="1350" b="1">
                <a:solidFill>
                  <a:srgbClr val="175CE5"/>
                </a:solidFill>
              </a:rPr>
              <a:t>CHATBOT</a:t>
            </a:r>
          </a:p>
        </p:txBody>
      </p:sp>
      <p:sp>
        <p:nvSpPr>
          <p:cNvPr id="5" name="Rectangle 4">
            <a:extLst xmlns:a="http://schemas.openxmlformats.org/drawingml/2006/main">
              <a:ext uri="{FF2B5EF4-FFF2-40B4-BE49-F238E27FC236}">
                <a16:creationId xmlns:a16="http://schemas.microsoft.com/office/drawing/2014/main" id="{8FF07787-B819-4ECD-BB22-9BB53BD29036}"/>
              </a:ext>
            </a:extLst>
          </p:cNvPr>
          <p:cNvSpPr>
            <a:spLocks xmlns:a="http://schemas.openxmlformats.org/drawingml/2006/main" noGrp="1"/>
          </p:cNvSpPr>
          <p:nvPr/>
        </p:nvSpPr>
        <p:spPr>
          <a:xfrm xmlns:a="http://schemas.openxmlformats.org/drawingml/2006/main">
            <a:off x="2667000" y="30099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223047"/>
                </a:solidFill>
              </a:defRPr>
            </a:defPPr>
          </a:lstStyle>
          <a:p xmlns:a="http://schemas.openxmlformats.org/drawingml/2006/main">
            <a:pPr algn="l">
              <a:buNone/>
              <a:defRPr sz="1425" b="0">
                <a:solidFill>
                  <a:srgbClr val="223047"/>
                </a:solidFill>
              </a:defRPr>
            </a:pPr>
            <a:r>
              <a:rPr sz="1425" b="0">
                <a:solidFill>
                  <a:srgbClr val="223047"/>
                </a:solidFill>
              </a:rPr>
              <a:t>Answers from the information already in its context</a:t>
            </a:r>
          </a:p>
        </p:txBody>
      </p:sp>
      <p:sp>
        <p:nvSpPr>
          <p:cNvPr id="6" name="Rectangle 5">
            <a:extLst xmlns:a="http://schemas.openxmlformats.org/drawingml/2006/main">
              <a:ext uri="{FF2B5EF4-FFF2-40B4-BE49-F238E27FC236}">
                <a16:creationId xmlns:a16="http://schemas.microsoft.com/office/drawing/2014/main" id="{8AA14D33-1368-49F9-B1DB-AB3C32DB8386}"/>
              </a:ext>
            </a:extLst>
          </p:cNvPr>
          <p:cNvSpPr>
            <a:spLocks xmlns:a="http://schemas.openxmlformats.org/drawingml/2006/main" noGrp="1"/>
          </p:cNvSpPr>
          <p:nvPr/>
        </p:nvSpPr>
        <p:spPr>
          <a:xfrm xmlns:a="http://schemas.openxmlformats.org/drawingml/2006/main">
            <a:off x="838200" y="3476625"/>
            <a:ext cx="8191500" cy="19050"/>
          </a:xfrm>
          <a:prstGeom xmlns:a="http://schemas.openxmlformats.org/drawingml/2006/main" prst="rect">
            <a:avLst/>
          </a:prstGeom>
          <a:solidFill xmlns:a="http://schemas.openxmlformats.org/drawingml/2006/main">
            <a:srgbClr val="175CE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E17587C7-719F-4B31-9E4C-61F5F44DAAB3}"/>
              </a:ext>
            </a:extLst>
          </p:cNvPr>
          <p:cNvSpPr>
            <a:spLocks xmlns:a="http://schemas.openxmlformats.org/drawingml/2006/main" noGrp="1"/>
          </p:cNvSpPr>
          <p:nvPr/>
        </p:nvSpPr>
        <p:spPr>
          <a:xfrm xmlns:a="http://schemas.openxmlformats.org/drawingml/2006/main">
            <a:off x="838200" y="3886200"/>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42BCC9"/>
                </a:solidFill>
              </a:defRPr>
            </a:defPPr>
          </a:lstStyle>
          <a:p xmlns:a="http://schemas.openxmlformats.org/drawingml/2006/main">
            <a:pPr algn="l">
              <a:buNone/>
              <a:defRPr sz="1350" b="1">
                <a:solidFill>
                  <a:srgbClr val="42BCC9"/>
                </a:solidFill>
              </a:defRPr>
            </a:pPr>
            <a:r>
              <a:rPr sz="1350" b="1">
                <a:solidFill>
                  <a:srgbClr val="42BCC9"/>
                </a:solidFill>
              </a:rPr>
              <a:t>FIXED WORKFLOW</a:t>
            </a:r>
          </a:p>
        </p:txBody>
      </p:sp>
      <p:sp>
        <p:nvSpPr>
          <p:cNvPr id="8" name="Rectangle 7">
            <a:extLst xmlns:a="http://schemas.openxmlformats.org/drawingml/2006/main">
              <a:ext uri="{FF2B5EF4-FFF2-40B4-BE49-F238E27FC236}">
                <a16:creationId xmlns:a16="http://schemas.microsoft.com/office/drawing/2014/main" id="{7761C346-47E5-4417-8F01-B3D70ED531BD}"/>
              </a:ext>
            </a:extLst>
          </p:cNvPr>
          <p:cNvSpPr>
            <a:spLocks xmlns:a="http://schemas.openxmlformats.org/drawingml/2006/main" noGrp="1"/>
          </p:cNvSpPr>
          <p:nvPr/>
        </p:nvSpPr>
        <p:spPr>
          <a:xfrm xmlns:a="http://schemas.openxmlformats.org/drawingml/2006/main">
            <a:off x="2667000" y="3848100"/>
            <a:ext cx="676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223047"/>
                </a:solidFill>
              </a:defRPr>
            </a:defPPr>
          </a:lstStyle>
          <a:p xmlns:a="http://schemas.openxmlformats.org/drawingml/2006/main">
            <a:pPr algn="l">
              <a:buNone/>
              <a:defRPr sz="1425" b="0">
                <a:solidFill>
                  <a:srgbClr val="223047"/>
                </a:solidFill>
              </a:defRPr>
            </a:pPr>
            <a:r>
              <a:rPr sz="1425" b="0">
                <a:solidFill>
                  <a:srgbClr val="223047"/>
                </a:solidFill>
              </a:rPr>
              <a:t>Runs a predefined sequence of search, extraction and summary steps</a:t>
            </a:r>
          </a:p>
        </p:txBody>
      </p:sp>
      <p:sp>
        <p:nvSpPr>
          <p:cNvPr id="9" name="Rectangle 8">
            <a:extLst xmlns:a="http://schemas.openxmlformats.org/drawingml/2006/main">
              <a:ext uri="{FF2B5EF4-FFF2-40B4-BE49-F238E27FC236}">
                <a16:creationId xmlns:a16="http://schemas.microsoft.com/office/drawing/2014/main" id="{1352A748-E68B-4F21-A02E-E34801AEB780}"/>
              </a:ext>
            </a:extLst>
          </p:cNvPr>
          <p:cNvSpPr>
            <a:spLocks xmlns:a="http://schemas.openxmlformats.org/drawingml/2006/main" noGrp="1"/>
          </p:cNvSpPr>
          <p:nvPr/>
        </p:nvSpPr>
        <p:spPr>
          <a:xfrm xmlns:a="http://schemas.openxmlformats.org/drawingml/2006/main">
            <a:off x="838200" y="4314825"/>
            <a:ext cx="8191500" cy="19050"/>
          </a:xfrm>
          <a:prstGeom xmlns:a="http://schemas.openxmlformats.org/drawingml/2006/main" prst="rect">
            <a:avLst/>
          </a:prstGeom>
          <a:solidFill xmlns:a="http://schemas.openxmlformats.org/drawingml/2006/main">
            <a:srgbClr val="42BCC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42264CC7-8DC9-4863-BE0E-2A68A3B0211E}"/>
              </a:ext>
            </a:extLst>
          </p:cNvPr>
          <p:cNvSpPr>
            <a:spLocks xmlns:a="http://schemas.openxmlformats.org/drawingml/2006/main" noGrp="1"/>
          </p:cNvSpPr>
          <p:nvPr/>
        </p:nvSpPr>
        <p:spPr>
          <a:xfrm xmlns:a="http://schemas.openxmlformats.org/drawingml/2006/main">
            <a:off x="838200" y="4724400"/>
            <a:ext cx="171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F4B900"/>
                </a:solidFill>
              </a:defRPr>
            </a:defPPr>
          </a:lstStyle>
          <a:p xmlns:a="http://schemas.openxmlformats.org/drawingml/2006/main">
            <a:pPr algn="l">
              <a:buNone/>
              <a:defRPr sz="1350" b="1">
                <a:solidFill>
                  <a:srgbClr val="F4B900"/>
                </a:solidFill>
              </a:defRPr>
            </a:pPr>
            <a:r>
              <a:rPr sz="1350" b="1">
                <a:solidFill>
                  <a:srgbClr val="F4B900"/>
                </a:solidFill>
              </a:rPr>
              <a:t>AGENT</a:t>
            </a:r>
          </a:p>
        </p:txBody>
      </p:sp>
      <p:sp>
        <p:nvSpPr>
          <p:cNvPr id="11" name="Rectangle 10">
            <a:extLst xmlns:a="http://schemas.openxmlformats.org/drawingml/2006/main">
              <a:ext uri="{FF2B5EF4-FFF2-40B4-BE49-F238E27FC236}">
                <a16:creationId xmlns:a16="http://schemas.microsoft.com/office/drawing/2014/main" id="{87137B3C-7C29-4F47-B51F-617DA23F4611}"/>
              </a:ext>
            </a:extLst>
          </p:cNvPr>
          <p:cNvSpPr>
            <a:spLocks xmlns:a="http://schemas.openxmlformats.org/drawingml/2006/main" noGrp="1"/>
          </p:cNvSpPr>
          <p:nvPr/>
        </p:nvSpPr>
        <p:spPr>
          <a:xfrm xmlns:a="http://schemas.openxmlformats.org/drawingml/2006/main">
            <a:off x="2667000" y="462915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223047"/>
                </a:solidFill>
              </a:defRPr>
            </a:defPPr>
          </a:lstStyle>
          <a:p xmlns:a="http://schemas.openxmlformats.org/drawingml/2006/main">
            <a:pPr algn="l">
              <a:buNone/>
              <a:defRPr sz="1425" b="0">
                <a:solidFill>
                  <a:srgbClr val="223047"/>
                </a:solidFill>
              </a:defRPr>
            </a:pPr>
            <a:r>
              <a:rPr sz="1425" b="0">
                <a:solidFill>
                  <a:srgbClr val="223047"/>
                </a:solidFill>
              </a:rPr>
              <a:t>Chooses what to search, evaluates the result and decides whether more work is needed</a:t>
            </a:r>
          </a:p>
        </p:txBody>
      </p:sp>
      <p:sp>
        <p:nvSpPr>
          <p:cNvPr id="12" name="Rectangle 11">
            <a:extLst xmlns:a="http://schemas.openxmlformats.org/drawingml/2006/main">
              <a:ext uri="{FF2B5EF4-FFF2-40B4-BE49-F238E27FC236}">
                <a16:creationId xmlns:a16="http://schemas.microsoft.com/office/drawing/2014/main" id="{655651B1-CC59-4679-9EA0-482EFF3A6DFF}"/>
              </a:ext>
            </a:extLst>
          </p:cNvPr>
          <p:cNvSpPr>
            <a:spLocks xmlns:a="http://schemas.openxmlformats.org/drawingml/2006/main" noGrp="1"/>
          </p:cNvSpPr>
          <p:nvPr/>
        </p:nvSpPr>
        <p:spPr>
          <a:xfrm xmlns:a="http://schemas.openxmlformats.org/drawingml/2006/main">
            <a:off x="6762750" y="5381625"/>
            <a:ext cx="381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008A91"/>
                </a:solidFill>
              </a:defRPr>
            </a:defPPr>
          </a:lstStyle>
          <a:p xmlns:a="http://schemas.openxmlformats.org/drawingml/2006/main">
            <a:pPr algn="ctr">
              <a:buNone/>
              <a:defRPr sz="1425" b="1">
                <a:solidFill>
                  <a:srgbClr val="008A91"/>
                </a:solidFill>
              </a:defRPr>
            </a:pPr>
            <a:r>
              <a:rPr sz="1425" b="1">
                <a:solidFill>
                  <a:srgbClr val="008A91"/>
                </a:solidFill>
              </a:rPr>
              <a:t>The difference lies in who chooses the next step</a:t>
            </a:r>
          </a:p>
        </p:txBody>
      </p:sp>
    </p:spTree>
    <p:extLst>
      <p:ext uri="{BB962C8B-B14F-4D97-AF65-F5344CB8AC3E}">
        <p14:creationId xmlns:p14="http://schemas.microsoft.com/office/powerpoint/2010/main" val="20380015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1" name="Picture 20">
            <a:extLst xmlns:a="http://schemas.openxmlformats.org/drawingml/2006/main">
              <a:ext uri="{FF2B5EF4-FFF2-40B4-BE49-F238E27FC236}">
                <a16:creationId xmlns:a16="http://schemas.microsoft.com/office/drawing/2014/main" id="{72684316-DDD6-4237-A854-0027D274ACA8}"/>
              </a:ext>
            </a:extLst>
          </p:cNvPr>
          <p:cNvPicPr>
            <a:picLocks xmlns:a="http://schemas.openxmlformats.org/drawingml/2006/main" noChangeAspect="1"/>
          </p:cNvPicPr>
          <p:nvPr/>
        </p:nvPicPr>
        <p:blipFill>
          <a:blip xmlns:r="http://schemas.openxmlformats.org/officeDocument/2006/relationships" xmlns:a="http://schemas.openxmlformats.org/drawingml/2006/main" r:embed="R51f5d5651e7041c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FFFD6C78-0AFE-4C81-8AFC-484993C33900}"/>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The agent controller</a:t>
            </a:r>
          </a:p>
        </p:txBody>
      </p:sp>
      <p:sp>
        <p:nvSpPr>
          <p:cNvPr id="3" name="Rounded Rectangle 2">
            <a:extLst xmlns:a="http://schemas.openxmlformats.org/drawingml/2006/main">
              <a:ext uri="{FF2B5EF4-FFF2-40B4-BE49-F238E27FC236}">
                <a16:creationId xmlns:a16="http://schemas.microsoft.com/office/drawing/2014/main" id="{1804C7A1-9C39-4E77-8A90-A61569311C78}"/>
              </a:ext>
            </a:extLst>
          </p:cNvPr>
          <p:cNvSpPr>
            <a:spLocks xmlns:a="http://schemas.openxmlformats.org/drawingml/2006/main" noGrp="1"/>
          </p:cNvSpPr>
          <p:nvPr/>
        </p:nvSpPr>
        <p:spPr>
          <a:xfrm xmlns:a="http://schemas.openxmlformats.org/drawingml/2006/main">
            <a:off x="704850" y="3276600"/>
            <a:ext cx="1314450" cy="781050"/>
          </a:xfrm>
          <a:prstGeom xmlns:a="http://schemas.openxmlformats.org/drawingml/2006/main" prst="roundRect">
            <a:avLst>
              <a:gd name="adj" fmla="val 14634"/>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FF4CBF9-6DE3-4E78-859D-8BE5D4CBA517}"/>
              </a:ext>
            </a:extLst>
          </p:cNvPr>
          <p:cNvSpPr>
            <a:spLocks xmlns:a="http://schemas.openxmlformats.org/drawingml/2006/main" noGrp="1"/>
          </p:cNvSpPr>
          <p:nvPr/>
        </p:nvSpPr>
        <p:spPr>
          <a:xfrm xmlns:a="http://schemas.openxmlformats.org/drawingml/2006/main">
            <a:off x="781050" y="3333750"/>
            <a:ext cx="1162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Goal</a:t>
            </a:r>
          </a:p>
        </p:txBody>
      </p:sp>
      <p:sp>
        <p:nvSpPr>
          <p:cNvPr id="5" name="Rounded Rectangle 4">
            <a:extLst xmlns:a="http://schemas.openxmlformats.org/drawingml/2006/main">
              <a:ext uri="{FF2B5EF4-FFF2-40B4-BE49-F238E27FC236}">
                <a16:creationId xmlns:a16="http://schemas.microsoft.com/office/drawing/2014/main" id="{06845BCF-C69F-4276-AAB3-6DA81F01F822}"/>
              </a:ext>
            </a:extLst>
          </p:cNvPr>
          <p:cNvSpPr>
            <a:spLocks xmlns:a="http://schemas.openxmlformats.org/drawingml/2006/main" noGrp="1"/>
          </p:cNvSpPr>
          <p:nvPr/>
        </p:nvSpPr>
        <p:spPr>
          <a:xfrm xmlns:a="http://schemas.openxmlformats.org/drawingml/2006/main">
            <a:off x="2324100" y="3276600"/>
            <a:ext cx="1314450" cy="781050"/>
          </a:xfrm>
          <a:prstGeom xmlns:a="http://schemas.openxmlformats.org/drawingml/2006/main" prst="roundRect">
            <a:avLst>
              <a:gd name="adj" fmla="val 14634"/>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EAABBEBD-96E1-4910-A42A-3F194F4D1E10}"/>
              </a:ext>
            </a:extLst>
          </p:cNvPr>
          <p:cNvSpPr>
            <a:spLocks xmlns:a="http://schemas.openxmlformats.org/drawingml/2006/main" noGrp="1"/>
          </p:cNvSpPr>
          <p:nvPr/>
        </p:nvSpPr>
        <p:spPr>
          <a:xfrm xmlns:a="http://schemas.openxmlformats.org/drawingml/2006/main">
            <a:off x="2400300" y="3333750"/>
            <a:ext cx="1162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Context</a:t>
            </a:r>
          </a:p>
        </p:txBody>
      </p:sp>
      <p:sp>
        <p:nvSpPr>
          <p:cNvPr id="7" name="Rounded Rectangle 6">
            <a:extLst xmlns:a="http://schemas.openxmlformats.org/drawingml/2006/main">
              <a:ext uri="{FF2B5EF4-FFF2-40B4-BE49-F238E27FC236}">
                <a16:creationId xmlns:a16="http://schemas.microsoft.com/office/drawing/2014/main" id="{AADAE73D-CA8A-49CB-AA8B-A5C2AEBFDB25}"/>
              </a:ext>
            </a:extLst>
          </p:cNvPr>
          <p:cNvSpPr>
            <a:spLocks xmlns:a="http://schemas.openxmlformats.org/drawingml/2006/main" noGrp="1"/>
          </p:cNvSpPr>
          <p:nvPr/>
        </p:nvSpPr>
        <p:spPr>
          <a:xfrm xmlns:a="http://schemas.openxmlformats.org/drawingml/2006/main">
            <a:off x="4038600" y="3276600"/>
            <a:ext cx="1314450" cy="781050"/>
          </a:xfrm>
          <a:prstGeom xmlns:a="http://schemas.openxmlformats.org/drawingml/2006/main" prst="roundRect">
            <a:avLst>
              <a:gd name="adj" fmla="val 14634"/>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646FB88E-634F-4168-A027-9CF87F100BF8}"/>
              </a:ext>
            </a:extLst>
          </p:cNvPr>
          <p:cNvSpPr>
            <a:spLocks xmlns:a="http://schemas.openxmlformats.org/drawingml/2006/main" noGrp="1"/>
          </p:cNvSpPr>
          <p:nvPr/>
        </p:nvSpPr>
        <p:spPr>
          <a:xfrm xmlns:a="http://schemas.openxmlformats.org/drawingml/2006/main">
            <a:off x="4114800" y="3333750"/>
            <a:ext cx="1162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Decision</a:t>
            </a:r>
          </a:p>
        </p:txBody>
      </p:sp>
      <p:sp>
        <p:nvSpPr>
          <p:cNvPr id="9" name="Rounded Rectangle 8">
            <a:extLst xmlns:a="http://schemas.openxmlformats.org/drawingml/2006/main">
              <a:ext uri="{FF2B5EF4-FFF2-40B4-BE49-F238E27FC236}">
                <a16:creationId xmlns:a16="http://schemas.microsoft.com/office/drawing/2014/main" id="{3C8FEB06-103A-4068-97BB-8E2DC926A80C}"/>
              </a:ext>
            </a:extLst>
          </p:cNvPr>
          <p:cNvSpPr>
            <a:spLocks xmlns:a="http://schemas.openxmlformats.org/drawingml/2006/main" noGrp="1"/>
          </p:cNvSpPr>
          <p:nvPr/>
        </p:nvSpPr>
        <p:spPr>
          <a:xfrm xmlns:a="http://schemas.openxmlformats.org/drawingml/2006/main">
            <a:off x="5753100" y="3276600"/>
            <a:ext cx="1314450" cy="781050"/>
          </a:xfrm>
          <a:prstGeom xmlns:a="http://schemas.openxmlformats.org/drawingml/2006/main" prst="roundRect">
            <a:avLst>
              <a:gd name="adj" fmla="val 14634"/>
            </a:avLst>
          </a:prstGeom>
          <a:solidFill xmlns:a="http://schemas.openxmlformats.org/drawingml/2006/main">
            <a:srgbClr val="FDE8E1"/>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CBF9836-636E-4842-BFEB-2054D141B36D}"/>
              </a:ext>
            </a:extLst>
          </p:cNvPr>
          <p:cNvSpPr>
            <a:spLocks xmlns:a="http://schemas.openxmlformats.org/drawingml/2006/main" noGrp="1"/>
          </p:cNvSpPr>
          <p:nvPr/>
        </p:nvSpPr>
        <p:spPr>
          <a:xfrm xmlns:a="http://schemas.openxmlformats.org/drawingml/2006/main">
            <a:off x="5829300" y="3333750"/>
            <a:ext cx="1162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Validated</a:t>
            </a:r>
          </a:p>
          <a:p xmlns:a="http://schemas.openxmlformats.org/drawingml/2006/main">
            <a:pPr algn="ctr">
              <a:buNone/>
              <a:defRPr sz="1200" b="1">
                <a:solidFill>
                  <a:srgbClr val="203D67"/>
                </a:solidFill>
              </a:defRPr>
            </a:pPr>
            <a:r>
              <a:rPr sz="1200" b="1">
                <a:solidFill>
                  <a:srgbClr val="203D67"/>
                </a:solidFill>
              </a:rPr>
              <a:t>action</a:t>
            </a:r>
          </a:p>
        </p:txBody>
      </p:sp>
      <p:sp>
        <p:nvSpPr>
          <p:cNvPr id="11" name="Rounded Rectangle 10">
            <a:extLst xmlns:a="http://schemas.openxmlformats.org/drawingml/2006/main">
              <a:ext uri="{FF2B5EF4-FFF2-40B4-BE49-F238E27FC236}">
                <a16:creationId xmlns:a16="http://schemas.microsoft.com/office/drawing/2014/main" id="{C9DBC8A4-8319-4915-995D-8D5CAFCB302B}"/>
              </a:ext>
            </a:extLst>
          </p:cNvPr>
          <p:cNvSpPr>
            <a:spLocks xmlns:a="http://schemas.openxmlformats.org/drawingml/2006/main" noGrp="1"/>
          </p:cNvSpPr>
          <p:nvPr/>
        </p:nvSpPr>
        <p:spPr>
          <a:xfrm xmlns:a="http://schemas.openxmlformats.org/drawingml/2006/main">
            <a:off x="7658100" y="3276600"/>
            <a:ext cx="1314450" cy="781050"/>
          </a:xfrm>
          <a:prstGeom xmlns:a="http://schemas.openxmlformats.org/drawingml/2006/main" prst="roundRect">
            <a:avLst>
              <a:gd name="adj" fmla="val 14634"/>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E9FDC5EF-8DD2-43EE-9824-AE0920709A9C}"/>
              </a:ext>
            </a:extLst>
          </p:cNvPr>
          <p:cNvSpPr>
            <a:spLocks xmlns:a="http://schemas.openxmlformats.org/drawingml/2006/main" noGrp="1"/>
          </p:cNvSpPr>
          <p:nvPr/>
        </p:nvSpPr>
        <p:spPr>
          <a:xfrm xmlns:a="http://schemas.openxmlformats.org/drawingml/2006/main">
            <a:off x="7734300" y="3333750"/>
            <a:ext cx="1162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Observation</a:t>
            </a:r>
          </a:p>
        </p:txBody>
      </p:sp>
      <p:sp>
        <p:nvSpPr>
          <p:cNvPr id="13" name="Rounded Rectangle 12">
            <a:extLst xmlns:a="http://schemas.openxmlformats.org/drawingml/2006/main">
              <a:ext uri="{FF2B5EF4-FFF2-40B4-BE49-F238E27FC236}">
                <a16:creationId xmlns:a16="http://schemas.microsoft.com/office/drawing/2014/main" id="{4967E1FD-6F66-4B16-8CC3-2DED7ABBF39E}"/>
              </a:ext>
            </a:extLst>
          </p:cNvPr>
          <p:cNvSpPr>
            <a:spLocks xmlns:a="http://schemas.openxmlformats.org/drawingml/2006/main" noGrp="1"/>
          </p:cNvSpPr>
          <p:nvPr/>
        </p:nvSpPr>
        <p:spPr>
          <a:xfrm xmlns:a="http://schemas.openxmlformats.org/drawingml/2006/main">
            <a:off x="9467850" y="3276600"/>
            <a:ext cx="1314450" cy="781050"/>
          </a:xfrm>
          <a:prstGeom xmlns:a="http://schemas.openxmlformats.org/drawingml/2006/main" prst="roundRect">
            <a:avLst>
              <a:gd name="adj" fmla="val 14634"/>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AD943BBB-EEE2-4177-B785-527AAC801208}"/>
              </a:ext>
            </a:extLst>
          </p:cNvPr>
          <p:cNvSpPr>
            <a:spLocks xmlns:a="http://schemas.openxmlformats.org/drawingml/2006/main" noGrp="1"/>
          </p:cNvSpPr>
          <p:nvPr/>
        </p:nvSpPr>
        <p:spPr>
          <a:xfrm xmlns:a="http://schemas.openxmlformats.org/drawingml/2006/main">
            <a:off x="9544050" y="3333750"/>
            <a:ext cx="1162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Finish or</a:t>
            </a:r>
          </a:p>
          <a:p xmlns:a="http://schemas.openxmlformats.org/drawingml/2006/main">
            <a:pPr algn="ctr">
              <a:buNone/>
              <a:defRPr sz="1200" b="1">
                <a:solidFill>
                  <a:srgbClr val="203D67"/>
                </a:solidFill>
              </a:defRPr>
            </a:pPr>
            <a:r>
              <a:rPr sz="1200" b="1">
                <a:solidFill>
                  <a:srgbClr val="203D67"/>
                </a:solidFill>
              </a:rPr>
              <a:t>continue</a:t>
            </a:r>
          </a:p>
        </p:txBody>
      </p:sp>
      <p:cxnSp>
        <p:nvCxnSpPr>
          <p:cNvPr id="15" name="Straight Arrow Connector 14">
            <a:extLst xmlns:a="http://schemas.openxmlformats.org/drawingml/2006/main">
              <a:ext uri="{FF2B5EF4-FFF2-40B4-BE49-F238E27FC236}">
                <a16:creationId xmlns:a16="http://schemas.microsoft.com/office/drawing/2014/main" id="{E9073B60-2C6D-4694-8CC6-41A17334CBA7}"/>
              </a:ext>
            </a:extLst>
          </p:cNvPr>
          <p:cNvCxnSpPr>
            <a:stCxn xmlns:a="http://schemas.openxmlformats.org/drawingml/2006/main" id="3" idx="3"/>
            <a:endCxn xmlns:a="http://schemas.openxmlformats.org/drawingml/2006/main" id="5" idx="1"/>
          </p:cNvCxnSpPr>
          <p:nvPr/>
        </p:nvCxnSpPr>
        <p:spPr>
          <a:xfrm xmlns:a="http://schemas.openxmlformats.org/drawingml/2006/main">
            <a:off x="2019300" y="3667125"/>
            <a:ext cx="3048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6" name="Straight Arrow Connector 15">
            <a:extLst xmlns:a="http://schemas.openxmlformats.org/drawingml/2006/main">
              <a:ext uri="{FF2B5EF4-FFF2-40B4-BE49-F238E27FC236}">
                <a16:creationId xmlns:a16="http://schemas.microsoft.com/office/drawing/2014/main" id="{F13CC765-F02F-4BFA-B21A-F7D31917C988}"/>
              </a:ext>
            </a:extLst>
          </p:cNvPr>
          <p:cNvCxnSpPr>
            <a:stCxn xmlns:a="http://schemas.openxmlformats.org/drawingml/2006/main" id="5" idx="3"/>
            <a:endCxn xmlns:a="http://schemas.openxmlformats.org/drawingml/2006/main" id="7" idx="1"/>
          </p:cNvCxnSpPr>
          <p:nvPr/>
        </p:nvCxnSpPr>
        <p:spPr>
          <a:xfrm xmlns:a="http://schemas.openxmlformats.org/drawingml/2006/main">
            <a:off x="3638550" y="3667125"/>
            <a:ext cx="40005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7" name="Straight Arrow Connector 16">
            <a:extLst xmlns:a="http://schemas.openxmlformats.org/drawingml/2006/main">
              <a:ext uri="{FF2B5EF4-FFF2-40B4-BE49-F238E27FC236}">
                <a16:creationId xmlns:a16="http://schemas.microsoft.com/office/drawing/2014/main" id="{0F447DEE-FC50-4423-9955-F7185CAB64A7}"/>
              </a:ext>
            </a:extLst>
          </p:cNvPr>
          <p:cNvCxnSpPr>
            <a:stCxn xmlns:a="http://schemas.openxmlformats.org/drawingml/2006/main" id="7" idx="3"/>
            <a:endCxn xmlns:a="http://schemas.openxmlformats.org/drawingml/2006/main" id="9" idx="1"/>
          </p:cNvCxnSpPr>
          <p:nvPr/>
        </p:nvCxnSpPr>
        <p:spPr>
          <a:xfrm xmlns:a="http://schemas.openxmlformats.org/drawingml/2006/main">
            <a:off x="5353050" y="3667125"/>
            <a:ext cx="40005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8" name="Straight Arrow Connector 17">
            <a:extLst xmlns:a="http://schemas.openxmlformats.org/drawingml/2006/main">
              <a:ext uri="{FF2B5EF4-FFF2-40B4-BE49-F238E27FC236}">
                <a16:creationId xmlns:a16="http://schemas.microsoft.com/office/drawing/2014/main" id="{1FD74749-BF9D-4D64-8581-83DE1805944B}"/>
              </a:ext>
            </a:extLst>
          </p:cNvPr>
          <p:cNvCxnSpPr>
            <a:stCxn xmlns:a="http://schemas.openxmlformats.org/drawingml/2006/main" id="9" idx="3"/>
            <a:endCxn xmlns:a="http://schemas.openxmlformats.org/drawingml/2006/main" id="11" idx="1"/>
          </p:cNvCxnSpPr>
          <p:nvPr/>
        </p:nvCxnSpPr>
        <p:spPr>
          <a:xfrm xmlns:a="http://schemas.openxmlformats.org/drawingml/2006/main">
            <a:off x="7067550" y="3667125"/>
            <a:ext cx="59055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9" name="Straight Arrow Connector 18">
            <a:extLst xmlns:a="http://schemas.openxmlformats.org/drawingml/2006/main">
              <a:ext uri="{FF2B5EF4-FFF2-40B4-BE49-F238E27FC236}">
                <a16:creationId xmlns:a16="http://schemas.microsoft.com/office/drawing/2014/main" id="{3E6262AD-6867-401E-B0BD-E261F94377A5}"/>
              </a:ext>
            </a:extLst>
          </p:cNvPr>
          <p:cNvCxnSpPr>
            <a:stCxn xmlns:a="http://schemas.openxmlformats.org/drawingml/2006/main" id="11" idx="3"/>
            <a:endCxn xmlns:a="http://schemas.openxmlformats.org/drawingml/2006/main" id="13" idx="1"/>
          </p:cNvCxnSpPr>
          <p:nvPr/>
        </p:nvCxnSpPr>
        <p:spPr>
          <a:xfrm xmlns:a="http://schemas.openxmlformats.org/drawingml/2006/main">
            <a:off x="8972550" y="3667125"/>
            <a:ext cx="4953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sp>
        <p:nvSpPr>
          <p:cNvPr id="20" name="Rectangle 19">
            <a:extLst xmlns:a="http://schemas.openxmlformats.org/drawingml/2006/main">
              <a:ext uri="{FF2B5EF4-FFF2-40B4-BE49-F238E27FC236}">
                <a16:creationId xmlns:a16="http://schemas.microsoft.com/office/drawing/2014/main" id="{81C91387-E370-4545-ACAD-C7A143D2FB83}"/>
              </a:ext>
            </a:extLst>
          </p:cNvPr>
          <p:cNvSpPr>
            <a:spLocks xmlns:a="http://schemas.openxmlformats.org/drawingml/2006/main" noGrp="1"/>
          </p:cNvSpPr>
          <p:nvPr/>
        </p:nvSpPr>
        <p:spPr>
          <a:xfrm xmlns:a="http://schemas.openxmlformats.org/drawingml/2006/main">
            <a:off x="2190750" y="4667250"/>
            <a:ext cx="714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008A91"/>
                </a:solidFill>
              </a:defRPr>
            </a:defPPr>
          </a:lstStyle>
          <a:p xmlns:a="http://schemas.openxmlformats.org/drawingml/2006/main">
            <a:pPr algn="ctr">
              <a:buNone/>
              <a:defRPr sz="1500" b="1">
                <a:solidFill>
                  <a:srgbClr val="008A91"/>
                </a:solidFill>
              </a:defRPr>
            </a:pPr>
            <a:r>
              <a:rPr sz="1500" b="1">
                <a:solidFill>
                  <a:srgbClr val="008A91"/>
                </a:solidFill>
              </a:rPr>
              <a:t>The controller repeats the middle steps until a stopping condition is met</a:t>
            </a:r>
          </a:p>
        </p:txBody>
      </p:sp>
    </p:spTree>
    <p:extLst>
      <p:ext uri="{BB962C8B-B14F-4D97-AF65-F5344CB8AC3E}">
        <p14:creationId xmlns:p14="http://schemas.microsoft.com/office/powerpoint/2010/main" val="1049590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Picture 14">
            <a:extLst xmlns:a="http://schemas.openxmlformats.org/drawingml/2006/main">
              <a:ext uri="{FF2B5EF4-FFF2-40B4-BE49-F238E27FC236}">
                <a16:creationId xmlns:a16="http://schemas.microsoft.com/office/drawing/2014/main" id="{2485E807-92FC-4874-9FCC-C20C3B285BC9}"/>
              </a:ext>
            </a:extLst>
          </p:cNvPr>
          <p:cNvPicPr>
            <a:picLocks xmlns:a="http://schemas.openxmlformats.org/drawingml/2006/main" noChangeAspect="1"/>
          </p:cNvPicPr>
          <p:nvPr/>
        </p:nvPicPr>
        <p:blipFill>
          <a:blip xmlns:r="http://schemas.openxmlformats.org/officeDocument/2006/relationships" xmlns:a="http://schemas.openxmlformats.org/drawingml/2006/main" r:embed="Rada9ae2bbacc486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BCFA84C4-8C1E-470D-A42E-00AB496FCC83}"/>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Agency as a spectrum</a:t>
            </a:r>
          </a:p>
        </p:txBody>
      </p:sp>
      <p:sp>
        <p:nvSpPr>
          <p:cNvPr id="3" name="Rounded Rectangle 2">
            <a:extLst xmlns:a="http://schemas.openxmlformats.org/drawingml/2006/main">
              <a:ext uri="{FF2B5EF4-FFF2-40B4-BE49-F238E27FC236}">
                <a16:creationId xmlns:a16="http://schemas.microsoft.com/office/drawing/2014/main" id="{59A6D453-2F2D-49CA-A3E3-9E92B4B5470E}"/>
              </a:ext>
            </a:extLst>
          </p:cNvPr>
          <p:cNvSpPr>
            <a:spLocks xmlns:a="http://schemas.openxmlformats.org/drawingml/2006/main" noGrp="1"/>
          </p:cNvSpPr>
          <p:nvPr/>
        </p:nvSpPr>
        <p:spPr>
          <a:xfrm xmlns:a="http://schemas.openxmlformats.org/drawingml/2006/main">
            <a:off x="704850" y="3143250"/>
            <a:ext cx="1600200" cy="914400"/>
          </a:xfrm>
          <a:prstGeom xmlns:a="http://schemas.openxmlformats.org/drawingml/2006/main" prst="roundRect">
            <a:avLst>
              <a:gd name="adj" fmla="val 12500"/>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05F6B359-5B74-40C8-B4BF-35D7F7663365}"/>
              </a:ext>
            </a:extLst>
          </p:cNvPr>
          <p:cNvSpPr>
            <a:spLocks xmlns:a="http://schemas.openxmlformats.org/drawingml/2006/main" noGrp="1"/>
          </p:cNvSpPr>
          <p:nvPr/>
        </p:nvSpPr>
        <p:spPr>
          <a:xfrm xmlns:a="http://schemas.openxmlformats.org/drawingml/2006/main">
            <a:off x="838200" y="323850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Single call</a:t>
            </a:r>
          </a:p>
        </p:txBody>
      </p:sp>
      <p:sp>
        <p:nvSpPr>
          <p:cNvPr id="5" name="Rounded Rectangle 4">
            <a:extLst xmlns:a="http://schemas.openxmlformats.org/drawingml/2006/main">
              <a:ext uri="{FF2B5EF4-FFF2-40B4-BE49-F238E27FC236}">
                <a16:creationId xmlns:a16="http://schemas.microsoft.com/office/drawing/2014/main" id="{52BA69A8-B3D2-42A8-9AC5-F3D989EEB446}"/>
              </a:ext>
            </a:extLst>
          </p:cNvPr>
          <p:cNvSpPr>
            <a:spLocks xmlns:a="http://schemas.openxmlformats.org/drawingml/2006/main" noGrp="1"/>
          </p:cNvSpPr>
          <p:nvPr/>
        </p:nvSpPr>
        <p:spPr>
          <a:xfrm xmlns:a="http://schemas.openxmlformats.org/drawingml/2006/main">
            <a:off x="2628900" y="2971800"/>
            <a:ext cx="1600200" cy="1257300"/>
          </a:xfrm>
          <a:prstGeom xmlns:a="http://schemas.openxmlformats.org/drawingml/2006/main" prst="roundRect">
            <a:avLst>
              <a:gd name="adj" fmla="val 9091"/>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D7D9EA33-EB30-4055-B187-36E9FCFCE5BC}"/>
              </a:ext>
            </a:extLst>
          </p:cNvPr>
          <p:cNvSpPr>
            <a:spLocks xmlns:a="http://schemas.openxmlformats.org/drawingml/2006/main" noGrp="1"/>
          </p:cNvSpPr>
          <p:nvPr/>
        </p:nvSpPr>
        <p:spPr>
          <a:xfrm xmlns:a="http://schemas.openxmlformats.org/drawingml/2006/main">
            <a:off x="2762250" y="306705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Fixed chain</a:t>
            </a:r>
          </a:p>
        </p:txBody>
      </p:sp>
      <p:sp>
        <p:nvSpPr>
          <p:cNvPr id="7" name="Rounded Rectangle 6">
            <a:extLst xmlns:a="http://schemas.openxmlformats.org/drawingml/2006/main">
              <a:ext uri="{FF2B5EF4-FFF2-40B4-BE49-F238E27FC236}">
                <a16:creationId xmlns:a16="http://schemas.microsoft.com/office/drawing/2014/main" id="{9CC60BA0-7A4C-45F2-AB54-00CA5C14031C}"/>
              </a:ext>
            </a:extLst>
          </p:cNvPr>
          <p:cNvSpPr>
            <a:spLocks xmlns:a="http://schemas.openxmlformats.org/drawingml/2006/main" noGrp="1"/>
          </p:cNvSpPr>
          <p:nvPr/>
        </p:nvSpPr>
        <p:spPr>
          <a:xfrm xmlns:a="http://schemas.openxmlformats.org/drawingml/2006/main">
            <a:off x="4552950" y="2800350"/>
            <a:ext cx="1600200" cy="1600200"/>
          </a:xfrm>
          <a:prstGeom xmlns:a="http://schemas.openxmlformats.org/drawingml/2006/main" prst="roundRect">
            <a:avLst>
              <a:gd name="adj" fmla="val 7143"/>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3799CA0A-FF67-487F-BDF6-DFF2B24B5FF0}"/>
              </a:ext>
            </a:extLst>
          </p:cNvPr>
          <p:cNvSpPr>
            <a:spLocks xmlns:a="http://schemas.openxmlformats.org/drawingml/2006/main" noGrp="1"/>
          </p:cNvSpPr>
          <p:nvPr/>
        </p:nvSpPr>
        <p:spPr>
          <a:xfrm xmlns:a="http://schemas.openxmlformats.org/drawingml/2006/main">
            <a:off x="4686300" y="289560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Router</a:t>
            </a:r>
          </a:p>
        </p:txBody>
      </p:sp>
      <p:sp>
        <p:nvSpPr>
          <p:cNvPr id="9" name="Rounded Rectangle 8">
            <a:extLst xmlns:a="http://schemas.openxmlformats.org/drawingml/2006/main">
              <a:ext uri="{FF2B5EF4-FFF2-40B4-BE49-F238E27FC236}">
                <a16:creationId xmlns:a16="http://schemas.microsoft.com/office/drawing/2014/main" id="{03787BFB-5C2F-418D-B362-66E0A4F00B37}"/>
              </a:ext>
            </a:extLst>
          </p:cNvPr>
          <p:cNvSpPr>
            <a:spLocks xmlns:a="http://schemas.openxmlformats.org/drawingml/2006/main" noGrp="1"/>
          </p:cNvSpPr>
          <p:nvPr/>
        </p:nvSpPr>
        <p:spPr>
          <a:xfrm xmlns:a="http://schemas.openxmlformats.org/drawingml/2006/main">
            <a:off x="6477000" y="2628900"/>
            <a:ext cx="1600200" cy="1943100"/>
          </a:xfrm>
          <a:prstGeom xmlns:a="http://schemas.openxmlformats.org/drawingml/2006/main" prst="roundRect">
            <a:avLst>
              <a:gd name="adj" fmla="val 7143"/>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5D3519D-1DAF-440B-AAB1-0B488664DED5}"/>
              </a:ext>
            </a:extLst>
          </p:cNvPr>
          <p:cNvSpPr>
            <a:spLocks xmlns:a="http://schemas.openxmlformats.org/drawingml/2006/main" noGrp="1"/>
          </p:cNvSpPr>
          <p:nvPr/>
        </p:nvSpPr>
        <p:spPr>
          <a:xfrm xmlns:a="http://schemas.openxmlformats.org/drawingml/2006/main">
            <a:off x="6610350" y="272415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Tool agent</a:t>
            </a:r>
          </a:p>
        </p:txBody>
      </p:sp>
      <p:sp>
        <p:nvSpPr>
          <p:cNvPr id="11" name="Rounded Rectangle 10">
            <a:extLst xmlns:a="http://schemas.openxmlformats.org/drawingml/2006/main">
              <a:ext uri="{FF2B5EF4-FFF2-40B4-BE49-F238E27FC236}">
                <a16:creationId xmlns:a16="http://schemas.microsoft.com/office/drawing/2014/main" id="{65788B54-1E11-407C-B5A5-A3057D7E687F}"/>
              </a:ext>
            </a:extLst>
          </p:cNvPr>
          <p:cNvSpPr>
            <a:spLocks xmlns:a="http://schemas.openxmlformats.org/drawingml/2006/main" noGrp="1"/>
          </p:cNvSpPr>
          <p:nvPr/>
        </p:nvSpPr>
        <p:spPr>
          <a:xfrm xmlns:a="http://schemas.openxmlformats.org/drawingml/2006/main">
            <a:off x="8401050" y="2457450"/>
            <a:ext cx="1600200" cy="2286000"/>
          </a:xfrm>
          <a:prstGeom xmlns:a="http://schemas.openxmlformats.org/drawingml/2006/main" prst="roundRect">
            <a:avLst>
              <a:gd name="adj" fmla="val 7143"/>
            </a:avLst>
          </a:prstGeom>
          <a:solidFill xmlns:a="http://schemas.openxmlformats.org/drawingml/2006/main">
            <a:srgbClr val="FDE8E1"/>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A37B9314-595A-4E66-89E5-F1EDBD751AD6}"/>
              </a:ext>
            </a:extLst>
          </p:cNvPr>
          <p:cNvSpPr>
            <a:spLocks xmlns:a="http://schemas.openxmlformats.org/drawingml/2006/main" noGrp="1"/>
          </p:cNvSpPr>
          <p:nvPr/>
        </p:nvSpPr>
        <p:spPr>
          <a:xfrm xmlns:a="http://schemas.openxmlformats.org/drawingml/2006/main">
            <a:off x="8534400" y="2552700"/>
            <a:ext cx="133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Long-running agent</a:t>
            </a:r>
          </a:p>
        </p:txBody>
      </p:sp>
      <p:sp>
        <p:nvSpPr>
          <p:cNvPr id="13" name="Rectangle 12">
            <a:extLst xmlns:a="http://schemas.openxmlformats.org/drawingml/2006/main">
              <a:ext uri="{FF2B5EF4-FFF2-40B4-BE49-F238E27FC236}">
                <a16:creationId xmlns:a16="http://schemas.microsoft.com/office/drawing/2014/main" id="{7F21AE99-94B9-498E-B09E-29CCACEC937C}"/>
              </a:ext>
            </a:extLst>
          </p:cNvPr>
          <p:cNvSpPr>
            <a:spLocks xmlns:a="http://schemas.openxmlformats.org/drawingml/2006/main" noGrp="1"/>
          </p:cNvSpPr>
          <p:nvPr/>
        </p:nvSpPr>
        <p:spPr>
          <a:xfrm xmlns:a="http://schemas.openxmlformats.org/drawingml/2006/main">
            <a:off x="8058150" y="514350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00" b="1">
                <a:solidFill>
                  <a:srgbClr val="EE7D5B"/>
                </a:solidFill>
              </a:defRPr>
            </a:defPPr>
          </a:lstStyle>
          <a:p xmlns:a="http://schemas.openxmlformats.org/drawingml/2006/main">
            <a:pPr algn="r">
              <a:buNone/>
              <a:defRPr sz="1200" b="1">
                <a:solidFill>
                  <a:srgbClr val="EE7D5B"/>
                </a:solidFill>
              </a:defRPr>
            </a:pPr>
            <a:r>
              <a:rPr sz="1200" b="1">
                <a:solidFill>
                  <a:srgbClr val="EE7D5B"/>
                </a:solidFill>
              </a:rPr>
              <a:t>More autonomy</a:t>
            </a:r>
          </a:p>
        </p:txBody>
      </p:sp>
      <p:sp>
        <p:nvSpPr>
          <p:cNvPr id="14" name="Rectangle 13">
            <a:extLst xmlns:a="http://schemas.openxmlformats.org/drawingml/2006/main">
              <a:ext uri="{FF2B5EF4-FFF2-40B4-BE49-F238E27FC236}">
                <a16:creationId xmlns:a16="http://schemas.microsoft.com/office/drawing/2014/main" id="{510F00E0-60DD-47FA-B752-500C20FEB103}"/>
              </a:ext>
            </a:extLst>
          </p:cNvPr>
          <p:cNvSpPr>
            <a:spLocks xmlns:a="http://schemas.openxmlformats.org/drawingml/2006/main" noGrp="1"/>
          </p:cNvSpPr>
          <p:nvPr/>
        </p:nvSpPr>
        <p:spPr>
          <a:xfrm xmlns:a="http://schemas.openxmlformats.org/drawingml/2006/main">
            <a:off x="5810250" y="5467350"/>
            <a:ext cx="424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350" b="1">
                <a:solidFill>
                  <a:srgbClr val="008A91"/>
                </a:solidFill>
              </a:defRPr>
            </a:defPPr>
          </a:lstStyle>
          <a:p xmlns:a="http://schemas.openxmlformats.org/drawingml/2006/main">
            <a:pPr algn="r">
              <a:buNone/>
              <a:defRPr sz="1350" b="1">
                <a:solidFill>
                  <a:srgbClr val="008A91"/>
                </a:solidFill>
              </a:defRPr>
            </a:pPr>
            <a:r>
              <a:rPr sz="1350" b="1">
                <a:solidFill>
                  <a:srgbClr val="008A91"/>
                </a:solidFill>
              </a:rPr>
              <a:t>More evaluation and stronger controls</a:t>
            </a:r>
          </a:p>
        </p:txBody>
      </p:sp>
    </p:spTree>
    <p:extLst>
      <p:ext uri="{BB962C8B-B14F-4D97-AF65-F5344CB8AC3E}">
        <p14:creationId xmlns:p14="http://schemas.microsoft.com/office/powerpoint/2010/main" val="114947496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Picture 12">
            <a:extLst xmlns:a="http://schemas.openxmlformats.org/drawingml/2006/main">
              <a:ext uri="{FF2B5EF4-FFF2-40B4-BE49-F238E27FC236}">
                <a16:creationId xmlns:a16="http://schemas.microsoft.com/office/drawing/2014/main" id="{45614240-CCA5-4BF9-B604-EB31DB2A0807}"/>
              </a:ext>
            </a:extLst>
          </p:cNvPr>
          <p:cNvPicPr>
            <a:picLocks xmlns:a="http://schemas.openxmlformats.org/drawingml/2006/main" noChangeAspect="1"/>
          </p:cNvPicPr>
          <p:nvPr/>
        </p:nvPicPr>
        <p:blipFill>
          <a:blip xmlns:r="http://schemas.openxmlformats.org/officeDocument/2006/relationships" xmlns:a="http://schemas.openxmlformats.org/drawingml/2006/main" r:embed="Rfea036e1a9ed496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1C7B24EB-DA3A-4AB6-8931-12F1BA325272}"/>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Thought, action and observation</a:t>
            </a:r>
          </a:p>
        </p:txBody>
      </p:sp>
      <p:sp>
        <p:nvSpPr>
          <p:cNvPr id="3" name="Rounded Rectangle 2">
            <a:extLst xmlns:a="http://schemas.openxmlformats.org/drawingml/2006/main">
              <a:ext uri="{FF2B5EF4-FFF2-40B4-BE49-F238E27FC236}">
                <a16:creationId xmlns:a16="http://schemas.microsoft.com/office/drawing/2014/main" id="{4ACFD679-034A-4052-90A5-6BDEBA6F8D77}"/>
              </a:ext>
            </a:extLst>
          </p:cNvPr>
          <p:cNvSpPr>
            <a:spLocks xmlns:a="http://schemas.openxmlformats.org/drawingml/2006/main" noGrp="1"/>
          </p:cNvSpPr>
          <p:nvPr/>
        </p:nvSpPr>
        <p:spPr>
          <a:xfrm xmlns:a="http://schemas.openxmlformats.org/drawingml/2006/main">
            <a:off x="1238250" y="3143250"/>
            <a:ext cx="2095500" cy="914400"/>
          </a:xfrm>
          <a:prstGeom xmlns:a="http://schemas.openxmlformats.org/drawingml/2006/main" prst="roundRect">
            <a:avLst>
              <a:gd name="adj" fmla="val 12500"/>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7010A6BD-E919-4CF8-ABDA-958E853CD973}"/>
              </a:ext>
            </a:extLst>
          </p:cNvPr>
          <p:cNvSpPr>
            <a:spLocks xmlns:a="http://schemas.openxmlformats.org/drawingml/2006/main" noGrp="1"/>
          </p:cNvSpPr>
          <p:nvPr/>
        </p:nvSpPr>
        <p:spPr>
          <a:xfrm xmlns:a="http://schemas.openxmlformats.org/drawingml/2006/main">
            <a:off x="1314450" y="3200400"/>
            <a:ext cx="1943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THOUGHT</a:t>
            </a:r>
          </a:p>
          <a:p xmlns:a="http://schemas.openxmlformats.org/drawingml/2006/main">
            <a:pPr algn="ctr">
              <a:buNone/>
              <a:defRPr sz="1275" b="1">
                <a:solidFill>
                  <a:srgbClr val="203D67"/>
                </a:solidFill>
              </a:defRPr>
            </a:pPr>
            <a:r>
              <a:rPr sz="1275" b="1">
                <a:solidFill>
                  <a:srgbClr val="203D67"/>
                </a:solidFill>
              </a:rPr>
              <a:t>What should happen next?</a:t>
            </a:r>
          </a:p>
        </p:txBody>
      </p:sp>
      <p:sp>
        <p:nvSpPr>
          <p:cNvPr id="5" name="Rounded Rectangle 4">
            <a:extLst xmlns:a="http://schemas.openxmlformats.org/drawingml/2006/main">
              <a:ext uri="{FF2B5EF4-FFF2-40B4-BE49-F238E27FC236}">
                <a16:creationId xmlns:a16="http://schemas.microsoft.com/office/drawing/2014/main" id="{813AC492-A127-4F27-AD38-EDFBF029077C}"/>
              </a:ext>
            </a:extLst>
          </p:cNvPr>
          <p:cNvSpPr>
            <a:spLocks xmlns:a="http://schemas.openxmlformats.org/drawingml/2006/main" noGrp="1"/>
          </p:cNvSpPr>
          <p:nvPr/>
        </p:nvSpPr>
        <p:spPr>
          <a:xfrm xmlns:a="http://schemas.openxmlformats.org/drawingml/2006/main">
            <a:off x="4381500" y="3143250"/>
            <a:ext cx="2095500" cy="914400"/>
          </a:xfrm>
          <a:prstGeom xmlns:a="http://schemas.openxmlformats.org/drawingml/2006/main" prst="roundRect">
            <a:avLst>
              <a:gd name="adj" fmla="val 12500"/>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B3732104-87AB-4202-8D30-2FBCF71A9556}"/>
              </a:ext>
            </a:extLst>
          </p:cNvPr>
          <p:cNvSpPr>
            <a:spLocks xmlns:a="http://schemas.openxmlformats.org/drawingml/2006/main" noGrp="1"/>
          </p:cNvSpPr>
          <p:nvPr/>
        </p:nvSpPr>
        <p:spPr>
          <a:xfrm xmlns:a="http://schemas.openxmlformats.org/drawingml/2006/main">
            <a:off x="4457700" y="3200400"/>
            <a:ext cx="1943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ACTION</a:t>
            </a:r>
          </a:p>
          <a:p xmlns:a="http://schemas.openxmlformats.org/drawingml/2006/main">
            <a:pPr algn="ctr">
              <a:buNone/>
              <a:defRPr sz="1275" b="1">
                <a:solidFill>
                  <a:srgbClr val="203D67"/>
                </a:solidFill>
              </a:defRPr>
            </a:pPr>
            <a:r>
              <a:rPr sz="1275" b="1">
                <a:solidFill>
                  <a:srgbClr val="203D67"/>
                </a:solidFill>
              </a:rPr>
              <a:t>Call a tool</a:t>
            </a:r>
          </a:p>
        </p:txBody>
      </p:sp>
      <p:sp>
        <p:nvSpPr>
          <p:cNvPr id="7" name="Rounded Rectangle 6">
            <a:extLst xmlns:a="http://schemas.openxmlformats.org/drawingml/2006/main">
              <a:ext uri="{FF2B5EF4-FFF2-40B4-BE49-F238E27FC236}">
                <a16:creationId xmlns:a16="http://schemas.microsoft.com/office/drawing/2014/main" id="{A1CB3E28-97E3-4997-A438-7A7ED57C6284}"/>
              </a:ext>
            </a:extLst>
          </p:cNvPr>
          <p:cNvSpPr>
            <a:spLocks xmlns:a="http://schemas.openxmlformats.org/drawingml/2006/main" noGrp="1"/>
          </p:cNvSpPr>
          <p:nvPr/>
        </p:nvSpPr>
        <p:spPr>
          <a:xfrm xmlns:a="http://schemas.openxmlformats.org/drawingml/2006/main">
            <a:off x="7524750" y="3143250"/>
            <a:ext cx="2095500" cy="914400"/>
          </a:xfrm>
          <a:prstGeom xmlns:a="http://schemas.openxmlformats.org/drawingml/2006/main" prst="roundRect">
            <a:avLst>
              <a:gd name="adj" fmla="val 12500"/>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2FE55FC6-1453-44DB-A62B-BED999322A75}"/>
              </a:ext>
            </a:extLst>
          </p:cNvPr>
          <p:cNvSpPr>
            <a:spLocks xmlns:a="http://schemas.openxmlformats.org/drawingml/2006/main" noGrp="1"/>
          </p:cNvSpPr>
          <p:nvPr/>
        </p:nvSpPr>
        <p:spPr>
          <a:xfrm xmlns:a="http://schemas.openxmlformats.org/drawingml/2006/main">
            <a:off x="7600950" y="3200400"/>
            <a:ext cx="1943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OBSERVATION</a:t>
            </a:r>
          </a:p>
          <a:p xmlns:a="http://schemas.openxmlformats.org/drawingml/2006/main">
            <a:pPr algn="ctr">
              <a:buNone/>
              <a:defRPr sz="1275" b="1">
                <a:solidFill>
                  <a:srgbClr val="203D67"/>
                </a:solidFill>
              </a:defRPr>
            </a:pPr>
            <a:r>
              <a:rPr sz="1275" b="1">
                <a:solidFill>
                  <a:srgbClr val="203D67"/>
                </a:solidFill>
              </a:rPr>
              <a:t>What happened?</a:t>
            </a:r>
          </a:p>
        </p:txBody>
      </p:sp>
      <p:cxnSp>
        <p:nvCxnSpPr>
          <p:cNvPr id="9" name="Straight Arrow Connector 8">
            <a:extLst xmlns:a="http://schemas.openxmlformats.org/drawingml/2006/main">
              <a:ext uri="{FF2B5EF4-FFF2-40B4-BE49-F238E27FC236}">
                <a16:creationId xmlns:a16="http://schemas.microsoft.com/office/drawing/2014/main" id="{D2DA815B-0E79-4AC0-B2EC-94EF53E17308}"/>
              </a:ext>
            </a:extLst>
          </p:cNvPr>
          <p:cNvCxnSpPr>
            <a:stCxn xmlns:a="http://schemas.openxmlformats.org/drawingml/2006/main" id="3" idx="3"/>
            <a:endCxn xmlns:a="http://schemas.openxmlformats.org/drawingml/2006/main" id="5" idx="1"/>
          </p:cNvCxnSpPr>
          <p:nvPr/>
        </p:nvCxnSpPr>
        <p:spPr>
          <a:xfrm xmlns:a="http://schemas.openxmlformats.org/drawingml/2006/main">
            <a:off x="3333750" y="3600450"/>
            <a:ext cx="104775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0" name="Straight Arrow Connector 9">
            <a:extLst xmlns:a="http://schemas.openxmlformats.org/drawingml/2006/main">
              <a:ext uri="{FF2B5EF4-FFF2-40B4-BE49-F238E27FC236}">
                <a16:creationId xmlns:a16="http://schemas.microsoft.com/office/drawing/2014/main" id="{17E828EE-2975-4F59-B190-705F6B4F5D49}"/>
              </a:ext>
            </a:extLst>
          </p:cNvPr>
          <p:cNvCxnSpPr>
            <a:stCxn xmlns:a="http://schemas.openxmlformats.org/drawingml/2006/main" id="5" idx="3"/>
            <a:endCxn xmlns:a="http://schemas.openxmlformats.org/drawingml/2006/main" id="7" idx="1"/>
          </p:cNvCxnSpPr>
          <p:nvPr/>
        </p:nvCxnSpPr>
        <p:spPr>
          <a:xfrm xmlns:a="http://schemas.openxmlformats.org/drawingml/2006/main">
            <a:off x="6477000" y="3600450"/>
            <a:ext cx="104775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1" name="Straight Arrow Connector 10">
            <a:extLst xmlns:a="http://schemas.openxmlformats.org/drawingml/2006/main">
              <a:ext uri="{FF2B5EF4-FFF2-40B4-BE49-F238E27FC236}">
                <a16:creationId xmlns:a16="http://schemas.microsoft.com/office/drawing/2014/main" id="{F525735E-D53D-4485-8076-EA52F04AB0B5}"/>
              </a:ext>
            </a:extLst>
          </p:cNvPr>
          <p:cNvCxnSpPr>
            <a:stCxn xmlns:a="http://schemas.openxmlformats.org/drawingml/2006/main" id="7" idx="2"/>
            <a:endCxn xmlns:a="http://schemas.openxmlformats.org/drawingml/2006/main" id="3" idx="2"/>
          </p:cNvCxnSpPr>
          <p:nvPr/>
        </p:nvCxnSpPr>
        <p:spPr>
          <a:xfrm xmlns:a="http://schemas.openxmlformats.org/drawingml/2006/main" flipH="1">
            <a:off x="2286000" y="4057650"/>
            <a:ext cx="6286500" cy="0"/>
          </a:xfrm>
          <a:prstGeom xmlns:a="http://schemas.openxmlformats.org/drawingml/2006/main" prst="straightConnector1">
            <a:avLst/>
          </a:prstGeom>
          <a:ln xmlns:a="http://schemas.openxmlformats.org/drawingml/2006/main" w="21431">
            <a:solidFill>
              <a:srgbClr val="008A91"/>
            </a:solidFill>
            <a:prstDash val="dash"/>
            <a:tailEnd type="arrow" w="med" len="med"/>
          </a:ln>
        </p:spPr>
      </p:cxnSp>
      <p:sp>
        <p:nvSpPr>
          <p:cNvPr id="12" name="Rectangle 11">
            <a:extLst xmlns:a="http://schemas.openxmlformats.org/drawingml/2006/main">
              <a:ext uri="{FF2B5EF4-FFF2-40B4-BE49-F238E27FC236}">
                <a16:creationId xmlns:a16="http://schemas.microsoft.com/office/drawing/2014/main" id="{3CE04163-3D7E-4BC9-87F2-EF0C98CAAEDF}"/>
              </a:ext>
            </a:extLst>
          </p:cNvPr>
          <p:cNvSpPr>
            <a:spLocks xmlns:a="http://schemas.openxmlformats.org/drawingml/2006/main" noGrp="1"/>
          </p:cNvSpPr>
          <p:nvPr/>
        </p:nvSpPr>
        <p:spPr>
          <a:xfrm xmlns:a="http://schemas.openxmlformats.org/drawingml/2006/main">
            <a:off x="2000250" y="4857750"/>
            <a:ext cx="7239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008A91"/>
                </a:solidFill>
              </a:defRPr>
            </a:defPPr>
          </a:lstStyle>
          <a:p xmlns:a="http://schemas.openxmlformats.org/drawingml/2006/main">
            <a:pPr algn="ctr">
              <a:buNone/>
              <a:defRPr sz="1500" b="1">
                <a:solidFill>
                  <a:srgbClr val="008A91"/>
                </a:solidFill>
              </a:defRPr>
            </a:pPr>
            <a:r>
              <a:rPr sz="1500" b="1">
                <a:solidFill>
                  <a:srgbClr val="008A91"/>
                </a:solidFill>
              </a:rPr>
              <a:t>Agents alternate between decisions and evidence from the environment</a:t>
            </a:r>
          </a:p>
        </p:txBody>
      </p:sp>
    </p:spTree>
    <p:extLst>
      <p:ext uri="{BB962C8B-B14F-4D97-AF65-F5344CB8AC3E}">
        <p14:creationId xmlns:p14="http://schemas.microsoft.com/office/powerpoint/2010/main" val="13640558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6" name="Picture 15">
            <a:extLst xmlns:a="http://schemas.openxmlformats.org/drawingml/2006/main">
              <a:ext uri="{FF2B5EF4-FFF2-40B4-BE49-F238E27FC236}">
                <a16:creationId xmlns:a16="http://schemas.microsoft.com/office/drawing/2014/main" id="{7F4BA1AC-8295-4EB0-B865-8772FA70C717}"/>
              </a:ext>
            </a:extLst>
          </p:cNvPr>
          <p:cNvPicPr>
            <a:picLocks xmlns:a="http://schemas.openxmlformats.org/drawingml/2006/main" noChangeAspect="1"/>
          </p:cNvPicPr>
          <p:nvPr/>
        </p:nvPicPr>
        <p:blipFill>
          <a:blip xmlns:r="http://schemas.openxmlformats.org/officeDocument/2006/relationships" xmlns:a="http://schemas.openxmlformats.org/drawingml/2006/main" r:embed="R00cc7de4f4434ab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17586929-33E2-449E-A8C0-B26951D43CC9}"/>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What belongs in agent state</a:t>
            </a:r>
          </a:p>
        </p:txBody>
      </p:sp>
      <p:sp>
        <p:nvSpPr>
          <p:cNvPr id="3" name="Rounded Rectangle 2">
            <a:extLst xmlns:a="http://schemas.openxmlformats.org/drawingml/2006/main">
              <a:ext uri="{FF2B5EF4-FFF2-40B4-BE49-F238E27FC236}">
                <a16:creationId xmlns:a16="http://schemas.microsoft.com/office/drawing/2014/main" id="{EECEFDCD-84EA-4715-9CDE-94B888CDC7A6}"/>
              </a:ext>
            </a:extLst>
          </p:cNvPr>
          <p:cNvSpPr>
            <a:spLocks xmlns:a="http://schemas.openxmlformats.org/drawingml/2006/main" noGrp="1"/>
          </p:cNvSpPr>
          <p:nvPr/>
        </p:nvSpPr>
        <p:spPr>
          <a:xfrm xmlns:a="http://schemas.openxmlformats.org/drawingml/2006/main">
            <a:off x="857250" y="2667000"/>
            <a:ext cx="3143250" cy="647700"/>
          </a:xfrm>
          <a:prstGeom xmlns:a="http://schemas.openxmlformats.org/drawingml/2006/main" prst="roundRect">
            <a:avLst>
              <a:gd name="adj" fmla="val 17647"/>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4AE6CD5-8425-43F6-90C1-D5528D551B9F}"/>
              </a:ext>
            </a:extLst>
          </p:cNvPr>
          <p:cNvSpPr>
            <a:spLocks xmlns:a="http://schemas.openxmlformats.org/drawingml/2006/main" noGrp="1"/>
          </p:cNvSpPr>
          <p:nvPr/>
        </p:nvSpPr>
        <p:spPr>
          <a:xfrm xmlns:a="http://schemas.openxmlformats.org/drawingml/2006/main">
            <a:off x="933450" y="27241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203D67"/>
                </a:solidFill>
              </a:defRPr>
            </a:defPPr>
          </a:lstStyle>
          <a:p xmlns:a="http://schemas.openxmlformats.org/drawingml/2006/main">
            <a:pPr algn="ctr">
              <a:buNone/>
              <a:defRPr sz="1350" b="1">
                <a:solidFill>
                  <a:srgbClr val="203D67"/>
                </a:solidFill>
              </a:defRPr>
            </a:pPr>
            <a:r>
              <a:rPr sz="1350" b="1">
                <a:solidFill>
                  <a:srgbClr val="203D67"/>
                </a:solidFill>
              </a:rPr>
              <a:t>Original goal</a:t>
            </a:r>
          </a:p>
        </p:txBody>
      </p:sp>
      <p:sp>
        <p:nvSpPr>
          <p:cNvPr id="5" name="Rounded Rectangle 4">
            <a:extLst xmlns:a="http://schemas.openxmlformats.org/drawingml/2006/main">
              <a:ext uri="{FF2B5EF4-FFF2-40B4-BE49-F238E27FC236}">
                <a16:creationId xmlns:a16="http://schemas.microsoft.com/office/drawing/2014/main" id="{2E0B959A-1FDF-4144-A0FD-27B369157159}"/>
              </a:ext>
            </a:extLst>
          </p:cNvPr>
          <p:cNvSpPr>
            <a:spLocks xmlns:a="http://schemas.openxmlformats.org/drawingml/2006/main" noGrp="1"/>
          </p:cNvSpPr>
          <p:nvPr/>
        </p:nvSpPr>
        <p:spPr>
          <a:xfrm xmlns:a="http://schemas.openxmlformats.org/drawingml/2006/main">
            <a:off x="4762500" y="2667000"/>
            <a:ext cx="3143250" cy="647700"/>
          </a:xfrm>
          <a:prstGeom xmlns:a="http://schemas.openxmlformats.org/drawingml/2006/main" prst="roundRect">
            <a:avLst>
              <a:gd name="adj" fmla="val 17647"/>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188E8D5E-17B6-4382-B652-CF30F7D8C5EF}"/>
              </a:ext>
            </a:extLst>
          </p:cNvPr>
          <p:cNvSpPr>
            <a:spLocks xmlns:a="http://schemas.openxmlformats.org/drawingml/2006/main" noGrp="1"/>
          </p:cNvSpPr>
          <p:nvPr/>
        </p:nvSpPr>
        <p:spPr>
          <a:xfrm xmlns:a="http://schemas.openxmlformats.org/drawingml/2006/main">
            <a:off x="4838700" y="27241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203D67"/>
                </a:solidFill>
              </a:defRPr>
            </a:defPPr>
          </a:lstStyle>
          <a:p xmlns:a="http://schemas.openxmlformats.org/drawingml/2006/main">
            <a:pPr algn="ctr">
              <a:buNone/>
              <a:defRPr sz="1350" b="1">
                <a:solidFill>
                  <a:srgbClr val="203D67"/>
                </a:solidFill>
              </a:defRPr>
            </a:pPr>
            <a:r>
              <a:rPr sz="1350" b="1">
                <a:solidFill>
                  <a:srgbClr val="203D67"/>
                </a:solidFill>
              </a:rPr>
              <a:t>Current plan</a:t>
            </a:r>
          </a:p>
        </p:txBody>
      </p:sp>
      <p:sp>
        <p:nvSpPr>
          <p:cNvPr id="7" name="Rounded Rectangle 6">
            <a:extLst xmlns:a="http://schemas.openxmlformats.org/drawingml/2006/main">
              <a:ext uri="{FF2B5EF4-FFF2-40B4-BE49-F238E27FC236}">
                <a16:creationId xmlns:a16="http://schemas.microsoft.com/office/drawing/2014/main" id="{EB11F72E-75AA-4C28-920A-ACBB1A3462A0}"/>
              </a:ext>
            </a:extLst>
          </p:cNvPr>
          <p:cNvSpPr>
            <a:spLocks xmlns:a="http://schemas.openxmlformats.org/drawingml/2006/main" noGrp="1"/>
          </p:cNvSpPr>
          <p:nvPr/>
        </p:nvSpPr>
        <p:spPr>
          <a:xfrm xmlns:a="http://schemas.openxmlformats.org/drawingml/2006/main">
            <a:off x="857250" y="3619500"/>
            <a:ext cx="3143250" cy="647700"/>
          </a:xfrm>
          <a:prstGeom xmlns:a="http://schemas.openxmlformats.org/drawingml/2006/main" prst="roundRect">
            <a:avLst>
              <a:gd name="adj" fmla="val 17647"/>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520EBBF9-8C61-42B1-BD00-BC63DEDAF844}"/>
              </a:ext>
            </a:extLst>
          </p:cNvPr>
          <p:cNvSpPr>
            <a:spLocks xmlns:a="http://schemas.openxmlformats.org/drawingml/2006/main" noGrp="1"/>
          </p:cNvSpPr>
          <p:nvPr/>
        </p:nvSpPr>
        <p:spPr>
          <a:xfrm xmlns:a="http://schemas.openxmlformats.org/drawingml/2006/main">
            <a:off x="933450" y="36766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203D67"/>
                </a:solidFill>
              </a:defRPr>
            </a:defPPr>
          </a:lstStyle>
          <a:p xmlns:a="http://schemas.openxmlformats.org/drawingml/2006/main">
            <a:pPr algn="ctr">
              <a:buNone/>
              <a:defRPr sz="1350" b="1">
                <a:solidFill>
                  <a:srgbClr val="203D67"/>
                </a:solidFill>
              </a:defRPr>
            </a:pPr>
            <a:r>
              <a:rPr sz="1350" b="1">
                <a:solidFill>
                  <a:srgbClr val="203D67"/>
                </a:solidFill>
              </a:rPr>
              <a:t>Tool results</a:t>
            </a:r>
          </a:p>
        </p:txBody>
      </p:sp>
      <p:sp>
        <p:nvSpPr>
          <p:cNvPr id="9" name="Rounded Rectangle 8">
            <a:extLst xmlns:a="http://schemas.openxmlformats.org/drawingml/2006/main">
              <a:ext uri="{FF2B5EF4-FFF2-40B4-BE49-F238E27FC236}">
                <a16:creationId xmlns:a16="http://schemas.microsoft.com/office/drawing/2014/main" id="{E37128EF-D70A-40F5-BA10-7743BB8A041D}"/>
              </a:ext>
            </a:extLst>
          </p:cNvPr>
          <p:cNvSpPr>
            <a:spLocks xmlns:a="http://schemas.openxmlformats.org/drawingml/2006/main" noGrp="1"/>
          </p:cNvSpPr>
          <p:nvPr/>
        </p:nvSpPr>
        <p:spPr>
          <a:xfrm xmlns:a="http://schemas.openxmlformats.org/drawingml/2006/main">
            <a:off x="4762500" y="3619500"/>
            <a:ext cx="3143250" cy="647700"/>
          </a:xfrm>
          <a:prstGeom xmlns:a="http://schemas.openxmlformats.org/drawingml/2006/main" prst="roundRect">
            <a:avLst>
              <a:gd name="adj" fmla="val 17647"/>
            </a:avLst>
          </a:prstGeom>
          <a:solidFill xmlns:a="http://schemas.openxmlformats.org/drawingml/2006/main">
            <a:srgbClr val="FDE8E1"/>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52B0C03-5502-4D1B-805D-3D5D492CBB73}"/>
              </a:ext>
            </a:extLst>
          </p:cNvPr>
          <p:cNvSpPr>
            <a:spLocks xmlns:a="http://schemas.openxmlformats.org/drawingml/2006/main" noGrp="1"/>
          </p:cNvSpPr>
          <p:nvPr/>
        </p:nvSpPr>
        <p:spPr>
          <a:xfrm xmlns:a="http://schemas.openxmlformats.org/drawingml/2006/main">
            <a:off x="4838700" y="36766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203D67"/>
                </a:solidFill>
              </a:defRPr>
            </a:defPPr>
          </a:lstStyle>
          <a:p xmlns:a="http://schemas.openxmlformats.org/drawingml/2006/main">
            <a:pPr algn="ctr">
              <a:buNone/>
              <a:defRPr sz="1350" b="1">
                <a:solidFill>
                  <a:srgbClr val="203D67"/>
                </a:solidFill>
              </a:defRPr>
            </a:pPr>
            <a:r>
              <a:rPr sz="1350" b="1">
                <a:solidFill>
                  <a:srgbClr val="203D67"/>
                </a:solidFill>
              </a:rPr>
              <a:t>Errors</a:t>
            </a:r>
          </a:p>
        </p:txBody>
      </p:sp>
      <p:sp>
        <p:nvSpPr>
          <p:cNvPr id="11" name="Rounded Rectangle 10">
            <a:extLst xmlns:a="http://schemas.openxmlformats.org/drawingml/2006/main">
              <a:ext uri="{FF2B5EF4-FFF2-40B4-BE49-F238E27FC236}">
                <a16:creationId xmlns:a16="http://schemas.microsoft.com/office/drawing/2014/main" id="{0FE7860B-739D-42E8-8A47-8C012301B9C1}"/>
              </a:ext>
            </a:extLst>
          </p:cNvPr>
          <p:cNvSpPr>
            <a:spLocks xmlns:a="http://schemas.openxmlformats.org/drawingml/2006/main" noGrp="1"/>
          </p:cNvSpPr>
          <p:nvPr/>
        </p:nvSpPr>
        <p:spPr>
          <a:xfrm xmlns:a="http://schemas.openxmlformats.org/drawingml/2006/main">
            <a:off x="857250" y="4572000"/>
            <a:ext cx="3143250" cy="647700"/>
          </a:xfrm>
          <a:prstGeom xmlns:a="http://schemas.openxmlformats.org/drawingml/2006/main" prst="roundRect">
            <a:avLst>
              <a:gd name="adj" fmla="val 17647"/>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ECC38738-DB53-4A0E-8B8B-96CE7641CF96}"/>
              </a:ext>
            </a:extLst>
          </p:cNvPr>
          <p:cNvSpPr>
            <a:spLocks xmlns:a="http://schemas.openxmlformats.org/drawingml/2006/main" noGrp="1"/>
          </p:cNvSpPr>
          <p:nvPr/>
        </p:nvSpPr>
        <p:spPr>
          <a:xfrm xmlns:a="http://schemas.openxmlformats.org/drawingml/2006/main">
            <a:off x="933450" y="46291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203D67"/>
                </a:solidFill>
              </a:defRPr>
            </a:defPPr>
          </a:lstStyle>
          <a:p xmlns:a="http://schemas.openxmlformats.org/drawingml/2006/main">
            <a:pPr algn="ctr">
              <a:buNone/>
              <a:defRPr sz="1350" b="1">
                <a:solidFill>
                  <a:srgbClr val="203D67"/>
                </a:solidFill>
              </a:defRPr>
            </a:pPr>
            <a:r>
              <a:rPr sz="1350" b="1">
                <a:solidFill>
                  <a:srgbClr val="203D67"/>
                </a:solidFill>
              </a:rPr>
              <a:t>Evidence</a:t>
            </a:r>
          </a:p>
        </p:txBody>
      </p:sp>
      <p:sp>
        <p:nvSpPr>
          <p:cNvPr id="13" name="Rounded Rectangle 12">
            <a:extLst xmlns:a="http://schemas.openxmlformats.org/drawingml/2006/main">
              <a:ext uri="{FF2B5EF4-FFF2-40B4-BE49-F238E27FC236}">
                <a16:creationId xmlns:a16="http://schemas.microsoft.com/office/drawing/2014/main" id="{CE375532-9574-4B2D-94A9-70AB8AAC1BED}"/>
              </a:ext>
            </a:extLst>
          </p:cNvPr>
          <p:cNvSpPr>
            <a:spLocks xmlns:a="http://schemas.openxmlformats.org/drawingml/2006/main" noGrp="1"/>
          </p:cNvSpPr>
          <p:nvPr/>
        </p:nvSpPr>
        <p:spPr>
          <a:xfrm xmlns:a="http://schemas.openxmlformats.org/drawingml/2006/main">
            <a:off x="4762500" y="4572000"/>
            <a:ext cx="3143250" cy="647700"/>
          </a:xfrm>
          <a:prstGeom xmlns:a="http://schemas.openxmlformats.org/drawingml/2006/main" prst="roundRect">
            <a:avLst>
              <a:gd name="adj" fmla="val 17647"/>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52F0446F-7CE4-44DB-89C3-6407B3D3AA52}"/>
              </a:ext>
            </a:extLst>
          </p:cNvPr>
          <p:cNvSpPr>
            <a:spLocks xmlns:a="http://schemas.openxmlformats.org/drawingml/2006/main" noGrp="1"/>
          </p:cNvSpPr>
          <p:nvPr/>
        </p:nvSpPr>
        <p:spPr>
          <a:xfrm xmlns:a="http://schemas.openxmlformats.org/drawingml/2006/main">
            <a:off x="4838700" y="46291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203D67"/>
                </a:solidFill>
              </a:defRPr>
            </a:defPPr>
          </a:lstStyle>
          <a:p xmlns:a="http://schemas.openxmlformats.org/drawingml/2006/main">
            <a:pPr algn="ctr">
              <a:buNone/>
              <a:defRPr sz="1350" b="1">
                <a:solidFill>
                  <a:srgbClr val="203D67"/>
                </a:solidFill>
              </a:defRPr>
            </a:pPr>
            <a:r>
              <a:rPr sz="1350" b="1">
                <a:solidFill>
                  <a:srgbClr val="203D67"/>
                </a:solidFill>
              </a:rPr>
              <a:t>Budget remaining</a:t>
            </a:r>
          </a:p>
        </p:txBody>
      </p:sp>
      <p:sp>
        <p:nvSpPr>
          <p:cNvPr id="15" name="Rectangle 14">
            <a:extLst xmlns:a="http://schemas.openxmlformats.org/drawingml/2006/main">
              <a:ext uri="{FF2B5EF4-FFF2-40B4-BE49-F238E27FC236}">
                <a16:creationId xmlns:a16="http://schemas.microsoft.com/office/drawing/2014/main" id="{99A2A606-ED13-4ED4-9083-E791C7467EC0}"/>
              </a:ext>
            </a:extLst>
          </p:cNvPr>
          <p:cNvSpPr>
            <a:spLocks xmlns:a="http://schemas.openxmlformats.org/drawingml/2006/main" noGrp="1"/>
          </p:cNvSpPr>
          <p:nvPr/>
        </p:nvSpPr>
        <p:spPr>
          <a:xfrm xmlns:a="http://schemas.openxmlformats.org/drawingml/2006/main">
            <a:off x="1562100" y="5572125"/>
            <a:ext cx="7048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008A91"/>
                </a:solidFill>
              </a:defRPr>
            </a:defPPr>
          </a:lstStyle>
          <a:p xmlns:a="http://schemas.openxmlformats.org/drawingml/2006/main">
            <a:pPr algn="ctr">
              <a:buNone/>
              <a:defRPr sz="1425" b="1">
                <a:solidFill>
                  <a:srgbClr val="008A91"/>
                </a:solidFill>
              </a:defRPr>
            </a:pPr>
            <a:r>
              <a:rPr sz="1425" b="1">
                <a:solidFill>
                  <a:srgbClr val="008A91"/>
                </a:solidFill>
              </a:rPr>
              <a:t>Store raw results and explicit decisions. Avoid keeping only polished prose.</a:t>
            </a:r>
          </a:p>
        </p:txBody>
      </p:sp>
    </p:spTree>
    <p:extLst>
      <p:ext uri="{BB962C8B-B14F-4D97-AF65-F5344CB8AC3E}">
        <p14:creationId xmlns:p14="http://schemas.microsoft.com/office/powerpoint/2010/main" val="34255041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Picture 13">
            <a:extLst xmlns:a="http://schemas.openxmlformats.org/drawingml/2006/main">
              <a:ext uri="{FF2B5EF4-FFF2-40B4-BE49-F238E27FC236}">
                <a16:creationId xmlns:a16="http://schemas.microsoft.com/office/drawing/2014/main" id="{4E5CF3A3-F4BC-4D0F-8E72-2B9E28138500}"/>
              </a:ext>
            </a:extLst>
          </p:cNvPr>
          <p:cNvPicPr>
            <a:picLocks xmlns:a="http://schemas.openxmlformats.org/drawingml/2006/main" noChangeAspect="1"/>
          </p:cNvPicPr>
          <p:nvPr/>
        </p:nvPicPr>
        <p:blipFill>
          <a:blip xmlns:r="http://schemas.openxmlformats.org/officeDocument/2006/relationships" xmlns:a="http://schemas.openxmlformats.org/drawingml/2006/main" r:embed="R446b68f2b4994e4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8265B529-7416-4258-94E2-8EB124843F35}"/>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Stopping conditions</a:t>
            </a:r>
          </a:p>
        </p:txBody>
      </p:sp>
      <p:sp>
        <p:nvSpPr>
          <p:cNvPr id="3" name="Rounded Rectangle 2">
            <a:extLst xmlns:a="http://schemas.openxmlformats.org/drawingml/2006/main">
              <a:ext uri="{FF2B5EF4-FFF2-40B4-BE49-F238E27FC236}">
                <a16:creationId xmlns:a16="http://schemas.microsoft.com/office/drawing/2014/main" id="{C0917647-2C77-42CB-AF68-11E6578998D8}"/>
              </a:ext>
            </a:extLst>
          </p:cNvPr>
          <p:cNvSpPr>
            <a:spLocks xmlns:a="http://schemas.openxmlformats.org/drawingml/2006/main" noGrp="1"/>
          </p:cNvSpPr>
          <p:nvPr/>
        </p:nvSpPr>
        <p:spPr>
          <a:xfrm xmlns:a="http://schemas.openxmlformats.org/drawingml/2006/main">
            <a:off x="895350" y="2781300"/>
            <a:ext cx="104775" cy="104775"/>
          </a:xfrm>
          <a:prstGeom xmlns:a="http://schemas.openxmlformats.org/drawingml/2006/main" prst="roundRect">
            <a:avLst>
              <a:gd name="adj" fmla="val 18182"/>
            </a:avLst>
          </a:prstGeom>
          <a:solidFill xmlns:a="http://schemas.openxmlformats.org/drawingml/2006/main">
            <a:srgbClr val="175CE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822AF434-6FE6-4AD8-BABF-FD91537FF747}"/>
              </a:ext>
            </a:extLst>
          </p:cNvPr>
          <p:cNvSpPr>
            <a:spLocks xmlns:a="http://schemas.openxmlformats.org/drawingml/2006/main" noGrp="1"/>
          </p:cNvSpPr>
          <p:nvPr/>
        </p:nvSpPr>
        <p:spPr>
          <a:xfrm xmlns:a="http://schemas.openxmlformats.org/drawingml/2006/main">
            <a:off x="1181100" y="2667000"/>
            <a:ext cx="723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223047"/>
                </a:solidFill>
              </a:defRPr>
            </a:defPPr>
          </a:lstStyle>
          <a:p xmlns:a="http://schemas.openxmlformats.org/drawingml/2006/main">
            <a:pPr algn="l">
              <a:buNone/>
              <a:defRPr sz="1425" b="0">
                <a:solidFill>
                  <a:srgbClr val="223047"/>
                </a:solidFill>
              </a:defRPr>
            </a:pPr>
            <a:r>
              <a:rPr sz="1425" b="0">
                <a:solidFill>
                  <a:srgbClr val="223047"/>
                </a:solidFill>
              </a:rPr>
              <a:t>The task has a verifiable result</a:t>
            </a:r>
          </a:p>
        </p:txBody>
      </p:sp>
      <p:sp>
        <p:nvSpPr>
          <p:cNvPr id="5" name="Rounded Rectangle 4">
            <a:extLst xmlns:a="http://schemas.openxmlformats.org/drawingml/2006/main">
              <a:ext uri="{FF2B5EF4-FFF2-40B4-BE49-F238E27FC236}">
                <a16:creationId xmlns:a16="http://schemas.microsoft.com/office/drawing/2014/main" id="{3C5588C2-77D1-49E5-B82D-0A18800777E1}"/>
              </a:ext>
            </a:extLst>
          </p:cNvPr>
          <p:cNvSpPr>
            <a:spLocks xmlns:a="http://schemas.openxmlformats.org/drawingml/2006/main" noGrp="1"/>
          </p:cNvSpPr>
          <p:nvPr/>
        </p:nvSpPr>
        <p:spPr>
          <a:xfrm xmlns:a="http://schemas.openxmlformats.org/drawingml/2006/main">
            <a:off x="895350" y="3371850"/>
            <a:ext cx="104775" cy="104775"/>
          </a:xfrm>
          <a:prstGeom xmlns:a="http://schemas.openxmlformats.org/drawingml/2006/main" prst="roundRect">
            <a:avLst>
              <a:gd name="adj" fmla="val 18182"/>
            </a:avLst>
          </a:prstGeom>
          <a:solidFill xmlns:a="http://schemas.openxmlformats.org/drawingml/2006/main">
            <a:srgbClr val="42BCC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4FCAC179-CAA9-40CD-800A-63A0CFCF3DD2}"/>
              </a:ext>
            </a:extLst>
          </p:cNvPr>
          <p:cNvSpPr>
            <a:spLocks xmlns:a="http://schemas.openxmlformats.org/drawingml/2006/main" noGrp="1"/>
          </p:cNvSpPr>
          <p:nvPr/>
        </p:nvSpPr>
        <p:spPr>
          <a:xfrm xmlns:a="http://schemas.openxmlformats.org/drawingml/2006/main">
            <a:off x="1181100" y="3257550"/>
            <a:ext cx="723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223047"/>
                </a:solidFill>
              </a:defRPr>
            </a:defPPr>
          </a:lstStyle>
          <a:p xmlns:a="http://schemas.openxmlformats.org/drawingml/2006/main">
            <a:pPr algn="l">
              <a:buNone/>
              <a:defRPr sz="1425" b="0">
                <a:solidFill>
                  <a:srgbClr val="223047"/>
                </a:solidFill>
              </a:defRPr>
            </a:pPr>
            <a:r>
              <a:rPr sz="1425" b="0">
                <a:solidFill>
                  <a:srgbClr val="223047"/>
                </a:solidFill>
              </a:rPr>
              <a:t>The agent reaches its step limit</a:t>
            </a:r>
          </a:p>
        </p:txBody>
      </p:sp>
      <p:sp>
        <p:nvSpPr>
          <p:cNvPr id="7" name="Rounded Rectangle 6">
            <a:extLst xmlns:a="http://schemas.openxmlformats.org/drawingml/2006/main">
              <a:ext uri="{FF2B5EF4-FFF2-40B4-BE49-F238E27FC236}">
                <a16:creationId xmlns:a16="http://schemas.microsoft.com/office/drawing/2014/main" id="{F7953622-FEF3-4877-9709-3BF4EE8A0C29}"/>
              </a:ext>
            </a:extLst>
          </p:cNvPr>
          <p:cNvSpPr>
            <a:spLocks xmlns:a="http://schemas.openxmlformats.org/drawingml/2006/main" noGrp="1"/>
          </p:cNvSpPr>
          <p:nvPr/>
        </p:nvSpPr>
        <p:spPr>
          <a:xfrm xmlns:a="http://schemas.openxmlformats.org/drawingml/2006/main">
            <a:off x="895350" y="3962400"/>
            <a:ext cx="104775" cy="104775"/>
          </a:xfrm>
          <a:prstGeom xmlns:a="http://schemas.openxmlformats.org/drawingml/2006/main" prst="roundRect">
            <a:avLst>
              <a:gd name="adj" fmla="val 18182"/>
            </a:avLst>
          </a:prstGeom>
          <a:solidFill xmlns:a="http://schemas.openxmlformats.org/drawingml/2006/main">
            <a:srgbClr val="F4B9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2CDBD0A5-59B3-47C6-8CC5-AB0626D6E724}"/>
              </a:ext>
            </a:extLst>
          </p:cNvPr>
          <p:cNvSpPr>
            <a:spLocks xmlns:a="http://schemas.openxmlformats.org/drawingml/2006/main" noGrp="1"/>
          </p:cNvSpPr>
          <p:nvPr/>
        </p:nvSpPr>
        <p:spPr>
          <a:xfrm xmlns:a="http://schemas.openxmlformats.org/drawingml/2006/main">
            <a:off x="1181100" y="3848100"/>
            <a:ext cx="723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223047"/>
                </a:solidFill>
              </a:defRPr>
            </a:defPPr>
          </a:lstStyle>
          <a:p xmlns:a="http://schemas.openxmlformats.org/drawingml/2006/main">
            <a:pPr algn="l">
              <a:buNone/>
              <a:defRPr sz="1425" b="0">
                <a:solidFill>
                  <a:srgbClr val="223047"/>
                </a:solidFill>
              </a:defRPr>
            </a:pPr>
            <a:r>
              <a:rPr sz="1425" b="0">
                <a:solidFill>
                  <a:srgbClr val="223047"/>
                </a:solidFill>
              </a:rPr>
              <a:t>The time or cost budget is exhausted</a:t>
            </a:r>
          </a:p>
        </p:txBody>
      </p:sp>
      <p:sp>
        <p:nvSpPr>
          <p:cNvPr id="9" name="Rounded Rectangle 8">
            <a:extLst xmlns:a="http://schemas.openxmlformats.org/drawingml/2006/main">
              <a:ext uri="{FF2B5EF4-FFF2-40B4-BE49-F238E27FC236}">
                <a16:creationId xmlns:a16="http://schemas.microsoft.com/office/drawing/2014/main" id="{7E6A5D84-A0C6-4ABC-BED9-A68D5F7258E6}"/>
              </a:ext>
            </a:extLst>
          </p:cNvPr>
          <p:cNvSpPr>
            <a:spLocks xmlns:a="http://schemas.openxmlformats.org/drawingml/2006/main" noGrp="1"/>
          </p:cNvSpPr>
          <p:nvPr/>
        </p:nvSpPr>
        <p:spPr>
          <a:xfrm xmlns:a="http://schemas.openxmlformats.org/drawingml/2006/main">
            <a:off x="895350" y="4552950"/>
            <a:ext cx="104775" cy="104775"/>
          </a:xfrm>
          <a:prstGeom xmlns:a="http://schemas.openxmlformats.org/drawingml/2006/main" prst="roundRect">
            <a:avLst>
              <a:gd name="adj" fmla="val 18182"/>
            </a:avLst>
          </a:prstGeom>
          <a:solidFill xmlns:a="http://schemas.openxmlformats.org/drawingml/2006/main">
            <a:srgbClr val="EE7D5B"/>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6CA71C3A-623C-4FEB-8A88-F3C146A41127}"/>
              </a:ext>
            </a:extLst>
          </p:cNvPr>
          <p:cNvSpPr>
            <a:spLocks xmlns:a="http://schemas.openxmlformats.org/drawingml/2006/main" noGrp="1"/>
          </p:cNvSpPr>
          <p:nvPr/>
        </p:nvSpPr>
        <p:spPr>
          <a:xfrm xmlns:a="http://schemas.openxmlformats.org/drawingml/2006/main">
            <a:off x="1181100" y="4438650"/>
            <a:ext cx="723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223047"/>
                </a:solidFill>
              </a:defRPr>
            </a:defPPr>
          </a:lstStyle>
          <a:p xmlns:a="http://schemas.openxmlformats.org/drawingml/2006/main">
            <a:pPr algn="l">
              <a:buNone/>
              <a:defRPr sz="1425" b="0">
                <a:solidFill>
                  <a:srgbClr val="223047"/>
                </a:solidFill>
              </a:defRPr>
            </a:pPr>
            <a:r>
              <a:rPr sz="1425" b="0">
                <a:solidFill>
                  <a:srgbClr val="223047"/>
                </a:solidFill>
              </a:rPr>
              <a:t>The controller detects repeated actions</a:t>
            </a:r>
          </a:p>
        </p:txBody>
      </p:sp>
      <p:sp>
        <p:nvSpPr>
          <p:cNvPr id="11" name="Rounded Rectangle 10">
            <a:extLst xmlns:a="http://schemas.openxmlformats.org/drawingml/2006/main">
              <a:ext uri="{FF2B5EF4-FFF2-40B4-BE49-F238E27FC236}">
                <a16:creationId xmlns:a16="http://schemas.microsoft.com/office/drawing/2014/main" id="{30D87F9A-DE6D-440F-8855-1D524B1808A1}"/>
              </a:ext>
            </a:extLst>
          </p:cNvPr>
          <p:cNvSpPr>
            <a:spLocks xmlns:a="http://schemas.openxmlformats.org/drawingml/2006/main" noGrp="1"/>
          </p:cNvSpPr>
          <p:nvPr/>
        </p:nvSpPr>
        <p:spPr>
          <a:xfrm xmlns:a="http://schemas.openxmlformats.org/drawingml/2006/main">
            <a:off x="895350" y="5143500"/>
            <a:ext cx="104775" cy="104775"/>
          </a:xfrm>
          <a:prstGeom xmlns:a="http://schemas.openxmlformats.org/drawingml/2006/main" prst="roundRect">
            <a:avLst>
              <a:gd name="adj" fmla="val 18182"/>
            </a:avLst>
          </a:prstGeom>
          <a:solidFill xmlns:a="http://schemas.openxmlformats.org/drawingml/2006/main">
            <a:srgbClr val="008A91"/>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27885404-E991-4692-9055-6B751F9135E4}"/>
              </a:ext>
            </a:extLst>
          </p:cNvPr>
          <p:cNvSpPr>
            <a:spLocks xmlns:a="http://schemas.openxmlformats.org/drawingml/2006/main" noGrp="1"/>
          </p:cNvSpPr>
          <p:nvPr/>
        </p:nvSpPr>
        <p:spPr>
          <a:xfrm xmlns:a="http://schemas.openxmlformats.org/drawingml/2006/main">
            <a:off x="1181100" y="5029200"/>
            <a:ext cx="723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223047"/>
                </a:solidFill>
              </a:defRPr>
            </a:defPPr>
          </a:lstStyle>
          <a:p xmlns:a="http://schemas.openxmlformats.org/drawingml/2006/main">
            <a:pPr algn="l">
              <a:buNone/>
              <a:defRPr sz="1425" b="0">
                <a:solidFill>
                  <a:srgbClr val="223047"/>
                </a:solidFill>
              </a:defRPr>
            </a:pPr>
            <a:r>
              <a:rPr sz="1425" b="0">
                <a:solidFill>
                  <a:srgbClr val="223047"/>
                </a:solidFill>
              </a:rPr>
              <a:t>The next action requires human approval</a:t>
            </a:r>
          </a:p>
        </p:txBody>
      </p:sp>
      <p:sp>
        <p:nvSpPr>
          <p:cNvPr id="13" name="Rectangle 12">
            <a:extLst xmlns:a="http://schemas.openxmlformats.org/drawingml/2006/main">
              <a:ext uri="{FF2B5EF4-FFF2-40B4-BE49-F238E27FC236}">
                <a16:creationId xmlns:a16="http://schemas.microsoft.com/office/drawing/2014/main" id="{92F20900-F9DF-47B6-B52E-FC3B3DAE91AB}"/>
              </a:ext>
            </a:extLst>
          </p:cNvPr>
          <p:cNvSpPr>
            <a:spLocks xmlns:a="http://schemas.openxmlformats.org/drawingml/2006/main" noGrp="1"/>
          </p:cNvSpPr>
          <p:nvPr/>
        </p:nvSpPr>
        <p:spPr>
          <a:xfrm xmlns:a="http://schemas.openxmlformats.org/drawingml/2006/main">
            <a:off x="6991350" y="4762500"/>
            <a:ext cx="3714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203D67"/>
                </a:solidFill>
              </a:defRPr>
            </a:defPPr>
          </a:lstStyle>
          <a:p xmlns:a="http://schemas.openxmlformats.org/drawingml/2006/main">
            <a:pPr algn="ctr">
              <a:buNone/>
              <a:defRPr sz="1425" b="1">
                <a:solidFill>
                  <a:srgbClr val="203D67"/>
                </a:solidFill>
              </a:defRPr>
            </a:pPr>
            <a:r>
              <a:rPr sz="1425" b="1">
                <a:solidFill>
                  <a:srgbClr val="203D67"/>
                </a:solidFill>
              </a:rPr>
              <a:t>A maximum-step limit protects the system. A success condition tells it when to stop early.</a:t>
            </a:r>
          </a:p>
        </p:txBody>
      </p:sp>
    </p:spTree>
    <p:extLst>
      <p:ext uri="{BB962C8B-B14F-4D97-AF65-F5344CB8AC3E}">
        <p14:creationId xmlns:p14="http://schemas.microsoft.com/office/powerpoint/2010/main" val="40340403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Picture 13">
            <a:extLst xmlns:a="http://schemas.openxmlformats.org/drawingml/2006/main">
              <a:ext uri="{FF2B5EF4-FFF2-40B4-BE49-F238E27FC236}">
                <a16:creationId xmlns:a16="http://schemas.microsoft.com/office/drawing/2014/main" id="{9A4CC0DD-3F36-4086-B3B9-6ADAAF8E5DED}"/>
              </a:ext>
            </a:extLst>
          </p:cNvPr>
          <p:cNvPicPr>
            <a:picLocks xmlns:a="http://schemas.openxmlformats.org/drawingml/2006/main" noChangeAspect="1"/>
          </p:cNvPicPr>
          <p:nvPr/>
        </p:nvPicPr>
        <p:blipFill>
          <a:blip xmlns:r="http://schemas.openxmlformats.org/officeDocument/2006/relationships" xmlns:a="http://schemas.openxmlformats.org/drawingml/2006/main" r:embed="R9a6d0a7d06af4f1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666D3DB6-773E-4394-9B5B-FE3583E808AF}"/>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Common agent-loop failures</a:t>
            </a:r>
          </a:p>
        </p:txBody>
      </p:sp>
      <p:sp>
        <p:nvSpPr>
          <p:cNvPr id="3" name="Rectangle 2">
            <a:extLst xmlns:a="http://schemas.openxmlformats.org/drawingml/2006/main">
              <a:ext uri="{FF2B5EF4-FFF2-40B4-BE49-F238E27FC236}">
                <a16:creationId xmlns:a16="http://schemas.microsoft.com/office/drawing/2014/main" id="{A4E718FA-2B1B-49F2-8D7D-A57D3389828E}"/>
              </a:ext>
            </a:extLst>
          </p:cNvPr>
          <p:cNvSpPr>
            <a:spLocks xmlns:a="http://schemas.openxmlformats.org/drawingml/2006/main" noGrp="1"/>
          </p:cNvSpPr>
          <p:nvPr/>
        </p:nvSpPr>
        <p:spPr>
          <a:xfrm xmlns:a="http://schemas.openxmlformats.org/drawingml/2006/main">
            <a:off x="857250" y="257175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EE7D5B"/>
                </a:solidFill>
              </a:defRPr>
            </a:defPPr>
          </a:lstStyle>
          <a:p xmlns:a="http://schemas.openxmlformats.org/drawingml/2006/main">
            <a:pPr algn="l">
              <a:buNone/>
              <a:defRPr sz="1425" b="1">
                <a:solidFill>
                  <a:srgbClr val="EE7D5B"/>
                </a:solidFill>
              </a:defRPr>
            </a:pPr>
            <a:r>
              <a:rPr sz="1425" b="1">
                <a:solidFill>
                  <a:srgbClr val="EE7D5B"/>
                </a:solidFill>
              </a:rPr>
              <a:t>Looping</a:t>
            </a:r>
          </a:p>
        </p:txBody>
      </p:sp>
      <p:sp>
        <p:nvSpPr>
          <p:cNvPr id="4" name="Rectangle 3">
            <a:extLst xmlns:a="http://schemas.openxmlformats.org/drawingml/2006/main">
              <a:ext uri="{FF2B5EF4-FFF2-40B4-BE49-F238E27FC236}">
                <a16:creationId xmlns:a16="http://schemas.microsoft.com/office/drawing/2014/main" id="{474A623F-913D-4FA7-8321-0C70B1207ABA}"/>
              </a:ext>
            </a:extLst>
          </p:cNvPr>
          <p:cNvSpPr>
            <a:spLocks xmlns:a="http://schemas.openxmlformats.org/drawingml/2006/main" noGrp="1"/>
          </p:cNvSpPr>
          <p:nvPr/>
        </p:nvSpPr>
        <p:spPr>
          <a:xfrm xmlns:a="http://schemas.openxmlformats.org/drawingml/2006/main">
            <a:off x="3124200" y="25717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Repeats a tool call without learning</a:t>
            </a:r>
          </a:p>
        </p:txBody>
      </p:sp>
      <p:sp>
        <p:nvSpPr>
          <p:cNvPr id="5" name="Rectangle 4">
            <a:extLst xmlns:a="http://schemas.openxmlformats.org/drawingml/2006/main">
              <a:ext uri="{FF2B5EF4-FFF2-40B4-BE49-F238E27FC236}">
                <a16:creationId xmlns:a16="http://schemas.microsoft.com/office/drawing/2014/main" id="{C49EABA7-E5A0-4DC7-869A-27AC136C01F0}"/>
              </a:ext>
            </a:extLst>
          </p:cNvPr>
          <p:cNvSpPr>
            <a:spLocks xmlns:a="http://schemas.openxmlformats.org/drawingml/2006/main" noGrp="1"/>
          </p:cNvSpPr>
          <p:nvPr/>
        </p:nvSpPr>
        <p:spPr>
          <a:xfrm xmlns:a="http://schemas.openxmlformats.org/drawingml/2006/main">
            <a:off x="857250" y="320040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008A91"/>
                </a:solidFill>
              </a:defRPr>
            </a:defPPr>
          </a:lstStyle>
          <a:p xmlns:a="http://schemas.openxmlformats.org/drawingml/2006/main">
            <a:pPr algn="l">
              <a:buNone/>
              <a:defRPr sz="1425" b="1">
                <a:solidFill>
                  <a:srgbClr val="008A91"/>
                </a:solidFill>
              </a:defRPr>
            </a:pPr>
            <a:r>
              <a:rPr sz="1425" b="1">
                <a:solidFill>
                  <a:srgbClr val="008A91"/>
                </a:solidFill>
              </a:rPr>
              <a:t>Bad arguments</a:t>
            </a:r>
          </a:p>
        </p:txBody>
      </p:sp>
      <p:sp>
        <p:nvSpPr>
          <p:cNvPr id="6" name="Rectangle 5">
            <a:extLst xmlns:a="http://schemas.openxmlformats.org/drawingml/2006/main">
              <a:ext uri="{FF2B5EF4-FFF2-40B4-BE49-F238E27FC236}">
                <a16:creationId xmlns:a16="http://schemas.microsoft.com/office/drawing/2014/main" id="{F346D0A1-0349-40AB-A8EC-4528297BA27B}"/>
              </a:ext>
            </a:extLst>
          </p:cNvPr>
          <p:cNvSpPr>
            <a:spLocks xmlns:a="http://schemas.openxmlformats.org/drawingml/2006/main" noGrp="1"/>
          </p:cNvSpPr>
          <p:nvPr/>
        </p:nvSpPr>
        <p:spPr>
          <a:xfrm xmlns:a="http://schemas.openxmlformats.org/drawingml/2006/main">
            <a:off x="3124200" y="320040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Produces malformed or unsafe inputs</a:t>
            </a:r>
          </a:p>
        </p:txBody>
      </p:sp>
      <p:sp>
        <p:nvSpPr>
          <p:cNvPr id="7" name="Rectangle 6">
            <a:extLst xmlns:a="http://schemas.openxmlformats.org/drawingml/2006/main">
              <a:ext uri="{FF2B5EF4-FFF2-40B4-BE49-F238E27FC236}">
                <a16:creationId xmlns:a16="http://schemas.microsoft.com/office/drawing/2014/main" id="{789A21C2-94BD-424A-B8C8-787ED16D92BE}"/>
              </a:ext>
            </a:extLst>
          </p:cNvPr>
          <p:cNvSpPr>
            <a:spLocks xmlns:a="http://schemas.openxmlformats.org/drawingml/2006/main" noGrp="1"/>
          </p:cNvSpPr>
          <p:nvPr/>
        </p:nvSpPr>
        <p:spPr>
          <a:xfrm xmlns:a="http://schemas.openxmlformats.org/drawingml/2006/main">
            <a:off x="857250" y="382905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EE7D5B"/>
                </a:solidFill>
              </a:defRPr>
            </a:defPPr>
          </a:lstStyle>
          <a:p xmlns:a="http://schemas.openxmlformats.org/drawingml/2006/main">
            <a:pPr algn="l">
              <a:buNone/>
              <a:defRPr sz="1425" b="1">
                <a:solidFill>
                  <a:srgbClr val="EE7D5B"/>
                </a:solidFill>
              </a:defRPr>
            </a:pPr>
            <a:r>
              <a:rPr sz="1425" b="1">
                <a:solidFill>
                  <a:srgbClr val="EE7D5B"/>
                </a:solidFill>
              </a:rPr>
              <a:t>Error blindness</a:t>
            </a:r>
          </a:p>
        </p:txBody>
      </p:sp>
      <p:sp>
        <p:nvSpPr>
          <p:cNvPr id="8" name="Rectangle 7">
            <a:extLst xmlns:a="http://schemas.openxmlformats.org/drawingml/2006/main">
              <a:ext uri="{FF2B5EF4-FFF2-40B4-BE49-F238E27FC236}">
                <a16:creationId xmlns:a16="http://schemas.microsoft.com/office/drawing/2014/main" id="{D1A5B53F-1A66-4838-8B61-E1C8AB75E69B}"/>
              </a:ext>
            </a:extLst>
          </p:cNvPr>
          <p:cNvSpPr>
            <a:spLocks xmlns:a="http://schemas.openxmlformats.org/drawingml/2006/main" noGrp="1"/>
          </p:cNvSpPr>
          <p:nvPr/>
        </p:nvSpPr>
        <p:spPr>
          <a:xfrm xmlns:a="http://schemas.openxmlformats.org/drawingml/2006/main">
            <a:off x="3124200" y="38290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Ignores tool failures</a:t>
            </a:r>
          </a:p>
        </p:txBody>
      </p:sp>
      <p:sp>
        <p:nvSpPr>
          <p:cNvPr id="9" name="Rectangle 8">
            <a:extLst xmlns:a="http://schemas.openxmlformats.org/drawingml/2006/main">
              <a:ext uri="{FF2B5EF4-FFF2-40B4-BE49-F238E27FC236}">
                <a16:creationId xmlns:a16="http://schemas.microsoft.com/office/drawing/2014/main" id="{3DB44574-434C-4D96-9B25-19180D9805AE}"/>
              </a:ext>
            </a:extLst>
          </p:cNvPr>
          <p:cNvSpPr>
            <a:spLocks xmlns:a="http://schemas.openxmlformats.org/drawingml/2006/main" noGrp="1"/>
          </p:cNvSpPr>
          <p:nvPr/>
        </p:nvSpPr>
        <p:spPr>
          <a:xfrm xmlns:a="http://schemas.openxmlformats.org/drawingml/2006/main">
            <a:off x="857250" y="445770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008A91"/>
                </a:solidFill>
              </a:defRPr>
            </a:defPPr>
          </a:lstStyle>
          <a:p xmlns:a="http://schemas.openxmlformats.org/drawingml/2006/main">
            <a:pPr algn="l">
              <a:buNone/>
              <a:defRPr sz="1425" b="1">
                <a:solidFill>
                  <a:srgbClr val="008A91"/>
                </a:solidFill>
              </a:defRPr>
            </a:pPr>
            <a:r>
              <a:rPr sz="1425" b="1">
                <a:solidFill>
                  <a:srgbClr val="008A91"/>
                </a:solidFill>
              </a:rPr>
              <a:t>Early answer</a:t>
            </a:r>
          </a:p>
        </p:txBody>
      </p:sp>
      <p:sp>
        <p:nvSpPr>
          <p:cNvPr id="10" name="Rectangle 9">
            <a:extLst xmlns:a="http://schemas.openxmlformats.org/drawingml/2006/main">
              <a:ext uri="{FF2B5EF4-FFF2-40B4-BE49-F238E27FC236}">
                <a16:creationId xmlns:a16="http://schemas.microsoft.com/office/drawing/2014/main" id="{03791102-BBFE-4B11-82EF-A36CE10368CF}"/>
              </a:ext>
            </a:extLst>
          </p:cNvPr>
          <p:cNvSpPr>
            <a:spLocks xmlns:a="http://schemas.openxmlformats.org/drawingml/2006/main" noGrp="1"/>
          </p:cNvSpPr>
          <p:nvPr/>
        </p:nvSpPr>
        <p:spPr>
          <a:xfrm xmlns:a="http://schemas.openxmlformats.org/drawingml/2006/main">
            <a:off x="3124200" y="445770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Stops before gathering enough evidence</a:t>
            </a:r>
          </a:p>
        </p:txBody>
      </p:sp>
      <p:sp>
        <p:nvSpPr>
          <p:cNvPr id="11" name="Rectangle 10">
            <a:extLst xmlns:a="http://schemas.openxmlformats.org/drawingml/2006/main">
              <a:ext uri="{FF2B5EF4-FFF2-40B4-BE49-F238E27FC236}">
                <a16:creationId xmlns:a16="http://schemas.microsoft.com/office/drawing/2014/main" id="{37A2B9BA-BF20-44CB-B522-22FE713DF791}"/>
              </a:ext>
            </a:extLst>
          </p:cNvPr>
          <p:cNvSpPr>
            <a:spLocks xmlns:a="http://schemas.openxmlformats.org/drawingml/2006/main" noGrp="1"/>
          </p:cNvSpPr>
          <p:nvPr/>
        </p:nvSpPr>
        <p:spPr>
          <a:xfrm xmlns:a="http://schemas.openxmlformats.org/drawingml/2006/main">
            <a:off x="857250" y="508635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EE7D5B"/>
                </a:solidFill>
              </a:defRPr>
            </a:defPPr>
          </a:lstStyle>
          <a:p xmlns:a="http://schemas.openxmlformats.org/drawingml/2006/main">
            <a:pPr algn="l">
              <a:buNone/>
              <a:defRPr sz="1425" b="1">
                <a:solidFill>
                  <a:srgbClr val="EE7D5B"/>
                </a:solidFill>
              </a:defRPr>
            </a:pPr>
            <a:r>
              <a:rPr sz="1425" b="1">
                <a:solidFill>
                  <a:srgbClr val="EE7D5B"/>
                </a:solidFill>
              </a:rPr>
              <a:t>Context overload</a:t>
            </a:r>
          </a:p>
        </p:txBody>
      </p:sp>
      <p:sp>
        <p:nvSpPr>
          <p:cNvPr id="12" name="Rectangle 11">
            <a:extLst xmlns:a="http://schemas.openxmlformats.org/drawingml/2006/main">
              <a:ext uri="{FF2B5EF4-FFF2-40B4-BE49-F238E27FC236}">
                <a16:creationId xmlns:a16="http://schemas.microsoft.com/office/drawing/2014/main" id="{95BD2FDC-6406-4475-A028-4709F9F62CEC}"/>
              </a:ext>
            </a:extLst>
          </p:cNvPr>
          <p:cNvSpPr>
            <a:spLocks xmlns:a="http://schemas.openxmlformats.org/drawingml/2006/main" noGrp="1"/>
          </p:cNvSpPr>
          <p:nvPr/>
        </p:nvSpPr>
        <p:spPr>
          <a:xfrm xmlns:a="http://schemas.openxmlformats.org/drawingml/2006/main">
            <a:off x="3124200" y="50863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Carries too much irrelevant history</a:t>
            </a:r>
          </a:p>
        </p:txBody>
      </p:sp>
      <p:sp>
        <p:nvSpPr>
          <p:cNvPr id="13" name="Rectangle 12">
            <a:extLst xmlns:a="http://schemas.openxmlformats.org/drawingml/2006/main">
              <a:ext uri="{FF2B5EF4-FFF2-40B4-BE49-F238E27FC236}">
                <a16:creationId xmlns:a16="http://schemas.microsoft.com/office/drawing/2014/main" id="{0D483CA0-F867-4087-A2F1-07627E37DBA6}"/>
              </a:ext>
            </a:extLst>
          </p:cNvPr>
          <p:cNvSpPr>
            <a:spLocks xmlns:a="http://schemas.openxmlformats.org/drawingml/2006/main" noGrp="1"/>
          </p:cNvSpPr>
          <p:nvPr/>
        </p:nvSpPr>
        <p:spPr>
          <a:xfrm xmlns:a="http://schemas.openxmlformats.org/drawingml/2006/main">
            <a:off x="6191250" y="5391150"/>
            <a:ext cx="4381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203D67"/>
                </a:solidFill>
              </a:defRPr>
            </a:defPPr>
          </a:lstStyle>
          <a:p xmlns:a="http://schemas.openxmlformats.org/drawingml/2006/main">
            <a:pPr algn="ctr">
              <a:buNone/>
              <a:defRPr sz="1350" b="1">
                <a:solidFill>
                  <a:srgbClr val="203D67"/>
                </a:solidFill>
              </a:defRPr>
            </a:pPr>
            <a:r>
              <a:rPr sz="1350" b="1">
                <a:solidFill>
                  <a:srgbClr val="203D67"/>
                </a:solidFill>
              </a:rPr>
              <a:t>Most failures become visible only when the full trace is recorded</a:t>
            </a:r>
          </a:p>
        </p:txBody>
      </p:sp>
    </p:spTree>
    <p:extLst>
      <p:ext uri="{BB962C8B-B14F-4D97-AF65-F5344CB8AC3E}">
        <p14:creationId xmlns:p14="http://schemas.microsoft.com/office/powerpoint/2010/main" val="160248311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Picture 13">
            <a:extLst xmlns:a="http://schemas.openxmlformats.org/drawingml/2006/main">
              <a:ext uri="{FF2B5EF4-FFF2-40B4-BE49-F238E27FC236}">
                <a16:creationId xmlns:a16="http://schemas.microsoft.com/office/drawing/2014/main" id="{E95C4F8B-2319-4D60-BB90-B7F354573D53}"/>
              </a:ext>
            </a:extLst>
          </p:cNvPr>
          <p:cNvPicPr>
            <a:picLocks xmlns:a="http://schemas.openxmlformats.org/drawingml/2006/main" noChangeAspect="1"/>
          </p:cNvPicPr>
          <p:nvPr/>
        </p:nvPicPr>
        <p:blipFill>
          <a:blip xmlns:r="http://schemas.openxmlformats.org/officeDocument/2006/relationships" xmlns:a="http://schemas.openxmlformats.org/drawingml/2006/main" r:embed="R1c425a24916f4a8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507AA53D-D01E-40D0-BDCF-3A96E37758D9}"/>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Tools give agents capabilities</a:t>
            </a:r>
          </a:p>
        </p:txBody>
      </p:sp>
      <p:sp>
        <p:nvSpPr>
          <p:cNvPr id="3" name="Rectangle 2">
            <a:extLst xmlns:a="http://schemas.openxmlformats.org/drawingml/2006/main">
              <a:ext uri="{FF2B5EF4-FFF2-40B4-BE49-F238E27FC236}">
                <a16:creationId xmlns:a16="http://schemas.microsoft.com/office/drawing/2014/main" id="{FC9756EC-B468-4675-AAE7-F02A4263ADA4}"/>
              </a:ext>
            </a:extLst>
          </p:cNvPr>
          <p:cNvSpPr>
            <a:spLocks xmlns:a="http://schemas.openxmlformats.org/drawingml/2006/main" noGrp="1"/>
          </p:cNvSpPr>
          <p:nvPr/>
        </p:nvSpPr>
        <p:spPr>
          <a:xfrm xmlns:a="http://schemas.openxmlformats.org/drawingml/2006/main">
            <a:off x="781050" y="2533650"/>
            <a:ext cx="1714500" cy="438150"/>
          </a:xfrm>
          <a:prstGeom xmlns:a="http://schemas.openxmlformats.org/drawingml/2006/main" prst="rect">
            <a:avLst/>
          </a:prstGeom>
          <a:solidFill xmlns:a="http://schemas.openxmlformats.org/drawingml/2006/main">
            <a:srgbClr val="E7EEFC"/>
          </a:solidFill>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203D67"/>
                </a:solidFill>
              </a:defRPr>
            </a:defPPr>
          </a:lstStyle>
          <a:p xmlns:a="http://schemas.openxmlformats.org/drawingml/2006/main">
            <a:pPr algn="ctr">
              <a:buNone/>
              <a:defRPr sz="1425" b="1">
                <a:solidFill>
                  <a:srgbClr val="203D67"/>
                </a:solidFill>
              </a:defRPr>
            </a:pPr>
            <a:r>
              <a:rPr sz="1425" b="1">
                <a:solidFill>
                  <a:srgbClr val="203D67"/>
                </a:solidFill>
              </a:rPr>
              <a:t>Search</a:t>
            </a:r>
          </a:p>
        </p:txBody>
      </p:sp>
      <p:sp>
        <p:nvSpPr>
          <p:cNvPr id="4" name="Rectangle 3">
            <a:extLst xmlns:a="http://schemas.openxmlformats.org/drawingml/2006/main">
              <a:ext uri="{FF2B5EF4-FFF2-40B4-BE49-F238E27FC236}">
                <a16:creationId xmlns:a16="http://schemas.microsoft.com/office/drawing/2014/main" id="{474964D1-F48F-47EE-ADE9-E2E978D07C8F}"/>
              </a:ext>
            </a:extLst>
          </p:cNvPr>
          <p:cNvSpPr>
            <a:spLocks xmlns:a="http://schemas.openxmlformats.org/drawingml/2006/main" noGrp="1"/>
          </p:cNvSpPr>
          <p:nvPr/>
        </p:nvSpPr>
        <p:spPr>
          <a:xfrm xmlns:a="http://schemas.openxmlformats.org/drawingml/2006/main">
            <a:off x="2819400" y="253365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Current information</a:t>
            </a:r>
          </a:p>
        </p:txBody>
      </p:sp>
      <p:sp>
        <p:nvSpPr>
          <p:cNvPr id="5" name="Rectangle 4">
            <a:extLst xmlns:a="http://schemas.openxmlformats.org/drawingml/2006/main">
              <a:ext uri="{FF2B5EF4-FFF2-40B4-BE49-F238E27FC236}">
                <a16:creationId xmlns:a16="http://schemas.microsoft.com/office/drawing/2014/main" id="{5C3B3045-B006-4F38-B253-AEB78A07211A}"/>
              </a:ext>
            </a:extLst>
          </p:cNvPr>
          <p:cNvSpPr>
            <a:spLocks xmlns:a="http://schemas.openxmlformats.org/drawingml/2006/main" noGrp="1"/>
          </p:cNvSpPr>
          <p:nvPr/>
        </p:nvSpPr>
        <p:spPr>
          <a:xfrm xmlns:a="http://schemas.openxmlformats.org/drawingml/2006/main">
            <a:off x="781050" y="3143250"/>
            <a:ext cx="1714500" cy="438150"/>
          </a:xfrm>
          <a:prstGeom xmlns:a="http://schemas.openxmlformats.org/drawingml/2006/main" prst="rect">
            <a:avLst/>
          </a:prstGeom>
          <a:solidFill xmlns:a="http://schemas.openxmlformats.org/drawingml/2006/main">
            <a:srgbClr val="E1F4F3"/>
          </a:solidFill>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203D67"/>
                </a:solidFill>
              </a:defRPr>
            </a:defPPr>
          </a:lstStyle>
          <a:p xmlns:a="http://schemas.openxmlformats.org/drawingml/2006/main">
            <a:pPr algn="ctr">
              <a:buNone/>
              <a:defRPr sz="1425" b="1">
                <a:solidFill>
                  <a:srgbClr val="203D67"/>
                </a:solidFill>
              </a:defRPr>
            </a:pPr>
            <a:r>
              <a:rPr sz="1425" b="1">
                <a:solidFill>
                  <a:srgbClr val="203D67"/>
                </a:solidFill>
              </a:rPr>
              <a:t>Retrieval</a:t>
            </a:r>
          </a:p>
        </p:txBody>
      </p:sp>
      <p:sp>
        <p:nvSpPr>
          <p:cNvPr id="6" name="Rectangle 5">
            <a:extLst xmlns:a="http://schemas.openxmlformats.org/drawingml/2006/main">
              <a:ext uri="{FF2B5EF4-FFF2-40B4-BE49-F238E27FC236}">
                <a16:creationId xmlns:a16="http://schemas.microsoft.com/office/drawing/2014/main" id="{5525A0EA-9D37-43BD-8E04-5F5932453417}"/>
              </a:ext>
            </a:extLst>
          </p:cNvPr>
          <p:cNvSpPr>
            <a:spLocks xmlns:a="http://schemas.openxmlformats.org/drawingml/2006/main" noGrp="1"/>
          </p:cNvSpPr>
          <p:nvPr/>
        </p:nvSpPr>
        <p:spPr>
          <a:xfrm xmlns:a="http://schemas.openxmlformats.org/drawingml/2006/main">
            <a:off x="2819400" y="314325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Private knowledge</a:t>
            </a:r>
          </a:p>
        </p:txBody>
      </p:sp>
      <p:sp>
        <p:nvSpPr>
          <p:cNvPr id="7" name="Rectangle 6">
            <a:extLst xmlns:a="http://schemas.openxmlformats.org/drawingml/2006/main">
              <a:ext uri="{FF2B5EF4-FFF2-40B4-BE49-F238E27FC236}">
                <a16:creationId xmlns:a16="http://schemas.microsoft.com/office/drawing/2014/main" id="{5A1363B7-EA57-40F2-9ACD-4D72AA0931DC}"/>
              </a:ext>
            </a:extLst>
          </p:cNvPr>
          <p:cNvSpPr>
            <a:spLocks xmlns:a="http://schemas.openxmlformats.org/drawingml/2006/main" noGrp="1"/>
          </p:cNvSpPr>
          <p:nvPr/>
        </p:nvSpPr>
        <p:spPr>
          <a:xfrm xmlns:a="http://schemas.openxmlformats.org/drawingml/2006/main">
            <a:off x="781050" y="3752850"/>
            <a:ext cx="1714500" cy="438150"/>
          </a:xfrm>
          <a:prstGeom xmlns:a="http://schemas.openxmlformats.org/drawingml/2006/main" prst="rect">
            <a:avLst/>
          </a:prstGeom>
          <a:solidFill xmlns:a="http://schemas.openxmlformats.org/drawingml/2006/main">
            <a:srgbClr val="FFF2C2"/>
          </a:solidFill>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203D67"/>
                </a:solidFill>
              </a:defRPr>
            </a:defPPr>
          </a:lstStyle>
          <a:p xmlns:a="http://schemas.openxmlformats.org/drawingml/2006/main">
            <a:pPr algn="ctr">
              <a:buNone/>
              <a:defRPr sz="1425" b="1">
                <a:solidFill>
                  <a:srgbClr val="203D67"/>
                </a:solidFill>
              </a:defRPr>
            </a:pPr>
            <a:r>
              <a:rPr sz="1425" b="1">
                <a:solidFill>
                  <a:srgbClr val="203D67"/>
                </a:solidFill>
              </a:rPr>
              <a:t>Calculator</a:t>
            </a:r>
          </a:p>
        </p:txBody>
      </p:sp>
      <p:sp>
        <p:nvSpPr>
          <p:cNvPr id="8" name="Rectangle 7">
            <a:extLst xmlns:a="http://schemas.openxmlformats.org/drawingml/2006/main">
              <a:ext uri="{FF2B5EF4-FFF2-40B4-BE49-F238E27FC236}">
                <a16:creationId xmlns:a16="http://schemas.microsoft.com/office/drawing/2014/main" id="{BB60AEC1-CD89-4B63-96DD-5E283A313F98}"/>
              </a:ext>
            </a:extLst>
          </p:cNvPr>
          <p:cNvSpPr>
            <a:spLocks xmlns:a="http://schemas.openxmlformats.org/drawingml/2006/main" noGrp="1"/>
          </p:cNvSpPr>
          <p:nvPr/>
        </p:nvSpPr>
        <p:spPr>
          <a:xfrm xmlns:a="http://schemas.openxmlformats.org/drawingml/2006/main">
            <a:off x="2819400" y="375285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Exact computation</a:t>
            </a:r>
          </a:p>
        </p:txBody>
      </p:sp>
      <p:sp>
        <p:nvSpPr>
          <p:cNvPr id="9" name="Rectangle 8">
            <a:extLst xmlns:a="http://schemas.openxmlformats.org/drawingml/2006/main">
              <a:ext uri="{FF2B5EF4-FFF2-40B4-BE49-F238E27FC236}">
                <a16:creationId xmlns:a16="http://schemas.microsoft.com/office/drawing/2014/main" id="{B3AC34C7-646A-4FB4-80D6-FBE42678926F}"/>
              </a:ext>
            </a:extLst>
          </p:cNvPr>
          <p:cNvSpPr>
            <a:spLocks xmlns:a="http://schemas.openxmlformats.org/drawingml/2006/main" noGrp="1"/>
          </p:cNvSpPr>
          <p:nvPr/>
        </p:nvSpPr>
        <p:spPr>
          <a:xfrm xmlns:a="http://schemas.openxmlformats.org/drawingml/2006/main">
            <a:off x="781050" y="4362450"/>
            <a:ext cx="1714500" cy="438150"/>
          </a:xfrm>
          <a:prstGeom xmlns:a="http://schemas.openxmlformats.org/drawingml/2006/main" prst="rect">
            <a:avLst/>
          </a:prstGeom>
          <a:solidFill xmlns:a="http://schemas.openxmlformats.org/drawingml/2006/main">
            <a:srgbClr val="FDE8E1"/>
          </a:solidFill>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203D67"/>
                </a:solidFill>
              </a:defRPr>
            </a:defPPr>
          </a:lstStyle>
          <a:p xmlns:a="http://schemas.openxmlformats.org/drawingml/2006/main">
            <a:pPr algn="ctr">
              <a:buNone/>
              <a:defRPr sz="1425" b="1">
                <a:solidFill>
                  <a:srgbClr val="203D67"/>
                </a:solidFill>
              </a:defRPr>
            </a:pPr>
            <a:r>
              <a:rPr sz="1425" b="1">
                <a:solidFill>
                  <a:srgbClr val="203D67"/>
                </a:solidFill>
              </a:rPr>
              <a:t>API</a:t>
            </a:r>
          </a:p>
        </p:txBody>
      </p:sp>
      <p:sp>
        <p:nvSpPr>
          <p:cNvPr id="10" name="Rectangle 9">
            <a:extLst xmlns:a="http://schemas.openxmlformats.org/drawingml/2006/main">
              <a:ext uri="{FF2B5EF4-FFF2-40B4-BE49-F238E27FC236}">
                <a16:creationId xmlns:a16="http://schemas.microsoft.com/office/drawing/2014/main" id="{E0B6ED89-D46F-4EE9-B1D0-D2D8E4879AE3}"/>
              </a:ext>
            </a:extLst>
          </p:cNvPr>
          <p:cNvSpPr>
            <a:spLocks xmlns:a="http://schemas.openxmlformats.org/drawingml/2006/main" noGrp="1"/>
          </p:cNvSpPr>
          <p:nvPr/>
        </p:nvSpPr>
        <p:spPr>
          <a:xfrm xmlns:a="http://schemas.openxmlformats.org/drawingml/2006/main">
            <a:off x="2819400" y="436245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External systems</a:t>
            </a:r>
          </a:p>
        </p:txBody>
      </p:sp>
      <p:sp>
        <p:nvSpPr>
          <p:cNvPr id="11" name="Rectangle 10">
            <a:extLst xmlns:a="http://schemas.openxmlformats.org/drawingml/2006/main">
              <a:ext uri="{FF2B5EF4-FFF2-40B4-BE49-F238E27FC236}">
                <a16:creationId xmlns:a16="http://schemas.microsoft.com/office/drawing/2014/main" id="{37D11679-8215-40CB-8E74-2BE3681DE6C1}"/>
              </a:ext>
            </a:extLst>
          </p:cNvPr>
          <p:cNvSpPr>
            <a:spLocks xmlns:a="http://schemas.openxmlformats.org/drawingml/2006/main" noGrp="1"/>
          </p:cNvSpPr>
          <p:nvPr/>
        </p:nvSpPr>
        <p:spPr>
          <a:xfrm xmlns:a="http://schemas.openxmlformats.org/drawingml/2006/main">
            <a:off x="781050" y="4972050"/>
            <a:ext cx="1714500" cy="438150"/>
          </a:xfrm>
          <a:prstGeom xmlns:a="http://schemas.openxmlformats.org/drawingml/2006/main" prst="rect">
            <a:avLst/>
          </a:prstGeom>
          <a:solidFill xmlns:a="http://schemas.openxmlformats.org/drawingml/2006/main">
            <a:srgbClr val="E7EEFC"/>
          </a:solidFill>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203D67"/>
                </a:solidFill>
              </a:defRPr>
            </a:defPPr>
          </a:lstStyle>
          <a:p xmlns:a="http://schemas.openxmlformats.org/drawingml/2006/main">
            <a:pPr algn="ctr">
              <a:buNone/>
              <a:defRPr sz="1425" b="1">
                <a:solidFill>
                  <a:srgbClr val="203D67"/>
                </a:solidFill>
              </a:defRPr>
            </a:pPr>
            <a:r>
              <a:rPr sz="1425" b="1">
                <a:solidFill>
                  <a:srgbClr val="203D67"/>
                </a:solidFill>
              </a:rPr>
              <a:t>Files</a:t>
            </a:r>
          </a:p>
        </p:txBody>
      </p:sp>
      <p:sp>
        <p:nvSpPr>
          <p:cNvPr id="12" name="Rectangle 11">
            <a:extLst xmlns:a="http://schemas.openxmlformats.org/drawingml/2006/main">
              <a:ext uri="{FF2B5EF4-FFF2-40B4-BE49-F238E27FC236}">
                <a16:creationId xmlns:a16="http://schemas.microsoft.com/office/drawing/2014/main" id="{9FCC2167-62D6-4038-9946-5AF407F4202F}"/>
              </a:ext>
            </a:extLst>
          </p:cNvPr>
          <p:cNvSpPr>
            <a:spLocks xmlns:a="http://schemas.openxmlformats.org/drawingml/2006/main" noGrp="1"/>
          </p:cNvSpPr>
          <p:nvPr/>
        </p:nvSpPr>
        <p:spPr>
          <a:xfrm xmlns:a="http://schemas.openxmlformats.org/drawingml/2006/main">
            <a:off x="2819400" y="497205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Read or create artifacts</a:t>
            </a:r>
          </a:p>
        </p:txBody>
      </p:sp>
      <p:sp>
        <p:nvSpPr>
          <p:cNvPr id="13" name="Rectangle 12">
            <a:extLst xmlns:a="http://schemas.openxmlformats.org/drawingml/2006/main">
              <a:ext uri="{FF2B5EF4-FFF2-40B4-BE49-F238E27FC236}">
                <a16:creationId xmlns:a16="http://schemas.microsoft.com/office/drawing/2014/main" id="{F8E75DB9-C945-40A3-9558-7F928BCAE707}"/>
              </a:ext>
            </a:extLst>
          </p:cNvPr>
          <p:cNvSpPr>
            <a:spLocks xmlns:a="http://schemas.openxmlformats.org/drawingml/2006/main" noGrp="1"/>
          </p:cNvSpPr>
          <p:nvPr/>
        </p:nvSpPr>
        <p:spPr>
          <a:xfrm xmlns:a="http://schemas.openxmlformats.org/drawingml/2006/main">
            <a:off x="6381750" y="4905375"/>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008A91"/>
                </a:solidFill>
              </a:defRPr>
            </a:defPPr>
          </a:lstStyle>
          <a:p xmlns:a="http://schemas.openxmlformats.org/drawingml/2006/main">
            <a:pPr algn="ctr">
              <a:buNone/>
              <a:defRPr sz="1500" b="1">
                <a:solidFill>
                  <a:srgbClr val="008A91"/>
                </a:solidFill>
              </a:defRPr>
            </a:pPr>
            <a:r>
              <a:rPr sz="1500" b="1">
                <a:solidFill>
                  <a:srgbClr val="008A91"/>
                </a:solidFill>
              </a:rPr>
              <a:t>A tool should provide a capability the model does not reliably possess</a:t>
            </a:r>
          </a:p>
        </p:txBody>
      </p:sp>
    </p:spTree>
    <p:extLst>
      <p:ext uri="{BB962C8B-B14F-4D97-AF65-F5344CB8AC3E}">
        <p14:creationId xmlns:p14="http://schemas.microsoft.com/office/powerpoint/2010/main" val="149393266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8" name="Picture 17">
            <a:extLst xmlns:a="http://schemas.openxmlformats.org/drawingml/2006/main">
              <a:ext uri="{FF2B5EF4-FFF2-40B4-BE49-F238E27FC236}">
                <a16:creationId xmlns:a16="http://schemas.microsoft.com/office/drawing/2014/main" id="{9B5235C2-C732-4AC3-8825-74F586C430D0}"/>
              </a:ext>
            </a:extLst>
          </p:cNvPr>
          <p:cNvPicPr>
            <a:picLocks xmlns:a="http://schemas.openxmlformats.org/drawingml/2006/main" noChangeAspect="1"/>
          </p:cNvPicPr>
          <p:nvPr/>
        </p:nvPicPr>
        <p:blipFill>
          <a:blip xmlns:r="http://schemas.openxmlformats.org/officeDocument/2006/relationships" xmlns:a="http://schemas.openxmlformats.org/drawingml/2006/main" r:embed="R74162bf780534df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BCE8AC88-5C8B-4639-A4EB-BB81C449C16B}"/>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The anatomy of a good tool</a:t>
            </a:r>
          </a:p>
        </p:txBody>
      </p:sp>
      <p:sp>
        <p:nvSpPr>
          <p:cNvPr id="3" name="Rounded Rectangle 2">
            <a:extLst xmlns:a="http://schemas.openxmlformats.org/drawingml/2006/main">
              <a:ext uri="{FF2B5EF4-FFF2-40B4-BE49-F238E27FC236}">
                <a16:creationId xmlns:a16="http://schemas.microsoft.com/office/drawing/2014/main" id="{DD432740-CFD2-4C72-971D-60070DB38CF1}"/>
              </a:ext>
            </a:extLst>
          </p:cNvPr>
          <p:cNvSpPr>
            <a:spLocks xmlns:a="http://schemas.openxmlformats.org/drawingml/2006/main" noGrp="1"/>
          </p:cNvSpPr>
          <p:nvPr/>
        </p:nvSpPr>
        <p:spPr>
          <a:xfrm xmlns:a="http://schemas.openxmlformats.org/drawingml/2006/main">
            <a:off x="4238625" y="2800350"/>
            <a:ext cx="2476500" cy="742950"/>
          </a:xfrm>
          <a:prstGeom xmlns:a="http://schemas.openxmlformats.org/drawingml/2006/main" prst="roundRect">
            <a:avLst>
              <a:gd name="adj" fmla="val 15385"/>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FF25D9BE-7323-4857-9E72-1876EB957E9E}"/>
              </a:ext>
            </a:extLst>
          </p:cNvPr>
          <p:cNvSpPr>
            <a:spLocks xmlns:a="http://schemas.openxmlformats.org/drawingml/2006/main" noGrp="1"/>
          </p:cNvSpPr>
          <p:nvPr/>
        </p:nvSpPr>
        <p:spPr>
          <a:xfrm xmlns:a="http://schemas.openxmlformats.org/drawingml/2006/main">
            <a:off x="4314825" y="285750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75" b="1">
                <a:solidFill>
                  <a:srgbClr val="203D67"/>
                </a:solidFill>
              </a:defRPr>
            </a:defPPr>
          </a:lstStyle>
          <a:p xmlns:a="http://schemas.openxmlformats.org/drawingml/2006/main">
            <a:pPr algn="ctr">
              <a:buNone/>
              <a:defRPr sz="1575" b="1">
                <a:solidFill>
                  <a:srgbClr val="203D67"/>
                </a:solidFill>
              </a:defRPr>
            </a:pPr>
            <a:r>
              <a:rPr sz="1575" b="1">
                <a:solidFill>
                  <a:srgbClr val="203D67"/>
                </a:solidFill>
              </a:rPr>
              <a:t>search_papers</a:t>
            </a:r>
          </a:p>
        </p:txBody>
      </p:sp>
      <p:sp>
        <p:nvSpPr>
          <p:cNvPr id="5" name="Rounded Rectangle 4">
            <a:extLst xmlns:a="http://schemas.openxmlformats.org/drawingml/2006/main">
              <a:ext uri="{FF2B5EF4-FFF2-40B4-BE49-F238E27FC236}">
                <a16:creationId xmlns:a16="http://schemas.microsoft.com/office/drawing/2014/main" id="{41CF20C7-BC57-4F5D-9413-C0F5B7355308}"/>
              </a:ext>
            </a:extLst>
          </p:cNvPr>
          <p:cNvSpPr>
            <a:spLocks xmlns:a="http://schemas.openxmlformats.org/drawingml/2006/main" noGrp="1"/>
          </p:cNvSpPr>
          <p:nvPr/>
        </p:nvSpPr>
        <p:spPr>
          <a:xfrm xmlns:a="http://schemas.openxmlformats.org/drawingml/2006/main">
            <a:off x="1047750" y="2724150"/>
            <a:ext cx="2095500" cy="609600"/>
          </a:xfrm>
          <a:prstGeom xmlns:a="http://schemas.openxmlformats.org/drawingml/2006/main" prst="roundRect">
            <a:avLst>
              <a:gd name="adj" fmla="val 18750"/>
            </a:avLst>
          </a:prstGeom>
          <a:solidFill xmlns:a="http://schemas.openxmlformats.org/drawingml/2006/main">
            <a:srgbClr val="FFFFFF"/>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0575C754-05A5-4B14-8C47-B49B14E17388}"/>
              </a:ext>
            </a:extLst>
          </p:cNvPr>
          <p:cNvSpPr>
            <a:spLocks xmlns:a="http://schemas.openxmlformats.org/drawingml/2006/main" noGrp="1"/>
          </p:cNvSpPr>
          <p:nvPr/>
        </p:nvSpPr>
        <p:spPr>
          <a:xfrm xmlns:a="http://schemas.openxmlformats.org/drawingml/2006/main">
            <a:off x="1123950" y="2781300"/>
            <a:ext cx="1943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23047"/>
                </a:solidFill>
              </a:defRPr>
            </a:defPPr>
          </a:lstStyle>
          <a:p xmlns:a="http://schemas.openxmlformats.org/drawingml/2006/main">
            <a:pPr algn="ctr">
              <a:buNone/>
              <a:defRPr sz="1275" b="1">
                <a:solidFill>
                  <a:srgbClr val="223047"/>
                </a:solidFill>
              </a:defRPr>
            </a:pPr>
            <a:r>
              <a:rPr sz="1275" b="1">
                <a:solidFill>
                  <a:srgbClr val="223047"/>
                </a:solidFill>
              </a:rPr>
              <a:t>Clear name</a:t>
            </a:r>
          </a:p>
        </p:txBody>
      </p:sp>
      <p:cxnSp>
        <p:nvCxnSpPr>
          <p:cNvPr id="7" name="Straight Arrow Connector 6">
            <a:extLst xmlns:a="http://schemas.openxmlformats.org/drawingml/2006/main">
              <a:ext uri="{FF2B5EF4-FFF2-40B4-BE49-F238E27FC236}">
                <a16:creationId xmlns:a16="http://schemas.microsoft.com/office/drawing/2014/main" id="{45B24D38-A7D9-4EF3-B6F9-3D8203DC5509}"/>
              </a:ext>
            </a:extLst>
          </p:cNvPr>
          <p:cNvCxnSpPr>
            <a:stCxn xmlns:a="http://schemas.openxmlformats.org/drawingml/2006/main" id="5" idx="3"/>
            <a:endCxn xmlns:a="http://schemas.openxmlformats.org/drawingml/2006/main" id="3" idx="1"/>
          </p:cNvCxnSpPr>
          <p:nvPr/>
        </p:nvCxnSpPr>
        <p:spPr>
          <a:xfrm xmlns:a="http://schemas.openxmlformats.org/drawingml/2006/main">
            <a:off x="3143250" y="3028950"/>
            <a:ext cx="1095375" cy="142875"/>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sp>
        <p:nvSpPr>
          <p:cNvPr id="8" name="Rounded Rectangle 7">
            <a:extLst xmlns:a="http://schemas.openxmlformats.org/drawingml/2006/main">
              <a:ext uri="{FF2B5EF4-FFF2-40B4-BE49-F238E27FC236}">
                <a16:creationId xmlns:a16="http://schemas.microsoft.com/office/drawing/2014/main" id="{217896D9-E6FE-4ACF-9FD2-3383387D50C6}"/>
              </a:ext>
            </a:extLst>
          </p:cNvPr>
          <p:cNvSpPr>
            <a:spLocks xmlns:a="http://schemas.openxmlformats.org/drawingml/2006/main" noGrp="1"/>
          </p:cNvSpPr>
          <p:nvPr/>
        </p:nvSpPr>
        <p:spPr>
          <a:xfrm xmlns:a="http://schemas.openxmlformats.org/drawingml/2006/main">
            <a:off x="876300" y="4095750"/>
            <a:ext cx="2095500" cy="609600"/>
          </a:xfrm>
          <a:prstGeom xmlns:a="http://schemas.openxmlformats.org/drawingml/2006/main" prst="roundRect">
            <a:avLst>
              <a:gd name="adj" fmla="val 18750"/>
            </a:avLst>
          </a:prstGeom>
          <a:solidFill xmlns:a="http://schemas.openxmlformats.org/drawingml/2006/main">
            <a:srgbClr val="FFFFFF"/>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0AA86030-8928-4549-B5FB-30082E20750D}"/>
              </a:ext>
            </a:extLst>
          </p:cNvPr>
          <p:cNvSpPr>
            <a:spLocks xmlns:a="http://schemas.openxmlformats.org/drawingml/2006/main" noGrp="1"/>
          </p:cNvSpPr>
          <p:nvPr/>
        </p:nvSpPr>
        <p:spPr>
          <a:xfrm xmlns:a="http://schemas.openxmlformats.org/drawingml/2006/main">
            <a:off x="952500" y="4152900"/>
            <a:ext cx="1943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23047"/>
                </a:solidFill>
              </a:defRPr>
            </a:defPPr>
          </a:lstStyle>
          <a:p xmlns:a="http://schemas.openxmlformats.org/drawingml/2006/main">
            <a:pPr algn="ctr">
              <a:buNone/>
              <a:defRPr sz="1275" b="1">
                <a:solidFill>
                  <a:srgbClr val="223047"/>
                </a:solidFill>
              </a:defRPr>
            </a:pPr>
            <a:r>
              <a:rPr sz="1275" b="1">
                <a:solidFill>
                  <a:srgbClr val="223047"/>
                </a:solidFill>
              </a:rPr>
              <a:t>Specific description</a:t>
            </a:r>
          </a:p>
        </p:txBody>
      </p:sp>
      <p:cxnSp>
        <p:nvCxnSpPr>
          <p:cNvPr id="10" name="Straight Arrow Connector 9">
            <a:extLst xmlns:a="http://schemas.openxmlformats.org/drawingml/2006/main">
              <a:ext uri="{FF2B5EF4-FFF2-40B4-BE49-F238E27FC236}">
                <a16:creationId xmlns:a16="http://schemas.microsoft.com/office/drawing/2014/main" id="{D013DC82-4DE6-4A20-9CFC-F5C1367964F6}"/>
              </a:ext>
            </a:extLst>
          </p:cNvPr>
          <p:cNvCxnSpPr>
            <a:stCxn xmlns:a="http://schemas.openxmlformats.org/drawingml/2006/main" id="8" idx="3"/>
            <a:endCxn xmlns:a="http://schemas.openxmlformats.org/drawingml/2006/main" id="3" idx="1"/>
          </p:cNvCxnSpPr>
          <p:nvPr/>
        </p:nvCxnSpPr>
        <p:spPr>
          <a:xfrm xmlns:a="http://schemas.openxmlformats.org/drawingml/2006/main" flipV="1">
            <a:off x="2971800" y="3171825"/>
            <a:ext cx="1266825" cy="1228725"/>
          </a:xfrm>
          <a:prstGeom xmlns:a="http://schemas.openxmlformats.org/drawingml/2006/main" prst="straightConnector1">
            <a:avLst/>
          </a:prstGeom>
          <a:ln xmlns:a="http://schemas.openxmlformats.org/drawingml/2006/main" w="21431">
            <a:solidFill>
              <a:srgbClr val="42BCC9"/>
            </a:solidFill>
            <a:prstDash val="solid"/>
            <a:tailEnd type="arrow" w="med" len="med"/>
          </a:ln>
        </p:spPr>
      </p:cxnSp>
      <p:sp>
        <p:nvSpPr>
          <p:cNvPr id="11" name="Rounded Rectangle 10">
            <a:extLst xmlns:a="http://schemas.openxmlformats.org/drawingml/2006/main">
              <a:ext uri="{FF2B5EF4-FFF2-40B4-BE49-F238E27FC236}">
                <a16:creationId xmlns:a16="http://schemas.microsoft.com/office/drawing/2014/main" id="{872A1A54-B834-43C4-B3D4-E2792D43593A}"/>
              </a:ext>
            </a:extLst>
          </p:cNvPr>
          <p:cNvSpPr>
            <a:spLocks xmlns:a="http://schemas.openxmlformats.org/drawingml/2006/main" noGrp="1"/>
          </p:cNvSpPr>
          <p:nvPr/>
        </p:nvSpPr>
        <p:spPr>
          <a:xfrm xmlns:a="http://schemas.openxmlformats.org/drawingml/2006/main">
            <a:off x="7715250" y="2724150"/>
            <a:ext cx="2095500" cy="609600"/>
          </a:xfrm>
          <a:prstGeom xmlns:a="http://schemas.openxmlformats.org/drawingml/2006/main" prst="roundRect">
            <a:avLst>
              <a:gd name="adj" fmla="val 18750"/>
            </a:avLst>
          </a:prstGeom>
          <a:solidFill xmlns:a="http://schemas.openxmlformats.org/drawingml/2006/main">
            <a:srgbClr val="FFFFFF"/>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E3885D2A-908C-4A88-9720-C4C34382EC18}"/>
              </a:ext>
            </a:extLst>
          </p:cNvPr>
          <p:cNvSpPr>
            <a:spLocks xmlns:a="http://schemas.openxmlformats.org/drawingml/2006/main" noGrp="1"/>
          </p:cNvSpPr>
          <p:nvPr/>
        </p:nvSpPr>
        <p:spPr>
          <a:xfrm xmlns:a="http://schemas.openxmlformats.org/drawingml/2006/main">
            <a:off x="7791450" y="2781300"/>
            <a:ext cx="1943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23047"/>
                </a:solidFill>
              </a:defRPr>
            </a:defPPr>
          </a:lstStyle>
          <a:p xmlns:a="http://schemas.openxmlformats.org/drawingml/2006/main">
            <a:pPr algn="ctr">
              <a:buNone/>
              <a:defRPr sz="1275" b="1">
                <a:solidFill>
                  <a:srgbClr val="223047"/>
                </a:solidFill>
              </a:defRPr>
            </a:pPr>
            <a:r>
              <a:rPr sz="1275" b="1">
                <a:solidFill>
                  <a:srgbClr val="223047"/>
                </a:solidFill>
              </a:rPr>
              <a:t>Typed inputs</a:t>
            </a:r>
          </a:p>
        </p:txBody>
      </p:sp>
      <p:cxnSp>
        <p:nvCxnSpPr>
          <p:cNvPr id="13" name="Straight Arrow Connector 12">
            <a:extLst xmlns:a="http://schemas.openxmlformats.org/drawingml/2006/main">
              <a:ext uri="{FF2B5EF4-FFF2-40B4-BE49-F238E27FC236}">
                <a16:creationId xmlns:a16="http://schemas.microsoft.com/office/drawing/2014/main" id="{029C0117-6540-43B6-A7FB-1174C3734396}"/>
              </a:ext>
            </a:extLst>
          </p:cNvPr>
          <p:cNvCxnSpPr>
            <a:stCxn xmlns:a="http://schemas.openxmlformats.org/drawingml/2006/main" id="11" idx="1"/>
            <a:endCxn xmlns:a="http://schemas.openxmlformats.org/drawingml/2006/main" id="3" idx="3"/>
          </p:cNvCxnSpPr>
          <p:nvPr/>
        </p:nvCxnSpPr>
        <p:spPr>
          <a:xfrm xmlns:a="http://schemas.openxmlformats.org/drawingml/2006/main" flipH="1">
            <a:off x="6715125" y="3028950"/>
            <a:ext cx="1000125" cy="142875"/>
          </a:xfrm>
          <a:prstGeom xmlns:a="http://schemas.openxmlformats.org/drawingml/2006/main" prst="straightConnector1">
            <a:avLst/>
          </a:prstGeom>
          <a:ln xmlns:a="http://schemas.openxmlformats.org/drawingml/2006/main" w="21431">
            <a:solidFill>
              <a:srgbClr val="F4B900"/>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557CA672-B72B-4225-B6A2-564F67ABF67B}"/>
              </a:ext>
            </a:extLst>
          </p:cNvPr>
          <p:cNvSpPr>
            <a:spLocks xmlns:a="http://schemas.openxmlformats.org/drawingml/2006/main" noGrp="1"/>
          </p:cNvSpPr>
          <p:nvPr/>
        </p:nvSpPr>
        <p:spPr>
          <a:xfrm xmlns:a="http://schemas.openxmlformats.org/drawingml/2006/main">
            <a:off x="7810500" y="4095750"/>
            <a:ext cx="2095500" cy="609600"/>
          </a:xfrm>
          <a:prstGeom xmlns:a="http://schemas.openxmlformats.org/drawingml/2006/main" prst="roundRect">
            <a:avLst>
              <a:gd name="adj" fmla="val 18750"/>
            </a:avLst>
          </a:prstGeom>
          <a:solidFill xmlns:a="http://schemas.openxmlformats.org/drawingml/2006/main">
            <a:srgbClr val="FFFFFF"/>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D0C10AD5-9DB8-48A7-AA27-8D2114E7A9F1}"/>
              </a:ext>
            </a:extLst>
          </p:cNvPr>
          <p:cNvSpPr>
            <a:spLocks xmlns:a="http://schemas.openxmlformats.org/drawingml/2006/main" noGrp="1"/>
          </p:cNvSpPr>
          <p:nvPr/>
        </p:nvSpPr>
        <p:spPr>
          <a:xfrm xmlns:a="http://schemas.openxmlformats.org/drawingml/2006/main">
            <a:off x="7886700" y="4152900"/>
            <a:ext cx="1943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23047"/>
                </a:solidFill>
              </a:defRPr>
            </a:defPPr>
          </a:lstStyle>
          <a:p xmlns:a="http://schemas.openxmlformats.org/drawingml/2006/main">
            <a:pPr algn="ctr">
              <a:buNone/>
              <a:defRPr sz="1275" b="1">
                <a:solidFill>
                  <a:srgbClr val="223047"/>
                </a:solidFill>
              </a:defRPr>
            </a:pPr>
            <a:r>
              <a:rPr sz="1275" b="1">
                <a:solidFill>
                  <a:srgbClr val="223047"/>
                </a:solidFill>
              </a:rPr>
              <a:t>Defined output</a:t>
            </a:r>
          </a:p>
        </p:txBody>
      </p:sp>
      <p:cxnSp>
        <p:nvCxnSpPr>
          <p:cNvPr id="16" name="Straight Arrow Connector 15">
            <a:extLst xmlns:a="http://schemas.openxmlformats.org/drawingml/2006/main">
              <a:ext uri="{FF2B5EF4-FFF2-40B4-BE49-F238E27FC236}">
                <a16:creationId xmlns:a16="http://schemas.microsoft.com/office/drawing/2014/main" id="{C3BEB1AC-7C6E-4A9F-99C6-1F6D18B15713}"/>
              </a:ext>
            </a:extLst>
          </p:cNvPr>
          <p:cNvCxnSpPr>
            <a:stCxn xmlns:a="http://schemas.openxmlformats.org/drawingml/2006/main" id="14" idx="1"/>
            <a:endCxn xmlns:a="http://schemas.openxmlformats.org/drawingml/2006/main" id="3" idx="3"/>
          </p:cNvCxnSpPr>
          <p:nvPr/>
        </p:nvCxnSpPr>
        <p:spPr>
          <a:xfrm xmlns:a="http://schemas.openxmlformats.org/drawingml/2006/main" flipH="1" flipV="1">
            <a:off x="6715125" y="3171825"/>
            <a:ext cx="1095375" cy="1228725"/>
          </a:xfrm>
          <a:prstGeom xmlns:a="http://schemas.openxmlformats.org/drawingml/2006/main" prst="straightConnector1">
            <a:avLst/>
          </a:prstGeom>
          <a:ln xmlns:a="http://schemas.openxmlformats.org/drawingml/2006/main" w="21431">
            <a:solidFill>
              <a:srgbClr val="EE7D5B"/>
            </a:solidFill>
            <a:prstDash val="solid"/>
            <a:tailEnd type="arrow" w="med" len="med"/>
          </a:ln>
        </p:spPr>
      </p:cxnSp>
      <p:sp>
        <p:nvSpPr>
          <p:cNvPr id="17" name="Rectangle 16">
            <a:extLst xmlns:a="http://schemas.openxmlformats.org/drawingml/2006/main">
              <a:ext uri="{FF2B5EF4-FFF2-40B4-BE49-F238E27FC236}">
                <a16:creationId xmlns:a16="http://schemas.microsoft.com/office/drawing/2014/main" id="{EE8F3603-0F11-454D-B704-88E1597E5D45}"/>
              </a:ext>
            </a:extLst>
          </p:cNvPr>
          <p:cNvSpPr>
            <a:spLocks xmlns:a="http://schemas.openxmlformats.org/drawingml/2006/main" noGrp="1"/>
          </p:cNvSpPr>
          <p:nvPr/>
        </p:nvSpPr>
        <p:spPr>
          <a:xfrm xmlns:a="http://schemas.openxmlformats.org/drawingml/2006/main">
            <a:off x="3429000" y="4895850"/>
            <a:ext cx="409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008A91"/>
                </a:solidFill>
              </a:defRPr>
            </a:defPPr>
          </a:lstStyle>
          <a:p xmlns:a="http://schemas.openxmlformats.org/drawingml/2006/main">
            <a:pPr algn="ctr">
              <a:buNone/>
              <a:defRPr sz="1425" b="1">
                <a:solidFill>
                  <a:srgbClr val="008A91"/>
                </a:solidFill>
              </a:defRPr>
            </a:pPr>
            <a:r>
              <a:rPr sz="1425" b="1">
                <a:solidFill>
                  <a:srgbClr val="008A91"/>
                </a:solidFill>
              </a:rPr>
              <a:t>Failure behaviour belongs in the contract too</a:t>
            </a:r>
          </a:p>
        </p:txBody>
      </p:sp>
    </p:spTree>
    <p:extLst>
      <p:ext uri="{BB962C8B-B14F-4D97-AF65-F5344CB8AC3E}">
        <p14:creationId xmlns:p14="http://schemas.microsoft.com/office/powerpoint/2010/main" val="84540651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8" name="Picture 17">
            <a:extLst xmlns:a="http://schemas.openxmlformats.org/drawingml/2006/main">
              <a:ext uri="{FF2B5EF4-FFF2-40B4-BE49-F238E27FC236}">
                <a16:creationId xmlns:a16="http://schemas.microsoft.com/office/drawing/2014/main" id="{AA287170-1014-42C0-9FB7-0698BA6CE5C6}"/>
              </a:ext>
            </a:extLst>
          </p:cNvPr>
          <p:cNvPicPr>
            <a:picLocks xmlns:a="http://schemas.openxmlformats.org/drawingml/2006/main" noChangeAspect="1"/>
          </p:cNvPicPr>
          <p:nvPr/>
        </p:nvPicPr>
        <p:blipFill>
          <a:blip xmlns:r="http://schemas.openxmlformats.org/officeDocument/2006/relationships" xmlns:a="http://schemas.openxmlformats.org/drawingml/2006/main" r:embed="R2a76ed541e6d450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0B7413CF-3936-479D-B498-48A0467E1C44}"/>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How tool selection works</a:t>
            </a:r>
          </a:p>
        </p:txBody>
      </p:sp>
      <p:sp>
        <p:nvSpPr>
          <p:cNvPr id="3" name="Rounded Rectangle 2">
            <a:extLst xmlns:a="http://schemas.openxmlformats.org/drawingml/2006/main">
              <a:ext uri="{FF2B5EF4-FFF2-40B4-BE49-F238E27FC236}">
                <a16:creationId xmlns:a16="http://schemas.microsoft.com/office/drawing/2014/main" id="{41DB085C-5668-487F-8832-CBB0A92B66E1}"/>
              </a:ext>
            </a:extLst>
          </p:cNvPr>
          <p:cNvSpPr>
            <a:spLocks xmlns:a="http://schemas.openxmlformats.org/drawingml/2006/main" noGrp="1"/>
          </p:cNvSpPr>
          <p:nvPr/>
        </p:nvSpPr>
        <p:spPr>
          <a:xfrm xmlns:a="http://schemas.openxmlformats.org/drawingml/2006/main">
            <a:off x="685800" y="3238500"/>
            <a:ext cx="1428750" cy="762000"/>
          </a:xfrm>
          <a:prstGeom xmlns:a="http://schemas.openxmlformats.org/drawingml/2006/main" prst="roundRect">
            <a:avLst>
              <a:gd name="adj" fmla="val 15000"/>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3C1F2FCE-A389-4903-A06B-DA3EADA40E4A}"/>
              </a:ext>
            </a:extLst>
          </p:cNvPr>
          <p:cNvSpPr>
            <a:spLocks xmlns:a="http://schemas.openxmlformats.org/drawingml/2006/main" noGrp="1"/>
          </p:cNvSpPr>
          <p:nvPr/>
        </p:nvSpPr>
        <p:spPr>
          <a:xfrm xmlns:a="http://schemas.openxmlformats.org/drawingml/2006/main">
            <a:off x="762000" y="3295650"/>
            <a:ext cx="1276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Tool</a:t>
            </a:r>
          </a:p>
          <a:p xmlns:a="http://schemas.openxmlformats.org/drawingml/2006/main">
            <a:pPr algn="ctr">
              <a:buNone/>
              <a:defRPr sz="1200" b="1">
                <a:solidFill>
                  <a:srgbClr val="203D67"/>
                </a:solidFill>
              </a:defRPr>
            </a:pPr>
            <a:r>
              <a:rPr sz="1200" b="1">
                <a:solidFill>
                  <a:srgbClr val="203D67"/>
                </a:solidFill>
              </a:rPr>
              <a:t>descriptions</a:t>
            </a:r>
          </a:p>
        </p:txBody>
      </p:sp>
      <p:sp>
        <p:nvSpPr>
          <p:cNvPr id="5" name="Rounded Rectangle 4">
            <a:extLst xmlns:a="http://schemas.openxmlformats.org/drawingml/2006/main">
              <a:ext uri="{FF2B5EF4-FFF2-40B4-BE49-F238E27FC236}">
                <a16:creationId xmlns:a16="http://schemas.microsoft.com/office/drawing/2014/main" id="{975B2531-6C58-41A7-9C0B-7935C0977F87}"/>
              </a:ext>
            </a:extLst>
          </p:cNvPr>
          <p:cNvSpPr>
            <a:spLocks xmlns:a="http://schemas.openxmlformats.org/drawingml/2006/main" noGrp="1"/>
          </p:cNvSpPr>
          <p:nvPr/>
        </p:nvSpPr>
        <p:spPr>
          <a:xfrm xmlns:a="http://schemas.openxmlformats.org/drawingml/2006/main">
            <a:off x="2686050" y="3238500"/>
            <a:ext cx="1428750" cy="762000"/>
          </a:xfrm>
          <a:prstGeom xmlns:a="http://schemas.openxmlformats.org/drawingml/2006/main" prst="roundRect">
            <a:avLst>
              <a:gd name="adj" fmla="val 15000"/>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7425A0B6-C243-495B-83C6-F1214C321A33}"/>
              </a:ext>
            </a:extLst>
          </p:cNvPr>
          <p:cNvSpPr>
            <a:spLocks xmlns:a="http://schemas.openxmlformats.org/drawingml/2006/main" noGrp="1"/>
          </p:cNvSpPr>
          <p:nvPr/>
        </p:nvSpPr>
        <p:spPr>
          <a:xfrm xmlns:a="http://schemas.openxmlformats.org/drawingml/2006/main">
            <a:off x="2762250" y="3295650"/>
            <a:ext cx="1276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Model</a:t>
            </a:r>
          </a:p>
          <a:p xmlns:a="http://schemas.openxmlformats.org/drawingml/2006/main">
            <a:pPr algn="ctr">
              <a:buNone/>
              <a:defRPr sz="1200" b="1">
                <a:solidFill>
                  <a:srgbClr val="203D67"/>
                </a:solidFill>
              </a:defRPr>
            </a:pPr>
            <a:r>
              <a:rPr sz="1200" b="1">
                <a:solidFill>
                  <a:srgbClr val="203D67"/>
                </a:solidFill>
              </a:rPr>
              <a:t>decision</a:t>
            </a:r>
          </a:p>
        </p:txBody>
      </p:sp>
      <p:sp>
        <p:nvSpPr>
          <p:cNvPr id="7" name="Rounded Rectangle 6">
            <a:extLst xmlns:a="http://schemas.openxmlformats.org/drawingml/2006/main">
              <a:ext uri="{FF2B5EF4-FFF2-40B4-BE49-F238E27FC236}">
                <a16:creationId xmlns:a16="http://schemas.microsoft.com/office/drawing/2014/main" id="{39BA7F1E-12AB-48DE-B3B0-CD2544F41FD9}"/>
              </a:ext>
            </a:extLst>
          </p:cNvPr>
          <p:cNvSpPr>
            <a:spLocks xmlns:a="http://schemas.openxmlformats.org/drawingml/2006/main" noGrp="1"/>
          </p:cNvSpPr>
          <p:nvPr/>
        </p:nvSpPr>
        <p:spPr>
          <a:xfrm xmlns:a="http://schemas.openxmlformats.org/drawingml/2006/main">
            <a:off x="4686300" y="3238500"/>
            <a:ext cx="1428750" cy="762000"/>
          </a:xfrm>
          <a:prstGeom xmlns:a="http://schemas.openxmlformats.org/drawingml/2006/main" prst="roundRect">
            <a:avLst>
              <a:gd name="adj" fmla="val 15000"/>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BD34703-2BED-45E6-A87B-3B391A69DBDD}"/>
              </a:ext>
            </a:extLst>
          </p:cNvPr>
          <p:cNvSpPr>
            <a:spLocks xmlns:a="http://schemas.openxmlformats.org/drawingml/2006/main" noGrp="1"/>
          </p:cNvSpPr>
          <p:nvPr/>
        </p:nvSpPr>
        <p:spPr>
          <a:xfrm xmlns:a="http://schemas.openxmlformats.org/drawingml/2006/main">
            <a:off x="4762500" y="3295650"/>
            <a:ext cx="1276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Structured</a:t>
            </a:r>
          </a:p>
          <a:p xmlns:a="http://schemas.openxmlformats.org/drawingml/2006/main">
            <a:pPr algn="ctr">
              <a:buNone/>
              <a:defRPr sz="1200" b="1">
                <a:solidFill>
                  <a:srgbClr val="203D67"/>
                </a:solidFill>
              </a:defRPr>
            </a:pPr>
            <a:r>
              <a:rPr sz="1200" b="1">
                <a:solidFill>
                  <a:srgbClr val="203D67"/>
                </a:solidFill>
              </a:rPr>
              <a:t>arguments</a:t>
            </a:r>
          </a:p>
        </p:txBody>
      </p:sp>
      <p:sp>
        <p:nvSpPr>
          <p:cNvPr id="9" name="Rounded Rectangle 8">
            <a:extLst xmlns:a="http://schemas.openxmlformats.org/drawingml/2006/main">
              <a:ext uri="{FF2B5EF4-FFF2-40B4-BE49-F238E27FC236}">
                <a16:creationId xmlns:a16="http://schemas.microsoft.com/office/drawing/2014/main" id="{23DD8DAC-2991-4D5C-92A0-2F63EB813896}"/>
              </a:ext>
            </a:extLst>
          </p:cNvPr>
          <p:cNvSpPr>
            <a:spLocks xmlns:a="http://schemas.openxmlformats.org/drawingml/2006/main" noGrp="1"/>
          </p:cNvSpPr>
          <p:nvPr/>
        </p:nvSpPr>
        <p:spPr>
          <a:xfrm xmlns:a="http://schemas.openxmlformats.org/drawingml/2006/main">
            <a:off x="6686550" y="3238500"/>
            <a:ext cx="1428750" cy="762000"/>
          </a:xfrm>
          <a:prstGeom xmlns:a="http://schemas.openxmlformats.org/drawingml/2006/main" prst="roundRect">
            <a:avLst>
              <a:gd name="adj" fmla="val 15000"/>
            </a:avLst>
          </a:prstGeom>
          <a:solidFill xmlns:a="http://schemas.openxmlformats.org/drawingml/2006/main">
            <a:srgbClr val="FDE8E1"/>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71676E89-665F-4AFD-A070-9DE12152C25E}"/>
              </a:ext>
            </a:extLst>
          </p:cNvPr>
          <p:cNvSpPr>
            <a:spLocks xmlns:a="http://schemas.openxmlformats.org/drawingml/2006/main" noGrp="1"/>
          </p:cNvSpPr>
          <p:nvPr/>
        </p:nvSpPr>
        <p:spPr>
          <a:xfrm xmlns:a="http://schemas.openxmlformats.org/drawingml/2006/main">
            <a:off x="6762750" y="3295650"/>
            <a:ext cx="1276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Controller</a:t>
            </a:r>
          </a:p>
          <a:p xmlns:a="http://schemas.openxmlformats.org/drawingml/2006/main">
            <a:pPr algn="ctr">
              <a:buNone/>
              <a:defRPr sz="1200" b="1">
                <a:solidFill>
                  <a:srgbClr val="203D67"/>
                </a:solidFill>
              </a:defRPr>
            </a:pPr>
            <a:r>
              <a:rPr sz="1200" b="1">
                <a:solidFill>
                  <a:srgbClr val="203D67"/>
                </a:solidFill>
              </a:rPr>
              <a:t>checks</a:t>
            </a:r>
          </a:p>
        </p:txBody>
      </p:sp>
      <p:sp>
        <p:nvSpPr>
          <p:cNvPr id="11" name="Rounded Rectangle 10">
            <a:extLst xmlns:a="http://schemas.openxmlformats.org/drawingml/2006/main">
              <a:ext uri="{FF2B5EF4-FFF2-40B4-BE49-F238E27FC236}">
                <a16:creationId xmlns:a16="http://schemas.microsoft.com/office/drawing/2014/main" id="{A4CB1CB6-63B4-4CC8-8A90-AC63BD4B5D06}"/>
              </a:ext>
            </a:extLst>
          </p:cNvPr>
          <p:cNvSpPr>
            <a:spLocks xmlns:a="http://schemas.openxmlformats.org/drawingml/2006/main" noGrp="1"/>
          </p:cNvSpPr>
          <p:nvPr/>
        </p:nvSpPr>
        <p:spPr>
          <a:xfrm xmlns:a="http://schemas.openxmlformats.org/drawingml/2006/main">
            <a:off x="8686800" y="3238500"/>
            <a:ext cx="1428750" cy="762000"/>
          </a:xfrm>
          <a:prstGeom xmlns:a="http://schemas.openxmlformats.org/drawingml/2006/main" prst="roundRect">
            <a:avLst>
              <a:gd name="adj" fmla="val 15000"/>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296948A6-A26D-42BF-99A2-35FD74D17034}"/>
              </a:ext>
            </a:extLst>
          </p:cNvPr>
          <p:cNvSpPr>
            <a:spLocks xmlns:a="http://schemas.openxmlformats.org/drawingml/2006/main" noGrp="1"/>
          </p:cNvSpPr>
          <p:nvPr/>
        </p:nvSpPr>
        <p:spPr>
          <a:xfrm xmlns:a="http://schemas.openxmlformats.org/drawingml/2006/main">
            <a:off x="8763000" y="3295650"/>
            <a:ext cx="1276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Tool</a:t>
            </a:r>
          </a:p>
          <a:p xmlns:a="http://schemas.openxmlformats.org/drawingml/2006/main">
            <a:pPr algn="ctr">
              <a:buNone/>
              <a:defRPr sz="1200" b="1">
                <a:solidFill>
                  <a:srgbClr val="203D67"/>
                </a:solidFill>
              </a:defRPr>
            </a:pPr>
            <a:r>
              <a:rPr sz="1200" b="1">
                <a:solidFill>
                  <a:srgbClr val="203D67"/>
                </a:solidFill>
              </a:rPr>
              <a:t>result</a:t>
            </a:r>
          </a:p>
        </p:txBody>
      </p:sp>
      <p:cxnSp>
        <p:nvCxnSpPr>
          <p:cNvPr id="13" name="Straight Arrow Connector 12">
            <a:extLst xmlns:a="http://schemas.openxmlformats.org/drawingml/2006/main">
              <a:ext uri="{FF2B5EF4-FFF2-40B4-BE49-F238E27FC236}">
                <a16:creationId xmlns:a16="http://schemas.microsoft.com/office/drawing/2014/main" id="{F62A6693-7084-4F8E-91BA-9886C14477AD}"/>
              </a:ext>
            </a:extLst>
          </p:cNvPr>
          <p:cNvCxnSpPr>
            <a:stCxn xmlns:a="http://schemas.openxmlformats.org/drawingml/2006/main" id="3" idx="3"/>
            <a:endCxn xmlns:a="http://schemas.openxmlformats.org/drawingml/2006/main" id="5" idx="1"/>
          </p:cNvCxnSpPr>
          <p:nvPr/>
        </p:nvCxnSpPr>
        <p:spPr>
          <a:xfrm xmlns:a="http://schemas.openxmlformats.org/drawingml/2006/main">
            <a:off x="2114550" y="3619500"/>
            <a:ext cx="5715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4" name="Straight Arrow Connector 13">
            <a:extLst xmlns:a="http://schemas.openxmlformats.org/drawingml/2006/main">
              <a:ext uri="{FF2B5EF4-FFF2-40B4-BE49-F238E27FC236}">
                <a16:creationId xmlns:a16="http://schemas.microsoft.com/office/drawing/2014/main" id="{56C66276-1371-4CD4-8A36-1C73F25991D1}"/>
              </a:ext>
            </a:extLst>
          </p:cNvPr>
          <p:cNvCxnSpPr>
            <a:stCxn xmlns:a="http://schemas.openxmlformats.org/drawingml/2006/main" id="5" idx="3"/>
            <a:endCxn xmlns:a="http://schemas.openxmlformats.org/drawingml/2006/main" id="7" idx="1"/>
          </p:cNvCxnSpPr>
          <p:nvPr/>
        </p:nvCxnSpPr>
        <p:spPr>
          <a:xfrm xmlns:a="http://schemas.openxmlformats.org/drawingml/2006/main">
            <a:off x="4114800" y="3619500"/>
            <a:ext cx="5715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5" name="Straight Arrow Connector 14">
            <a:extLst xmlns:a="http://schemas.openxmlformats.org/drawingml/2006/main">
              <a:ext uri="{FF2B5EF4-FFF2-40B4-BE49-F238E27FC236}">
                <a16:creationId xmlns:a16="http://schemas.microsoft.com/office/drawing/2014/main" id="{268DAC0E-872C-4BCD-A20F-8BEA2E8FC013}"/>
              </a:ext>
            </a:extLst>
          </p:cNvPr>
          <p:cNvCxnSpPr>
            <a:stCxn xmlns:a="http://schemas.openxmlformats.org/drawingml/2006/main" id="7" idx="3"/>
            <a:endCxn xmlns:a="http://schemas.openxmlformats.org/drawingml/2006/main" id="9" idx="1"/>
          </p:cNvCxnSpPr>
          <p:nvPr/>
        </p:nvCxnSpPr>
        <p:spPr>
          <a:xfrm xmlns:a="http://schemas.openxmlformats.org/drawingml/2006/main">
            <a:off x="6115050" y="3619500"/>
            <a:ext cx="5715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6" name="Straight Arrow Connector 15">
            <a:extLst xmlns:a="http://schemas.openxmlformats.org/drawingml/2006/main">
              <a:ext uri="{FF2B5EF4-FFF2-40B4-BE49-F238E27FC236}">
                <a16:creationId xmlns:a16="http://schemas.microsoft.com/office/drawing/2014/main" id="{7E9FABB9-2F26-4FAC-9638-4A975F2F52E9}"/>
              </a:ext>
            </a:extLst>
          </p:cNvPr>
          <p:cNvCxnSpPr>
            <a:stCxn xmlns:a="http://schemas.openxmlformats.org/drawingml/2006/main" id="9" idx="3"/>
            <a:endCxn xmlns:a="http://schemas.openxmlformats.org/drawingml/2006/main" id="11" idx="1"/>
          </p:cNvCxnSpPr>
          <p:nvPr/>
        </p:nvCxnSpPr>
        <p:spPr>
          <a:xfrm xmlns:a="http://schemas.openxmlformats.org/drawingml/2006/main">
            <a:off x="8115300" y="3619500"/>
            <a:ext cx="5715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sp>
        <p:nvSpPr>
          <p:cNvPr id="17" name="Rectangle 16">
            <a:extLst xmlns:a="http://schemas.openxmlformats.org/drawingml/2006/main">
              <a:ext uri="{FF2B5EF4-FFF2-40B4-BE49-F238E27FC236}">
                <a16:creationId xmlns:a16="http://schemas.microsoft.com/office/drawing/2014/main" id="{C863DB45-1064-4CDA-AEDC-E217DE67F772}"/>
              </a:ext>
            </a:extLst>
          </p:cNvPr>
          <p:cNvSpPr>
            <a:spLocks xmlns:a="http://schemas.openxmlformats.org/drawingml/2006/main" noGrp="1"/>
          </p:cNvSpPr>
          <p:nvPr/>
        </p:nvSpPr>
        <p:spPr>
          <a:xfrm xmlns:a="http://schemas.openxmlformats.org/drawingml/2006/main">
            <a:off x="2857500" y="4705350"/>
            <a:ext cx="5143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75" b="1">
                <a:solidFill>
                  <a:srgbClr val="008A91"/>
                </a:solidFill>
              </a:defRPr>
            </a:defPPr>
          </a:lstStyle>
          <a:p xmlns:a="http://schemas.openxmlformats.org/drawingml/2006/main">
            <a:pPr algn="ctr">
              <a:buNone/>
              <a:defRPr sz="1575" b="1">
                <a:solidFill>
                  <a:srgbClr val="008A91"/>
                </a:solidFill>
              </a:defRPr>
            </a:pPr>
            <a:r>
              <a:rPr sz="1575" b="1">
                <a:solidFill>
                  <a:srgbClr val="008A91"/>
                </a:solidFill>
              </a:rPr>
              <a:t>The model proposes a tool call. The controller checks and executes it.</a:t>
            </a:r>
          </a:p>
        </p:txBody>
      </p:sp>
    </p:spTree>
    <p:extLst>
      <p:ext uri="{BB962C8B-B14F-4D97-AF65-F5344CB8AC3E}">
        <p14:creationId xmlns:p14="http://schemas.microsoft.com/office/powerpoint/2010/main" val="151694166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Picture 14">
            <a:extLst xmlns:a="http://schemas.openxmlformats.org/drawingml/2006/main">
              <a:ext uri="{FF2B5EF4-FFF2-40B4-BE49-F238E27FC236}">
                <a16:creationId xmlns:a16="http://schemas.microsoft.com/office/drawing/2014/main" id="{E6848EBB-E4C7-4116-9861-3607514B69CD}"/>
              </a:ext>
            </a:extLst>
          </p:cNvPr>
          <p:cNvPicPr>
            <a:picLocks xmlns:a="http://schemas.openxmlformats.org/drawingml/2006/main" noChangeAspect="1"/>
          </p:cNvPicPr>
          <p:nvPr/>
        </p:nvPicPr>
        <p:blipFill>
          <a:blip xmlns:r="http://schemas.openxmlformats.org/officeDocument/2006/relationships" xmlns:a="http://schemas.openxmlformats.org/drawingml/2006/main" r:embed="R2550161e90774ed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B0191027-CD26-4857-BD19-ECC4CF5657D6}"/>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Human approval in the action path</a:t>
            </a:r>
          </a:p>
        </p:txBody>
      </p:sp>
      <p:sp>
        <p:nvSpPr>
          <p:cNvPr id="3" name="Rounded Rectangle 2">
            <a:extLst xmlns:a="http://schemas.openxmlformats.org/drawingml/2006/main">
              <a:ext uri="{FF2B5EF4-FFF2-40B4-BE49-F238E27FC236}">
                <a16:creationId xmlns:a16="http://schemas.microsoft.com/office/drawing/2014/main" id="{EFE831B2-E4FB-4ADD-B2E7-5B45D8A2B34D}"/>
              </a:ext>
            </a:extLst>
          </p:cNvPr>
          <p:cNvSpPr>
            <a:spLocks xmlns:a="http://schemas.openxmlformats.org/drawingml/2006/main" noGrp="1"/>
          </p:cNvSpPr>
          <p:nvPr/>
        </p:nvSpPr>
        <p:spPr>
          <a:xfrm xmlns:a="http://schemas.openxmlformats.org/drawingml/2006/main">
            <a:off x="1047750" y="3257550"/>
            <a:ext cx="1524000" cy="800100"/>
          </a:xfrm>
          <a:prstGeom xmlns:a="http://schemas.openxmlformats.org/drawingml/2006/main" prst="roundRect">
            <a:avLst>
              <a:gd name="adj" fmla="val 14286"/>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BAB2C68C-5408-4E73-9A01-840D475EFB80}"/>
              </a:ext>
            </a:extLst>
          </p:cNvPr>
          <p:cNvSpPr>
            <a:spLocks xmlns:a="http://schemas.openxmlformats.org/drawingml/2006/main" noGrp="1"/>
          </p:cNvSpPr>
          <p:nvPr/>
        </p:nvSpPr>
        <p:spPr>
          <a:xfrm xmlns:a="http://schemas.openxmlformats.org/drawingml/2006/main">
            <a:off x="1123950" y="3314700"/>
            <a:ext cx="1371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Proposed</a:t>
            </a:r>
          </a:p>
          <a:p xmlns:a="http://schemas.openxmlformats.org/drawingml/2006/main">
            <a:pPr algn="ctr">
              <a:buNone/>
              <a:defRPr sz="1275" b="1">
                <a:solidFill>
                  <a:srgbClr val="203D67"/>
                </a:solidFill>
              </a:defRPr>
            </a:pPr>
            <a:r>
              <a:rPr sz="1275" b="1">
                <a:solidFill>
                  <a:srgbClr val="203D67"/>
                </a:solidFill>
              </a:rPr>
              <a:t>action</a:t>
            </a:r>
          </a:p>
        </p:txBody>
      </p:sp>
      <p:sp>
        <p:nvSpPr>
          <p:cNvPr id="5" name="Rounded Rectangle 4">
            <a:extLst xmlns:a="http://schemas.openxmlformats.org/drawingml/2006/main">
              <a:ext uri="{FF2B5EF4-FFF2-40B4-BE49-F238E27FC236}">
                <a16:creationId xmlns:a16="http://schemas.microsoft.com/office/drawing/2014/main" id="{15C3BC00-D8D4-44D2-86DD-02113754AA88}"/>
              </a:ext>
            </a:extLst>
          </p:cNvPr>
          <p:cNvSpPr>
            <a:spLocks xmlns:a="http://schemas.openxmlformats.org/drawingml/2006/main" noGrp="1"/>
          </p:cNvSpPr>
          <p:nvPr/>
        </p:nvSpPr>
        <p:spPr>
          <a:xfrm xmlns:a="http://schemas.openxmlformats.org/drawingml/2006/main">
            <a:off x="3409950" y="3257550"/>
            <a:ext cx="1524000" cy="800100"/>
          </a:xfrm>
          <a:prstGeom xmlns:a="http://schemas.openxmlformats.org/drawingml/2006/main" prst="roundRect">
            <a:avLst>
              <a:gd name="adj" fmla="val 14286"/>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77F87097-5079-4D71-91ED-268CFEF3E033}"/>
              </a:ext>
            </a:extLst>
          </p:cNvPr>
          <p:cNvSpPr>
            <a:spLocks xmlns:a="http://schemas.openxmlformats.org/drawingml/2006/main" noGrp="1"/>
          </p:cNvSpPr>
          <p:nvPr/>
        </p:nvSpPr>
        <p:spPr>
          <a:xfrm xmlns:a="http://schemas.openxmlformats.org/drawingml/2006/main">
            <a:off x="3486150" y="3314700"/>
            <a:ext cx="1371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Policy</a:t>
            </a:r>
          </a:p>
          <a:p xmlns:a="http://schemas.openxmlformats.org/drawingml/2006/main">
            <a:pPr algn="ctr">
              <a:buNone/>
              <a:defRPr sz="1275" b="1">
                <a:solidFill>
                  <a:srgbClr val="203D67"/>
                </a:solidFill>
              </a:defRPr>
            </a:pPr>
            <a:r>
              <a:rPr sz="1275" b="1">
                <a:solidFill>
                  <a:srgbClr val="203D67"/>
                </a:solidFill>
              </a:rPr>
              <a:t>check</a:t>
            </a:r>
          </a:p>
        </p:txBody>
      </p:sp>
      <p:sp>
        <p:nvSpPr>
          <p:cNvPr id="7" name="Rounded Rectangle 6">
            <a:extLst xmlns:a="http://schemas.openxmlformats.org/drawingml/2006/main">
              <a:ext uri="{FF2B5EF4-FFF2-40B4-BE49-F238E27FC236}">
                <a16:creationId xmlns:a16="http://schemas.microsoft.com/office/drawing/2014/main" id="{1900E7B8-C60D-4ACD-9D51-F2C0133E45B8}"/>
              </a:ext>
            </a:extLst>
          </p:cNvPr>
          <p:cNvSpPr>
            <a:spLocks xmlns:a="http://schemas.openxmlformats.org/drawingml/2006/main" noGrp="1"/>
          </p:cNvSpPr>
          <p:nvPr/>
        </p:nvSpPr>
        <p:spPr>
          <a:xfrm xmlns:a="http://schemas.openxmlformats.org/drawingml/2006/main">
            <a:off x="5772150" y="3257550"/>
            <a:ext cx="1524000" cy="800100"/>
          </a:xfrm>
          <a:prstGeom xmlns:a="http://schemas.openxmlformats.org/drawingml/2006/main" prst="roundRect">
            <a:avLst>
              <a:gd name="adj" fmla="val 14286"/>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ECFD1B7F-AC06-46A0-9F42-4FAF3635A0F4}"/>
              </a:ext>
            </a:extLst>
          </p:cNvPr>
          <p:cNvSpPr>
            <a:spLocks xmlns:a="http://schemas.openxmlformats.org/drawingml/2006/main" noGrp="1"/>
          </p:cNvSpPr>
          <p:nvPr/>
        </p:nvSpPr>
        <p:spPr>
          <a:xfrm xmlns:a="http://schemas.openxmlformats.org/drawingml/2006/main">
            <a:off x="5848350" y="3314700"/>
            <a:ext cx="1371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Human</a:t>
            </a:r>
          </a:p>
          <a:p xmlns:a="http://schemas.openxmlformats.org/drawingml/2006/main">
            <a:pPr algn="ctr">
              <a:buNone/>
              <a:defRPr sz="1275" b="1">
                <a:solidFill>
                  <a:srgbClr val="203D67"/>
                </a:solidFill>
              </a:defRPr>
            </a:pPr>
            <a:r>
              <a:rPr sz="1275" b="1">
                <a:solidFill>
                  <a:srgbClr val="203D67"/>
                </a:solidFill>
              </a:rPr>
              <a:t>approval</a:t>
            </a:r>
          </a:p>
        </p:txBody>
      </p:sp>
      <p:sp>
        <p:nvSpPr>
          <p:cNvPr id="9" name="Rounded Rectangle 8">
            <a:extLst xmlns:a="http://schemas.openxmlformats.org/drawingml/2006/main">
              <a:ext uri="{FF2B5EF4-FFF2-40B4-BE49-F238E27FC236}">
                <a16:creationId xmlns:a16="http://schemas.microsoft.com/office/drawing/2014/main" id="{92E406F0-9E0B-4EE6-8636-AC964615D0BF}"/>
              </a:ext>
            </a:extLst>
          </p:cNvPr>
          <p:cNvSpPr>
            <a:spLocks xmlns:a="http://schemas.openxmlformats.org/drawingml/2006/main" noGrp="1"/>
          </p:cNvSpPr>
          <p:nvPr/>
        </p:nvSpPr>
        <p:spPr>
          <a:xfrm xmlns:a="http://schemas.openxmlformats.org/drawingml/2006/main">
            <a:off x="8134350" y="3257550"/>
            <a:ext cx="1524000" cy="800100"/>
          </a:xfrm>
          <a:prstGeom xmlns:a="http://schemas.openxmlformats.org/drawingml/2006/main" prst="roundRect">
            <a:avLst>
              <a:gd name="adj" fmla="val 14286"/>
            </a:avLst>
          </a:prstGeom>
          <a:solidFill xmlns:a="http://schemas.openxmlformats.org/drawingml/2006/main">
            <a:srgbClr val="FDE8E1"/>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92C22E-DEF4-45B4-95AE-C5842EDDEE44}"/>
              </a:ext>
            </a:extLst>
          </p:cNvPr>
          <p:cNvSpPr>
            <a:spLocks xmlns:a="http://schemas.openxmlformats.org/drawingml/2006/main" noGrp="1"/>
          </p:cNvSpPr>
          <p:nvPr/>
        </p:nvSpPr>
        <p:spPr>
          <a:xfrm xmlns:a="http://schemas.openxmlformats.org/drawingml/2006/main">
            <a:off x="8210550" y="3314700"/>
            <a:ext cx="1371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Execute</a:t>
            </a:r>
          </a:p>
        </p:txBody>
      </p:sp>
      <p:cxnSp>
        <p:nvCxnSpPr>
          <p:cNvPr id="11" name="Straight Arrow Connector 10">
            <a:extLst xmlns:a="http://schemas.openxmlformats.org/drawingml/2006/main">
              <a:ext uri="{FF2B5EF4-FFF2-40B4-BE49-F238E27FC236}">
                <a16:creationId xmlns:a16="http://schemas.microsoft.com/office/drawing/2014/main" id="{257C4A43-5ABC-4569-AF91-C674ABF0AE55}"/>
              </a:ext>
            </a:extLst>
          </p:cNvPr>
          <p:cNvCxnSpPr>
            <a:stCxn xmlns:a="http://schemas.openxmlformats.org/drawingml/2006/main" id="3" idx="3"/>
            <a:endCxn xmlns:a="http://schemas.openxmlformats.org/drawingml/2006/main" id="5" idx="1"/>
          </p:cNvCxnSpPr>
          <p:nvPr/>
        </p:nvCxnSpPr>
        <p:spPr>
          <a:xfrm xmlns:a="http://schemas.openxmlformats.org/drawingml/2006/main">
            <a:off x="2571750" y="3657600"/>
            <a:ext cx="8382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2" name="Straight Arrow Connector 11">
            <a:extLst xmlns:a="http://schemas.openxmlformats.org/drawingml/2006/main">
              <a:ext uri="{FF2B5EF4-FFF2-40B4-BE49-F238E27FC236}">
                <a16:creationId xmlns:a16="http://schemas.microsoft.com/office/drawing/2014/main" id="{8DC57D6F-71E3-47C9-BE93-2C60B5DECDEE}"/>
              </a:ext>
            </a:extLst>
          </p:cNvPr>
          <p:cNvCxnSpPr>
            <a:stCxn xmlns:a="http://schemas.openxmlformats.org/drawingml/2006/main" id="5" idx="3"/>
            <a:endCxn xmlns:a="http://schemas.openxmlformats.org/drawingml/2006/main" id="7" idx="1"/>
          </p:cNvCxnSpPr>
          <p:nvPr/>
        </p:nvCxnSpPr>
        <p:spPr>
          <a:xfrm xmlns:a="http://schemas.openxmlformats.org/drawingml/2006/main">
            <a:off x="4933950" y="3657600"/>
            <a:ext cx="8382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3" name="Straight Arrow Connector 12">
            <a:extLst xmlns:a="http://schemas.openxmlformats.org/drawingml/2006/main">
              <a:ext uri="{FF2B5EF4-FFF2-40B4-BE49-F238E27FC236}">
                <a16:creationId xmlns:a16="http://schemas.microsoft.com/office/drawing/2014/main" id="{4BDAC96A-E8C5-4E96-99FC-72B3204EEA5F}"/>
              </a:ext>
            </a:extLst>
          </p:cNvPr>
          <p:cNvCxnSpPr>
            <a:stCxn xmlns:a="http://schemas.openxmlformats.org/drawingml/2006/main" id="7" idx="3"/>
            <a:endCxn xmlns:a="http://schemas.openxmlformats.org/drawingml/2006/main" id="9" idx="1"/>
          </p:cNvCxnSpPr>
          <p:nvPr/>
        </p:nvCxnSpPr>
        <p:spPr>
          <a:xfrm xmlns:a="http://schemas.openxmlformats.org/drawingml/2006/main">
            <a:off x="7296150" y="3657600"/>
            <a:ext cx="8382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sp>
        <p:nvSpPr>
          <p:cNvPr id="14" name="Rectangle 13">
            <a:extLst xmlns:a="http://schemas.openxmlformats.org/drawingml/2006/main">
              <a:ext uri="{FF2B5EF4-FFF2-40B4-BE49-F238E27FC236}">
                <a16:creationId xmlns:a16="http://schemas.microsoft.com/office/drawing/2014/main" id="{25FDE907-65C2-465F-9F91-DAE88B503EB9}"/>
              </a:ext>
            </a:extLst>
          </p:cNvPr>
          <p:cNvSpPr>
            <a:spLocks xmlns:a="http://schemas.openxmlformats.org/drawingml/2006/main" noGrp="1"/>
          </p:cNvSpPr>
          <p:nvPr/>
        </p:nvSpPr>
        <p:spPr>
          <a:xfrm xmlns:a="http://schemas.openxmlformats.org/drawingml/2006/main">
            <a:off x="1524000" y="4686300"/>
            <a:ext cx="7620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008A91"/>
                </a:solidFill>
              </a:defRPr>
            </a:defPPr>
          </a:lstStyle>
          <a:p xmlns:a="http://schemas.openxmlformats.org/drawingml/2006/main">
            <a:pPr algn="ctr">
              <a:buNone/>
              <a:defRPr sz="1350" b="1">
                <a:solidFill>
                  <a:srgbClr val="008A91"/>
                </a:solidFill>
              </a:defRPr>
            </a:pPr>
            <a:r>
              <a:rPr sz="1350" b="1">
                <a:solidFill>
                  <a:srgbClr val="008A91"/>
                </a:solidFill>
              </a:rPr>
              <a:t>Examples: sending a message, purchasing, deleting data, changing access</a:t>
            </a:r>
          </a:p>
        </p:txBody>
      </p:sp>
    </p:spTree>
    <p:extLst>
      <p:ext uri="{BB962C8B-B14F-4D97-AF65-F5344CB8AC3E}">
        <p14:creationId xmlns:p14="http://schemas.microsoft.com/office/powerpoint/2010/main" val="99550338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Picture 12">
            <a:extLst xmlns:a="http://schemas.openxmlformats.org/drawingml/2006/main">
              <a:ext uri="{FF2B5EF4-FFF2-40B4-BE49-F238E27FC236}">
                <a16:creationId xmlns:a16="http://schemas.microsoft.com/office/drawing/2014/main" id="{5F83D817-40F3-4F63-9AD7-5010710DC770}"/>
              </a:ext>
            </a:extLst>
          </p:cNvPr>
          <p:cNvPicPr>
            <a:picLocks xmlns:a="http://schemas.openxmlformats.org/drawingml/2006/main" noChangeAspect="1"/>
          </p:cNvPicPr>
          <p:nvPr/>
        </p:nvPicPr>
        <p:blipFill>
          <a:blip xmlns:r="http://schemas.openxmlformats.org/officeDocument/2006/relationships" xmlns:a="http://schemas.openxmlformats.org/drawingml/2006/main" r:embed="Re59647e23db34a7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0B76FD76-045C-4996-AD04-DEB100B9CF2D}"/>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Context, retrieval and memory</a:t>
            </a:r>
          </a:p>
        </p:txBody>
      </p:sp>
      <p:sp>
        <p:nvSpPr>
          <p:cNvPr id="3" name="Rectangle 2">
            <a:extLst xmlns:a="http://schemas.openxmlformats.org/drawingml/2006/main">
              <a:ext uri="{FF2B5EF4-FFF2-40B4-BE49-F238E27FC236}">
                <a16:creationId xmlns:a16="http://schemas.microsoft.com/office/drawing/2014/main" id="{E54A563A-1146-4CE6-8542-AEDF5B34CEFC}"/>
              </a:ext>
            </a:extLst>
          </p:cNvPr>
          <p:cNvSpPr>
            <a:spLocks xmlns:a="http://schemas.openxmlformats.org/drawingml/2006/main" noGrp="1"/>
          </p:cNvSpPr>
          <p:nvPr/>
        </p:nvSpPr>
        <p:spPr>
          <a:xfrm xmlns:a="http://schemas.openxmlformats.org/drawingml/2006/main">
            <a:off x="781050" y="2686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203D67"/>
                </a:solidFill>
              </a:defRPr>
            </a:defPPr>
          </a:lstStyle>
          <a:p xmlns:a="http://schemas.openxmlformats.org/drawingml/2006/main">
            <a:pPr algn="l">
              <a:buNone/>
              <a:defRPr sz="1650" b="1">
                <a:solidFill>
                  <a:srgbClr val="203D67"/>
                </a:solidFill>
              </a:defRPr>
            </a:pPr>
            <a:r>
              <a:rPr sz="1650" b="1">
                <a:solidFill>
                  <a:srgbClr val="203D67"/>
                </a:solidFill>
              </a:rPr>
              <a:t>Context</a:t>
            </a:r>
          </a:p>
        </p:txBody>
      </p:sp>
      <p:sp>
        <p:nvSpPr>
          <p:cNvPr id="4" name="Rectangle 3">
            <a:extLst xmlns:a="http://schemas.openxmlformats.org/drawingml/2006/main">
              <a:ext uri="{FF2B5EF4-FFF2-40B4-BE49-F238E27FC236}">
                <a16:creationId xmlns:a16="http://schemas.microsoft.com/office/drawing/2014/main" id="{2D463C7B-272D-40DF-8E31-CF3F8EF9749E}"/>
              </a:ext>
            </a:extLst>
          </p:cNvPr>
          <p:cNvSpPr>
            <a:spLocks xmlns:a="http://schemas.openxmlformats.org/drawingml/2006/main" noGrp="1"/>
          </p:cNvSpPr>
          <p:nvPr/>
        </p:nvSpPr>
        <p:spPr>
          <a:xfrm xmlns:a="http://schemas.openxmlformats.org/drawingml/2006/main">
            <a:off x="781050" y="3162300"/>
            <a:ext cx="2381250" cy="38100"/>
          </a:xfrm>
          <a:prstGeom xmlns:a="http://schemas.openxmlformats.org/drawingml/2006/main" prst="rect">
            <a:avLst/>
          </a:prstGeom>
          <a:solidFill xmlns:a="http://schemas.openxmlformats.org/drawingml/2006/main">
            <a:srgbClr val="175CE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D501B3DC-F870-4036-B637-0794DE0AB4A7}"/>
              </a:ext>
            </a:extLst>
          </p:cNvPr>
          <p:cNvSpPr>
            <a:spLocks xmlns:a="http://schemas.openxmlformats.org/drawingml/2006/main" noGrp="1"/>
          </p:cNvSpPr>
          <p:nvPr/>
        </p:nvSpPr>
        <p:spPr>
          <a:xfrm xmlns:a="http://schemas.openxmlformats.org/drawingml/2006/main">
            <a:off x="781050" y="3409950"/>
            <a:ext cx="2476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Information visible to the current model call</a:t>
            </a:r>
          </a:p>
        </p:txBody>
      </p:sp>
      <p:sp>
        <p:nvSpPr>
          <p:cNvPr id="6" name="Rectangle 5">
            <a:extLst xmlns:a="http://schemas.openxmlformats.org/drawingml/2006/main">
              <a:ext uri="{FF2B5EF4-FFF2-40B4-BE49-F238E27FC236}">
                <a16:creationId xmlns:a16="http://schemas.microsoft.com/office/drawing/2014/main" id="{04E12929-A0FF-4594-90AD-3BE3BDD445DB}"/>
              </a:ext>
            </a:extLst>
          </p:cNvPr>
          <p:cNvSpPr>
            <a:spLocks xmlns:a="http://schemas.openxmlformats.org/drawingml/2006/main" noGrp="1"/>
          </p:cNvSpPr>
          <p:nvPr/>
        </p:nvSpPr>
        <p:spPr>
          <a:xfrm xmlns:a="http://schemas.openxmlformats.org/drawingml/2006/main">
            <a:off x="3790950" y="2686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203D67"/>
                </a:solidFill>
              </a:defRPr>
            </a:defPPr>
          </a:lstStyle>
          <a:p xmlns:a="http://schemas.openxmlformats.org/drawingml/2006/main">
            <a:pPr algn="l">
              <a:buNone/>
              <a:defRPr sz="1650" b="1">
                <a:solidFill>
                  <a:srgbClr val="203D67"/>
                </a:solidFill>
              </a:defRPr>
            </a:pPr>
            <a:r>
              <a:rPr sz="1650" b="1">
                <a:solidFill>
                  <a:srgbClr val="203D67"/>
                </a:solidFill>
              </a:rPr>
              <a:t>Retrieval</a:t>
            </a:r>
          </a:p>
        </p:txBody>
      </p:sp>
      <p:sp>
        <p:nvSpPr>
          <p:cNvPr id="7" name="Rectangle 6">
            <a:extLst xmlns:a="http://schemas.openxmlformats.org/drawingml/2006/main">
              <a:ext uri="{FF2B5EF4-FFF2-40B4-BE49-F238E27FC236}">
                <a16:creationId xmlns:a16="http://schemas.microsoft.com/office/drawing/2014/main" id="{0A21525C-7D64-4974-BE3F-010A177AA397}"/>
              </a:ext>
            </a:extLst>
          </p:cNvPr>
          <p:cNvSpPr>
            <a:spLocks xmlns:a="http://schemas.openxmlformats.org/drawingml/2006/main" noGrp="1"/>
          </p:cNvSpPr>
          <p:nvPr/>
        </p:nvSpPr>
        <p:spPr>
          <a:xfrm xmlns:a="http://schemas.openxmlformats.org/drawingml/2006/main">
            <a:off x="3790950" y="3162300"/>
            <a:ext cx="2381250" cy="38100"/>
          </a:xfrm>
          <a:prstGeom xmlns:a="http://schemas.openxmlformats.org/drawingml/2006/main" prst="rect">
            <a:avLst/>
          </a:prstGeom>
          <a:solidFill xmlns:a="http://schemas.openxmlformats.org/drawingml/2006/main">
            <a:srgbClr val="42BCC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7E598CDE-0D9E-4D6A-813F-55B4CD7F0BF3}"/>
              </a:ext>
            </a:extLst>
          </p:cNvPr>
          <p:cNvSpPr>
            <a:spLocks xmlns:a="http://schemas.openxmlformats.org/drawingml/2006/main" noGrp="1"/>
          </p:cNvSpPr>
          <p:nvPr/>
        </p:nvSpPr>
        <p:spPr>
          <a:xfrm xmlns:a="http://schemas.openxmlformats.org/drawingml/2006/main">
            <a:off x="3790950" y="3409950"/>
            <a:ext cx="2476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A method for locating relevant external information</a:t>
            </a:r>
          </a:p>
        </p:txBody>
      </p:sp>
      <p:sp>
        <p:nvSpPr>
          <p:cNvPr id="9" name="Rectangle 8">
            <a:extLst xmlns:a="http://schemas.openxmlformats.org/drawingml/2006/main">
              <a:ext uri="{FF2B5EF4-FFF2-40B4-BE49-F238E27FC236}">
                <a16:creationId xmlns:a16="http://schemas.microsoft.com/office/drawing/2014/main" id="{DEB2D0B4-E70E-4350-841F-F77EE26AC7CA}"/>
              </a:ext>
            </a:extLst>
          </p:cNvPr>
          <p:cNvSpPr>
            <a:spLocks xmlns:a="http://schemas.openxmlformats.org/drawingml/2006/main" noGrp="1"/>
          </p:cNvSpPr>
          <p:nvPr/>
        </p:nvSpPr>
        <p:spPr>
          <a:xfrm xmlns:a="http://schemas.openxmlformats.org/drawingml/2006/main">
            <a:off x="6800850" y="2686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203D67"/>
                </a:solidFill>
              </a:defRPr>
            </a:defPPr>
          </a:lstStyle>
          <a:p xmlns:a="http://schemas.openxmlformats.org/drawingml/2006/main">
            <a:pPr algn="l">
              <a:buNone/>
              <a:defRPr sz="1650" b="1">
                <a:solidFill>
                  <a:srgbClr val="203D67"/>
                </a:solidFill>
              </a:defRPr>
            </a:pPr>
            <a:r>
              <a:rPr sz="1650" b="1">
                <a:solidFill>
                  <a:srgbClr val="203D67"/>
                </a:solidFill>
              </a:rPr>
              <a:t>Memory</a:t>
            </a:r>
          </a:p>
        </p:txBody>
      </p:sp>
      <p:sp>
        <p:nvSpPr>
          <p:cNvPr id="10" name="Rectangle 9">
            <a:extLst xmlns:a="http://schemas.openxmlformats.org/drawingml/2006/main">
              <a:ext uri="{FF2B5EF4-FFF2-40B4-BE49-F238E27FC236}">
                <a16:creationId xmlns:a16="http://schemas.microsoft.com/office/drawing/2014/main" id="{444583DA-C3BC-43D8-A26B-B8E46AC5D4C1}"/>
              </a:ext>
            </a:extLst>
          </p:cNvPr>
          <p:cNvSpPr>
            <a:spLocks xmlns:a="http://schemas.openxmlformats.org/drawingml/2006/main" noGrp="1"/>
          </p:cNvSpPr>
          <p:nvPr/>
        </p:nvSpPr>
        <p:spPr>
          <a:xfrm xmlns:a="http://schemas.openxmlformats.org/drawingml/2006/main">
            <a:off x="6800850" y="3162300"/>
            <a:ext cx="2381250" cy="38100"/>
          </a:xfrm>
          <a:prstGeom xmlns:a="http://schemas.openxmlformats.org/drawingml/2006/main" prst="rect">
            <a:avLst/>
          </a:prstGeom>
          <a:solidFill xmlns:a="http://schemas.openxmlformats.org/drawingml/2006/main">
            <a:srgbClr val="F4B9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808A043B-E2B4-4959-A896-29A4455F19C2}"/>
              </a:ext>
            </a:extLst>
          </p:cNvPr>
          <p:cNvSpPr>
            <a:spLocks xmlns:a="http://schemas.openxmlformats.org/drawingml/2006/main" noGrp="1"/>
          </p:cNvSpPr>
          <p:nvPr/>
        </p:nvSpPr>
        <p:spPr>
          <a:xfrm xmlns:a="http://schemas.openxmlformats.org/drawingml/2006/main">
            <a:off x="6800850" y="3409950"/>
            <a:ext cx="2476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Selected information preserved across steps or sessions</a:t>
            </a:r>
          </a:p>
        </p:txBody>
      </p:sp>
      <p:sp>
        <p:nvSpPr>
          <p:cNvPr id="12" name="Rectangle 11">
            <a:extLst xmlns:a="http://schemas.openxmlformats.org/drawingml/2006/main">
              <a:ext uri="{FF2B5EF4-FFF2-40B4-BE49-F238E27FC236}">
                <a16:creationId xmlns:a16="http://schemas.microsoft.com/office/drawing/2014/main" id="{B028297C-D954-42DE-8F3A-023DD354005C}"/>
              </a:ext>
            </a:extLst>
          </p:cNvPr>
          <p:cNvSpPr>
            <a:spLocks xmlns:a="http://schemas.openxmlformats.org/drawingml/2006/main" noGrp="1"/>
          </p:cNvSpPr>
          <p:nvPr/>
        </p:nvSpPr>
        <p:spPr>
          <a:xfrm xmlns:a="http://schemas.openxmlformats.org/drawingml/2006/main">
            <a:off x="2857500" y="50482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75" b="1">
                <a:solidFill>
                  <a:srgbClr val="008A91"/>
                </a:solidFill>
              </a:defRPr>
            </a:defPPr>
          </a:lstStyle>
          <a:p xmlns:a="http://schemas.openxmlformats.org/drawingml/2006/main">
            <a:pPr algn="ctr">
              <a:buNone/>
              <a:defRPr sz="1575" b="1">
                <a:solidFill>
                  <a:srgbClr val="008A91"/>
                </a:solidFill>
              </a:defRPr>
            </a:pPr>
            <a:r>
              <a:rPr sz="1575" b="1">
                <a:solidFill>
                  <a:srgbClr val="008A91"/>
                </a:solidFill>
              </a:rPr>
              <a:t>Good context is selected, not accumulated</a:t>
            </a:r>
          </a:p>
        </p:txBody>
      </p:sp>
    </p:spTree>
    <p:extLst>
      <p:ext uri="{BB962C8B-B14F-4D97-AF65-F5344CB8AC3E}">
        <p14:creationId xmlns:p14="http://schemas.microsoft.com/office/powerpoint/2010/main" val="81600532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8" name="Picture 17">
            <a:extLst xmlns:a="http://schemas.openxmlformats.org/drawingml/2006/main">
              <a:ext uri="{FF2B5EF4-FFF2-40B4-BE49-F238E27FC236}">
                <a16:creationId xmlns:a16="http://schemas.microsoft.com/office/drawing/2014/main" id="{7139E20D-C6A1-4E76-A723-9D08CF401D34}"/>
              </a:ext>
            </a:extLst>
          </p:cNvPr>
          <p:cNvPicPr>
            <a:picLocks xmlns:a="http://schemas.openxmlformats.org/drawingml/2006/main" noChangeAspect="1"/>
          </p:cNvPicPr>
          <p:nvPr/>
        </p:nvPicPr>
        <p:blipFill>
          <a:blip xmlns:r="http://schemas.openxmlformats.org/officeDocument/2006/relationships" xmlns:a="http://schemas.openxmlformats.org/drawingml/2006/main" r:embed="Rb5307f2fa38341a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D2CF82FA-8FBF-4DBB-B361-1D29486D213A}"/>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Agentic retrieval</a:t>
            </a:r>
          </a:p>
        </p:txBody>
      </p:sp>
      <p:sp>
        <p:nvSpPr>
          <p:cNvPr id="3" name="Rounded Rectangle 2">
            <a:extLst xmlns:a="http://schemas.openxmlformats.org/drawingml/2006/main">
              <a:ext uri="{FF2B5EF4-FFF2-40B4-BE49-F238E27FC236}">
                <a16:creationId xmlns:a16="http://schemas.microsoft.com/office/drawing/2014/main" id="{EC4705BA-B79A-46CC-A6EF-B39F7A953104}"/>
              </a:ext>
            </a:extLst>
          </p:cNvPr>
          <p:cNvSpPr>
            <a:spLocks xmlns:a="http://schemas.openxmlformats.org/drawingml/2006/main" noGrp="1"/>
          </p:cNvSpPr>
          <p:nvPr/>
        </p:nvSpPr>
        <p:spPr>
          <a:xfrm xmlns:a="http://schemas.openxmlformats.org/drawingml/2006/main">
            <a:off x="4514850" y="3048000"/>
            <a:ext cx="1619250" cy="800100"/>
          </a:xfrm>
          <a:prstGeom xmlns:a="http://schemas.openxmlformats.org/drawingml/2006/main" prst="roundRect">
            <a:avLst>
              <a:gd name="adj" fmla="val 14286"/>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2647519A-70DA-487F-B83C-CF892B0D5FEE}"/>
              </a:ext>
            </a:extLst>
          </p:cNvPr>
          <p:cNvSpPr>
            <a:spLocks xmlns:a="http://schemas.openxmlformats.org/drawingml/2006/main" noGrp="1"/>
          </p:cNvSpPr>
          <p:nvPr/>
        </p:nvSpPr>
        <p:spPr>
          <a:xfrm xmlns:a="http://schemas.openxmlformats.org/drawingml/2006/main">
            <a:off x="4591050" y="3105150"/>
            <a:ext cx="1466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203D67"/>
                </a:solidFill>
              </a:defRPr>
            </a:defPPr>
          </a:lstStyle>
          <a:p xmlns:a="http://schemas.openxmlformats.org/drawingml/2006/main">
            <a:pPr algn="ctr">
              <a:buNone/>
              <a:defRPr sz="1500" b="1">
                <a:solidFill>
                  <a:srgbClr val="203D67"/>
                </a:solidFill>
              </a:defRPr>
            </a:pPr>
            <a:r>
              <a:rPr sz="1500" b="1">
                <a:solidFill>
                  <a:srgbClr val="203D67"/>
                </a:solidFill>
              </a:rPr>
              <a:t>AGENT</a:t>
            </a:r>
          </a:p>
        </p:txBody>
      </p:sp>
      <p:sp>
        <p:nvSpPr>
          <p:cNvPr id="5" name="Rounded Rectangle 4">
            <a:extLst xmlns:a="http://schemas.openxmlformats.org/drawingml/2006/main">
              <a:ext uri="{FF2B5EF4-FFF2-40B4-BE49-F238E27FC236}">
                <a16:creationId xmlns:a16="http://schemas.microsoft.com/office/drawing/2014/main" id="{E853A875-D8AE-448C-AE9B-EC6C190BB942}"/>
              </a:ext>
            </a:extLst>
          </p:cNvPr>
          <p:cNvSpPr>
            <a:spLocks xmlns:a="http://schemas.openxmlformats.org/drawingml/2006/main" noGrp="1"/>
          </p:cNvSpPr>
          <p:nvPr/>
        </p:nvSpPr>
        <p:spPr>
          <a:xfrm xmlns:a="http://schemas.openxmlformats.org/drawingml/2006/main">
            <a:off x="1143000" y="2857500"/>
            <a:ext cx="1619250" cy="628650"/>
          </a:xfrm>
          <a:prstGeom xmlns:a="http://schemas.openxmlformats.org/drawingml/2006/main" prst="roundRect">
            <a:avLst>
              <a:gd name="adj" fmla="val 18182"/>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DC5B31EC-E3F0-468E-B761-6D3F94C00EED}"/>
              </a:ext>
            </a:extLst>
          </p:cNvPr>
          <p:cNvSpPr>
            <a:spLocks xmlns:a="http://schemas.openxmlformats.org/drawingml/2006/main" noGrp="1"/>
          </p:cNvSpPr>
          <p:nvPr/>
        </p:nvSpPr>
        <p:spPr>
          <a:xfrm xmlns:a="http://schemas.openxmlformats.org/drawingml/2006/main">
            <a:off x="1219200" y="2914650"/>
            <a:ext cx="1466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Web search</a:t>
            </a:r>
          </a:p>
        </p:txBody>
      </p:sp>
      <p:sp>
        <p:nvSpPr>
          <p:cNvPr id="7" name="Rounded Rectangle 6">
            <a:extLst xmlns:a="http://schemas.openxmlformats.org/drawingml/2006/main">
              <a:ext uri="{FF2B5EF4-FFF2-40B4-BE49-F238E27FC236}">
                <a16:creationId xmlns:a16="http://schemas.microsoft.com/office/drawing/2014/main" id="{C2639CBB-1E36-461B-B7D5-EBCB72B1D910}"/>
              </a:ext>
            </a:extLst>
          </p:cNvPr>
          <p:cNvSpPr>
            <a:spLocks xmlns:a="http://schemas.openxmlformats.org/drawingml/2006/main" noGrp="1"/>
          </p:cNvSpPr>
          <p:nvPr/>
        </p:nvSpPr>
        <p:spPr>
          <a:xfrm xmlns:a="http://schemas.openxmlformats.org/drawingml/2006/main">
            <a:off x="1143000" y="4095750"/>
            <a:ext cx="1619250" cy="628650"/>
          </a:xfrm>
          <a:prstGeom xmlns:a="http://schemas.openxmlformats.org/drawingml/2006/main" prst="roundRect">
            <a:avLst>
              <a:gd name="adj" fmla="val 18182"/>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7E885108-8D73-463A-BEFE-37DF230D0444}"/>
              </a:ext>
            </a:extLst>
          </p:cNvPr>
          <p:cNvSpPr>
            <a:spLocks xmlns:a="http://schemas.openxmlformats.org/drawingml/2006/main" noGrp="1"/>
          </p:cNvSpPr>
          <p:nvPr/>
        </p:nvSpPr>
        <p:spPr>
          <a:xfrm xmlns:a="http://schemas.openxmlformats.org/drawingml/2006/main">
            <a:off x="1219200" y="4152900"/>
            <a:ext cx="1466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Knowledge base</a:t>
            </a:r>
          </a:p>
        </p:txBody>
      </p:sp>
      <p:sp>
        <p:nvSpPr>
          <p:cNvPr id="9" name="Rounded Rectangle 8">
            <a:extLst xmlns:a="http://schemas.openxmlformats.org/drawingml/2006/main">
              <a:ext uri="{FF2B5EF4-FFF2-40B4-BE49-F238E27FC236}">
                <a16:creationId xmlns:a16="http://schemas.microsoft.com/office/drawing/2014/main" id="{C109B82F-117D-418D-BA70-6EFFE199B122}"/>
              </a:ext>
            </a:extLst>
          </p:cNvPr>
          <p:cNvSpPr>
            <a:spLocks xmlns:a="http://schemas.openxmlformats.org/drawingml/2006/main" noGrp="1"/>
          </p:cNvSpPr>
          <p:nvPr/>
        </p:nvSpPr>
        <p:spPr>
          <a:xfrm xmlns:a="http://schemas.openxmlformats.org/drawingml/2006/main">
            <a:off x="7905750" y="2857500"/>
            <a:ext cx="1619250" cy="628650"/>
          </a:xfrm>
          <a:prstGeom xmlns:a="http://schemas.openxmlformats.org/drawingml/2006/main" prst="roundRect">
            <a:avLst>
              <a:gd name="adj" fmla="val 18182"/>
            </a:avLst>
          </a:prstGeom>
          <a:solidFill xmlns:a="http://schemas.openxmlformats.org/drawingml/2006/main">
            <a:srgbClr val="FDE8E1"/>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5BBA997F-52BE-489C-97A4-769344BC7E17}"/>
              </a:ext>
            </a:extLst>
          </p:cNvPr>
          <p:cNvSpPr>
            <a:spLocks xmlns:a="http://schemas.openxmlformats.org/drawingml/2006/main" noGrp="1"/>
          </p:cNvSpPr>
          <p:nvPr/>
        </p:nvSpPr>
        <p:spPr>
          <a:xfrm xmlns:a="http://schemas.openxmlformats.org/drawingml/2006/main">
            <a:off x="7981950" y="2914650"/>
            <a:ext cx="1466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Calculator</a:t>
            </a:r>
          </a:p>
        </p:txBody>
      </p:sp>
      <p:sp>
        <p:nvSpPr>
          <p:cNvPr id="11" name="Rounded Rectangle 10">
            <a:extLst xmlns:a="http://schemas.openxmlformats.org/drawingml/2006/main">
              <a:ext uri="{FF2B5EF4-FFF2-40B4-BE49-F238E27FC236}">
                <a16:creationId xmlns:a16="http://schemas.microsoft.com/office/drawing/2014/main" id="{707C9CCB-9929-433F-885C-1F2768282185}"/>
              </a:ext>
            </a:extLst>
          </p:cNvPr>
          <p:cNvSpPr>
            <a:spLocks xmlns:a="http://schemas.openxmlformats.org/drawingml/2006/main" noGrp="1"/>
          </p:cNvSpPr>
          <p:nvPr/>
        </p:nvSpPr>
        <p:spPr>
          <a:xfrm xmlns:a="http://schemas.openxmlformats.org/drawingml/2006/main">
            <a:off x="7905750" y="4095750"/>
            <a:ext cx="1619250" cy="628650"/>
          </a:xfrm>
          <a:prstGeom xmlns:a="http://schemas.openxmlformats.org/drawingml/2006/main" prst="roundRect">
            <a:avLst>
              <a:gd name="adj" fmla="val 18182"/>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D9841776-B1EB-460A-BA74-5C75208A8254}"/>
              </a:ext>
            </a:extLst>
          </p:cNvPr>
          <p:cNvSpPr>
            <a:spLocks xmlns:a="http://schemas.openxmlformats.org/drawingml/2006/main" noGrp="1"/>
          </p:cNvSpPr>
          <p:nvPr/>
        </p:nvSpPr>
        <p:spPr>
          <a:xfrm xmlns:a="http://schemas.openxmlformats.org/drawingml/2006/main">
            <a:off x="7981950" y="4152900"/>
            <a:ext cx="1466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Final answer</a:t>
            </a:r>
          </a:p>
        </p:txBody>
      </p:sp>
      <p:cxnSp>
        <p:nvCxnSpPr>
          <p:cNvPr id="13" name="Straight Arrow Connector 12">
            <a:extLst xmlns:a="http://schemas.openxmlformats.org/drawingml/2006/main">
              <a:ext uri="{FF2B5EF4-FFF2-40B4-BE49-F238E27FC236}">
                <a16:creationId xmlns:a16="http://schemas.microsoft.com/office/drawing/2014/main" id="{6AB20807-DBCA-4CA9-9190-8C6D795D8FB5}"/>
              </a:ext>
            </a:extLst>
          </p:cNvPr>
          <p:cNvCxnSpPr>
            <a:stCxn xmlns:a="http://schemas.openxmlformats.org/drawingml/2006/main" id="3" idx="1"/>
            <a:endCxn xmlns:a="http://schemas.openxmlformats.org/drawingml/2006/main" id="5" idx="3"/>
          </p:cNvCxnSpPr>
          <p:nvPr/>
        </p:nvCxnSpPr>
        <p:spPr>
          <a:xfrm xmlns:a="http://schemas.openxmlformats.org/drawingml/2006/main" flipH="1" flipV="1">
            <a:off x="2762250" y="3171825"/>
            <a:ext cx="1752600" cy="276225"/>
          </a:xfrm>
          <a:prstGeom xmlns:a="http://schemas.openxmlformats.org/drawingml/2006/main" prst="straightConnector1">
            <a:avLst/>
          </a:prstGeom>
          <a:ln xmlns:a="http://schemas.openxmlformats.org/drawingml/2006/main" w="21431">
            <a:solidFill>
              <a:srgbClr val="42BCC9"/>
            </a:solidFill>
            <a:prstDash val="solid"/>
            <a:tailEnd type="arrow" w="med" len="med"/>
          </a:ln>
        </p:spPr>
      </p:cxnSp>
      <p:cxnSp>
        <p:nvCxnSpPr>
          <p:cNvPr id="14" name="Straight Arrow Connector 13">
            <a:extLst xmlns:a="http://schemas.openxmlformats.org/drawingml/2006/main">
              <a:ext uri="{FF2B5EF4-FFF2-40B4-BE49-F238E27FC236}">
                <a16:creationId xmlns:a16="http://schemas.microsoft.com/office/drawing/2014/main" id="{E7ECE4E0-A55E-42D0-A16D-3316CFB11426}"/>
              </a:ext>
            </a:extLst>
          </p:cNvPr>
          <p:cNvCxnSpPr>
            <a:stCxn xmlns:a="http://schemas.openxmlformats.org/drawingml/2006/main" id="3" idx="1"/>
            <a:endCxn xmlns:a="http://schemas.openxmlformats.org/drawingml/2006/main" id="7" idx="3"/>
          </p:cNvCxnSpPr>
          <p:nvPr/>
        </p:nvCxnSpPr>
        <p:spPr>
          <a:xfrm xmlns:a="http://schemas.openxmlformats.org/drawingml/2006/main" flipH="1">
            <a:off x="2762250" y="3448050"/>
            <a:ext cx="1752600" cy="962025"/>
          </a:xfrm>
          <a:prstGeom xmlns:a="http://schemas.openxmlformats.org/drawingml/2006/main" prst="straightConnector1">
            <a:avLst/>
          </a:prstGeom>
          <a:ln xmlns:a="http://schemas.openxmlformats.org/drawingml/2006/main" w="21431">
            <a:solidFill>
              <a:srgbClr val="F4B900"/>
            </a:solidFill>
            <a:prstDash val="solid"/>
            <a:tailEnd type="arrow" w="med" len="med"/>
          </a:ln>
        </p:spPr>
      </p:cxnSp>
      <p:cxnSp>
        <p:nvCxnSpPr>
          <p:cNvPr id="15" name="Straight Arrow Connector 14">
            <a:extLst xmlns:a="http://schemas.openxmlformats.org/drawingml/2006/main">
              <a:ext uri="{FF2B5EF4-FFF2-40B4-BE49-F238E27FC236}">
                <a16:creationId xmlns:a16="http://schemas.microsoft.com/office/drawing/2014/main" id="{E62F997D-FB7E-4496-853C-FEA5247F8305}"/>
              </a:ext>
            </a:extLst>
          </p:cNvPr>
          <p:cNvCxnSpPr>
            <a:stCxn xmlns:a="http://schemas.openxmlformats.org/drawingml/2006/main" id="3" idx="3"/>
            <a:endCxn xmlns:a="http://schemas.openxmlformats.org/drawingml/2006/main" id="9" idx="1"/>
          </p:cNvCxnSpPr>
          <p:nvPr/>
        </p:nvCxnSpPr>
        <p:spPr>
          <a:xfrm xmlns:a="http://schemas.openxmlformats.org/drawingml/2006/main" flipV="1">
            <a:off x="6134100" y="3171825"/>
            <a:ext cx="1771650" cy="276225"/>
          </a:xfrm>
          <a:prstGeom xmlns:a="http://schemas.openxmlformats.org/drawingml/2006/main" prst="straightConnector1">
            <a:avLst/>
          </a:prstGeom>
          <a:ln xmlns:a="http://schemas.openxmlformats.org/drawingml/2006/main" w="21431">
            <a:solidFill>
              <a:srgbClr val="EE7D5B"/>
            </a:solidFill>
            <a:prstDash val="solid"/>
            <a:tailEnd type="arrow" w="med" len="med"/>
          </a:ln>
        </p:spPr>
      </p:cxnSp>
      <p:cxnSp>
        <p:nvCxnSpPr>
          <p:cNvPr id="16" name="Straight Arrow Connector 15">
            <a:extLst xmlns:a="http://schemas.openxmlformats.org/drawingml/2006/main">
              <a:ext uri="{FF2B5EF4-FFF2-40B4-BE49-F238E27FC236}">
                <a16:creationId xmlns:a16="http://schemas.microsoft.com/office/drawing/2014/main" id="{741FEDE2-A473-47CE-BD07-143C1D4EFC9B}"/>
              </a:ext>
            </a:extLst>
          </p:cNvPr>
          <p:cNvCxnSpPr>
            <a:stCxn xmlns:a="http://schemas.openxmlformats.org/drawingml/2006/main" id="3" idx="3"/>
            <a:endCxn xmlns:a="http://schemas.openxmlformats.org/drawingml/2006/main" id="11" idx="1"/>
          </p:cNvCxnSpPr>
          <p:nvPr/>
        </p:nvCxnSpPr>
        <p:spPr>
          <a:xfrm xmlns:a="http://schemas.openxmlformats.org/drawingml/2006/main">
            <a:off x="6134100" y="3448050"/>
            <a:ext cx="1771650" cy="962025"/>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sp>
        <p:nvSpPr>
          <p:cNvPr id="17" name="Rectangle 16">
            <a:extLst xmlns:a="http://schemas.openxmlformats.org/drawingml/2006/main">
              <a:ext uri="{FF2B5EF4-FFF2-40B4-BE49-F238E27FC236}">
                <a16:creationId xmlns:a16="http://schemas.microsoft.com/office/drawing/2014/main" id="{7CB6E6C3-C626-4246-B243-EABD5DC79497}"/>
              </a:ext>
            </a:extLst>
          </p:cNvPr>
          <p:cNvSpPr>
            <a:spLocks xmlns:a="http://schemas.openxmlformats.org/drawingml/2006/main" noGrp="1"/>
          </p:cNvSpPr>
          <p:nvPr/>
        </p:nvSpPr>
        <p:spPr>
          <a:xfrm xmlns:a="http://schemas.openxmlformats.org/drawingml/2006/main">
            <a:off x="2476500" y="5143500"/>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008A91"/>
                </a:solidFill>
              </a:defRPr>
            </a:defPPr>
          </a:lstStyle>
          <a:p xmlns:a="http://schemas.openxmlformats.org/drawingml/2006/main">
            <a:pPr algn="ctr">
              <a:buNone/>
              <a:defRPr sz="1425" b="1">
                <a:solidFill>
                  <a:srgbClr val="008A91"/>
                </a:solidFill>
              </a:defRPr>
            </a:pPr>
            <a:r>
              <a:rPr sz="1425" b="1">
                <a:solidFill>
                  <a:srgbClr val="008A91"/>
                </a:solidFill>
              </a:rPr>
              <a:t>The agent selects sources and can retrieve repeatedly</a:t>
            </a:r>
          </a:p>
        </p:txBody>
      </p:sp>
    </p:spTree>
    <p:extLst>
      <p:ext uri="{BB962C8B-B14F-4D97-AF65-F5344CB8AC3E}">
        <p14:creationId xmlns:p14="http://schemas.microsoft.com/office/powerpoint/2010/main" val="48187611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6" name="Picture 15">
            <a:extLst xmlns:a="http://schemas.openxmlformats.org/drawingml/2006/main">
              <a:ext uri="{FF2B5EF4-FFF2-40B4-BE49-F238E27FC236}">
                <a16:creationId xmlns:a16="http://schemas.microsoft.com/office/drawing/2014/main" id="{B06BB681-7E44-4C64-B8B5-D125728E5682}"/>
              </a:ext>
            </a:extLst>
          </p:cNvPr>
          <p:cNvPicPr>
            <a:picLocks xmlns:a="http://schemas.openxmlformats.org/drawingml/2006/main" noChangeAspect="1"/>
          </p:cNvPicPr>
          <p:nvPr/>
        </p:nvPicPr>
        <p:blipFill>
          <a:blip xmlns:r="http://schemas.openxmlformats.org/officeDocument/2006/relationships" xmlns:a="http://schemas.openxmlformats.org/drawingml/2006/main" r:embed="Rd9db4cf8cb8a431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4862247D-9705-42E3-944D-56908566F930}"/>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Research assistant example</a:t>
            </a:r>
          </a:p>
        </p:txBody>
      </p:sp>
      <p:sp>
        <p:nvSpPr>
          <p:cNvPr id="3" name="Rectangle 2">
            <a:extLst xmlns:a="http://schemas.openxmlformats.org/drawingml/2006/main">
              <a:ext uri="{FF2B5EF4-FFF2-40B4-BE49-F238E27FC236}">
                <a16:creationId xmlns:a16="http://schemas.microsoft.com/office/drawing/2014/main" id="{BCEEBA11-2BC3-4869-9DE5-43C4FF06B53F}"/>
              </a:ext>
            </a:extLst>
          </p:cNvPr>
          <p:cNvSpPr>
            <a:spLocks xmlns:a="http://schemas.openxmlformats.org/drawingml/2006/main" noGrp="1"/>
          </p:cNvSpPr>
          <p:nvPr/>
        </p:nvSpPr>
        <p:spPr>
          <a:xfrm xmlns:a="http://schemas.openxmlformats.org/drawingml/2006/main">
            <a:off x="762000" y="25908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050" b="1">
                <a:solidFill>
                  <a:srgbClr val="175CE5"/>
                </a:solidFill>
              </a:defRPr>
            </a:defPPr>
          </a:lstStyle>
          <a:p xmlns:a="http://schemas.openxmlformats.org/drawingml/2006/main">
            <a:pPr algn="l">
              <a:buNone/>
              <a:defRPr sz="1050" b="1">
                <a:solidFill>
                  <a:srgbClr val="175CE5"/>
                </a:solidFill>
              </a:defRPr>
            </a:pPr>
            <a:r>
              <a:rPr sz="1050" b="1">
                <a:solidFill>
                  <a:srgbClr val="175CE5"/>
                </a:solidFill>
              </a:rPr>
              <a:t>QUESTION</a:t>
            </a:r>
          </a:p>
        </p:txBody>
      </p:sp>
      <p:sp>
        <p:nvSpPr>
          <p:cNvPr id="4" name="Rectangle 3">
            <a:extLst xmlns:a="http://schemas.openxmlformats.org/drawingml/2006/main">
              <a:ext uri="{FF2B5EF4-FFF2-40B4-BE49-F238E27FC236}">
                <a16:creationId xmlns:a16="http://schemas.microsoft.com/office/drawing/2014/main" id="{111A8CFA-6DAE-4AFD-93DA-2695DE6D4A5A}"/>
              </a:ext>
            </a:extLst>
          </p:cNvPr>
          <p:cNvSpPr>
            <a:spLocks xmlns:a="http://schemas.openxmlformats.org/drawingml/2006/main" noGrp="1"/>
          </p:cNvSpPr>
          <p:nvPr/>
        </p:nvSpPr>
        <p:spPr>
          <a:xfrm xmlns:a="http://schemas.openxmlformats.org/drawingml/2006/main">
            <a:off x="762000" y="2952750"/>
            <a:ext cx="5810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75" b="1">
                <a:solidFill>
                  <a:srgbClr val="203D67"/>
                </a:solidFill>
              </a:defRPr>
            </a:defPPr>
          </a:lstStyle>
          <a:p xmlns:a="http://schemas.openxmlformats.org/drawingml/2006/main">
            <a:pPr algn="l">
              <a:buNone/>
              <a:defRPr sz="1875" b="1">
                <a:solidFill>
                  <a:srgbClr val="203D67"/>
                </a:solidFill>
              </a:defRPr>
            </a:pPr>
            <a:r>
              <a:rPr sz="1875" b="1">
                <a:solidFill>
                  <a:srgbClr val="203D67"/>
                </a:solidFill>
              </a:rPr>
              <a:t>Does the evidence justify testing this material in the laboratory?</a:t>
            </a:r>
          </a:p>
        </p:txBody>
      </p:sp>
      <p:sp>
        <p:nvSpPr>
          <p:cNvPr id="5" name="Rounded Rectangle 4">
            <a:extLst xmlns:a="http://schemas.openxmlformats.org/drawingml/2006/main">
              <a:ext uri="{FF2B5EF4-FFF2-40B4-BE49-F238E27FC236}">
                <a16:creationId xmlns:a16="http://schemas.microsoft.com/office/drawing/2014/main" id="{E7D45BBC-7F32-48F9-82DD-0DEC97B302B1}"/>
              </a:ext>
            </a:extLst>
          </p:cNvPr>
          <p:cNvSpPr>
            <a:spLocks xmlns:a="http://schemas.openxmlformats.org/drawingml/2006/main" noGrp="1"/>
          </p:cNvSpPr>
          <p:nvPr/>
        </p:nvSpPr>
        <p:spPr>
          <a:xfrm xmlns:a="http://schemas.openxmlformats.org/drawingml/2006/main">
            <a:off x="6953250" y="2686050"/>
            <a:ext cx="104775" cy="104775"/>
          </a:xfrm>
          <a:prstGeom xmlns:a="http://schemas.openxmlformats.org/drawingml/2006/main" prst="roundRect">
            <a:avLst>
              <a:gd name="adj" fmla="val 18182"/>
            </a:avLst>
          </a:prstGeom>
          <a:solidFill xmlns:a="http://schemas.openxmlformats.org/drawingml/2006/main">
            <a:srgbClr val="175CE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EE8D9CCB-6D2B-4F85-BC98-E1725A2E6209}"/>
              </a:ext>
            </a:extLst>
          </p:cNvPr>
          <p:cNvSpPr>
            <a:spLocks xmlns:a="http://schemas.openxmlformats.org/drawingml/2006/main" noGrp="1"/>
          </p:cNvSpPr>
          <p:nvPr/>
        </p:nvSpPr>
        <p:spPr>
          <a:xfrm xmlns:a="http://schemas.openxmlformats.org/drawingml/2006/main">
            <a:off x="7239000" y="2571750"/>
            <a:ext cx="35242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Search recent literature</a:t>
            </a:r>
          </a:p>
        </p:txBody>
      </p:sp>
      <p:sp>
        <p:nvSpPr>
          <p:cNvPr id="7" name="Rounded Rectangle 6">
            <a:extLst xmlns:a="http://schemas.openxmlformats.org/drawingml/2006/main">
              <a:ext uri="{FF2B5EF4-FFF2-40B4-BE49-F238E27FC236}">
                <a16:creationId xmlns:a16="http://schemas.microsoft.com/office/drawing/2014/main" id="{53789B9A-4D26-4538-BDE8-6D36C28AF415}"/>
              </a:ext>
            </a:extLst>
          </p:cNvPr>
          <p:cNvSpPr>
            <a:spLocks xmlns:a="http://schemas.openxmlformats.org/drawingml/2006/main" noGrp="1"/>
          </p:cNvSpPr>
          <p:nvPr/>
        </p:nvSpPr>
        <p:spPr>
          <a:xfrm xmlns:a="http://schemas.openxmlformats.org/drawingml/2006/main">
            <a:off x="6953250" y="3228975"/>
            <a:ext cx="104775" cy="104775"/>
          </a:xfrm>
          <a:prstGeom xmlns:a="http://schemas.openxmlformats.org/drawingml/2006/main" prst="roundRect">
            <a:avLst>
              <a:gd name="adj" fmla="val 18182"/>
            </a:avLst>
          </a:prstGeom>
          <a:solidFill xmlns:a="http://schemas.openxmlformats.org/drawingml/2006/main">
            <a:srgbClr val="42BCC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826162BC-1E42-4138-BF94-4E9387280F10}"/>
              </a:ext>
            </a:extLst>
          </p:cNvPr>
          <p:cNvSpPr>
            <a:spLocks xmlns:a="http://schemas.openxmlformats.org/drawingml/2006/main" noGrp="1"/>
          </p:cNvSpPr>
          <p:nvPr/>
        </p:nvSpPr>
        <p:spPr>
          <a:xfrm xmlns:a="http://schemas.openxmlformats.org/drawingml/2006/main">
            <a:off x="7239000" y="3114675"/>
            <a:ext cx="35242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Retrieve internal measurements</a:t>
            </a:r>
          </a:p>
        </p:txBody>
      </p:sp>
      <p:sp>
        <p:nvSpPr>
          <p:cNvPr id="9" name="Rounded Rectangle 8">
            <a:extLst xmlns:a="http://schemas.openxmlformats.org/drawingml/2006/main">
              <a:ext uri="{FF2B5EF4-FFF2-40B4-BE49-F238E27FC236}">
                <a16:creationId xmlns:a16="http://schemas.microsoft.com/office/drawing/2014/main" id="{CB4BC00D-7949-4FCB-873F-61E84334088B}"/>
              </a:ext>
            </a:extLst>
          </p:cNvPr>
          <p:cNvSpPr>
            <a:spLocks xmlns:a="http://schemas.openxmlformats.org/drawingml/2006/main" noGrp="1"/>
          </p:cNvSpPr>
          <p:nvPr/>
        </p:nvSpPr>
        <p:spPr>
          <a:xfrm xmlns:a="http://schemas.openxmlformats.org/drawingml/2006/main">
            <a:off x="6953250" y="3771900"/>
            <a:ext cx="104775" cy="104775"/>
          </a:xfrm>
          <a:prstGeom xmlns:a="http://schemas.openxmlformats.org/drawingml/2006/main" prst="roundRect">
            <a:avLst>
              <a:gd name="adj" fmla="val 18182"/>
            </a:avLst>
          </a:prstGeom>
          <a:solidFill xmlns:a="http://schemas.openxmlformats.org/drawingml/2006/main">
            <a:srgbClr val="F4B9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2E7BFC76-868D-4B8D-8A1F-3346B09108FF}"/>
              </a:ext>
            </a:extLst>
          </p:cNvPr>
          <p:cNvSpPr>
            <a:spLocks xmlns:a="http://schemas.openxmlformats.org/drawingml/2006/main" noGrp="1"/>
          </p:cNvSpPr>
          <p:nvPr/>
        </p:nvSpPr>
        <p:spPr>
          <a:xfrm xmlns:a="http://schemas.openxmlformats.org/drawingml/2006/main">
            <a:off x="7239000" y="3657600"/>
            <a:ext cx="35242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Run a statistical check</a:t>
            </a:r>
          </a:p>
        </p:txBody>
      </p:sp>
      <p:sp>
        <p:nvSpPr>
          <p:cNvPr id="11" name="Rounded Rectangle 10">
            <a:extLst xmlns:a="http://schemas.openxmlformats.org/drawingml/2006/main">
              <a:ext uri="{FF2B5EF4-FFF2-40B4-BE49-F238E27FC236}">
                <a16:creationId xmlns:a16="http://schemas.microsoft.com/office/drawing/2014/main" id="{4DDB9F68-68B8-4E9A-9ECA-030A2A9E73E9}"/>
              </a:ext>
            </a:extLst>
          </p:cNvPr>
          <p:cNvSpPr>
            <a:spLocks xmlns:a="http://schemas.openxmlformats.org/drawingml/2006/main" noGrp="1"/>
          </p:cNvSpPr>
          <p:nvPr/>
        </p:nvSpPr>
        <p:spPr>
          <a:xfrm xmlns:a="http://schemas.openxmlformats.org/drawingml/2006/main">
            <a:off x="6953250" y="4314825"/>
            <a:ext cx="104775" cy="104775"/>
          </a:xfrm>
          <a:prstGeom xmlns:a="http://schemas.openxmlformats.org/drawingml/2006/main" prst="roundRect">
            <a:avLst>
              <a:gd name="adj" fmla="val 18182"/>
            </a:avLst>
          </a:prstGeom>
          <a:solidFill xmlns:a="http://schemas.openxmlformats.org/drawingml/2006/main">
            <a:srgbClr val="EE7D5B"/>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10232CFD-6D8A-4D46-9950-F528E430E5F8}"/>
              </a:ext>
            </a:extLst>
          </p:cNvPr>
          <p:cNvSpPr>
            <a:spLocks xmlns:a="http://schemas.openxmlformats.org/drawingml/2006/main" noGrp="1"/>
          </p:cNvSpPr>
          <p:nvPr/>
        </p:nvSpPr>
        <p:spPr>
          <a:xfrm xmlns:a="http://schemas.openxmlformats.org/drawingml/2006/main">
            <a:off x="7239000" y="4200525"/>
            <a:ext cx="35242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Compare evidence and uncertainty</a:t>
            </a:r>
          </a:p>
        </p:txBody>
      </p:sp>
      <p:sp>
        <p:nvSpPr>
          <p:cNvPr id="13" name="Rounded Rectangle 12">
            <a:extLst xmlns:a="http://schemas.openxmlformats.org/drawingml/2006/main">
              <a:ext uri="{FF2B5EF4-FFF2-40B4-BE49-F238E27FC236}">
                <a16:creationId xmlns:a16="http://schemas.microsoft.com/office/drawing/2014/main" id="{36CA17BF-9801-4FDF-BC1F-9C8EBD5AD238}"/>
              </a:ext>
            </a:extLst>
          </p:cNvPr>
          <p:cNvSpPr>
            <a:spLocks xmlns:a="http://schemas.openxmlformats.org/drawingml/2006/main" noGrp="1"/>
          </p:cNvSpPr>
          <p:nvPr/>
        </p:nvSpPr>
        <p:spPr>
          <a:xfrm xmlns:a="http://schemas.openxmlformats.org/drawingml/2006/main">
            <a:off x="6953250" y="4857750"/>
            <a:ext cx="104775" cy="104775"/>
          </a:xfrm>
          <a:prstGeom xmlns:a="http://schemas.openxmlformats.org/drawingml/2006/main" prst="roundRect">
            <a:avLst>
              <a:gd name="adj" fmla="val 18182"/>
            </a:avLst>
          </a:prstGeom>
          <a:solidFill xmlns:a="http://schemas.openxmlformats.org/drawingml/2006/main">
            <a:srgbClr val="008A91"/>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0EC11FA6-A661-4913-949B-DC0B0D3C1858}"/>
              </a:ext>
            </a:extLst>
          </p:cNvPr>
          <p:cNvSpPr>
            <a:spLocks xmlns:a="http://schemas.openxmlformats.org/drawingml/2006/main" noGrp="1"/>
          </p:cNvSpPr>
          <p:nvPr/>
        </p:nvSpPr>
        <p:spPr>
          <a:xfrm xmlns:a="http://schemas.openxmlformats.org/drawingml/2006/main">
            <a:off x="7239000" y="4743450"/>
            <a:ext cx="35242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Produce a cited recommendation</a:t>
            </a:r>
          </a:p>
        </p:txBody>
      </p:sp>
      <p:sp>
        <p:nvSpPr>
          <p:cNvPr id="15" name="Rectangle 14">
            <a:extLst xmlns:a="http://schemas.openxmlformats.org/drawingml/2006/main">
              <a:ext uri="{FF2B5EF4-FFF2-40B4-BE49-F238E27FC236}">
                <a16:creationId xmlns:a16="http://schemas.microsoft.com/office/drawing/2014/main" id="{944FEB55-1478-47BE-93FC-F5EB94AACE1B}"/>
              </a:ext>
            </a:extLst>
          </p:cNvPr>
          <p:cNvSpPr>
            <a:spLocks xmlns:a="http://schemas.openxmlformats.org/drawingml/2006/main" noGrp="1"/>
          </p:cNvSpPr>
          <p:nvPr/>
        </p:nvSpPr>
        <p:spPr>
          <a:xfrm xmlns:a="http://schemas.openxmlformats.org/drawingml/2006/main">
            <a:off x="1104900" y="4762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008A91"/>
                </a:solidFill>
              </a:defRPr>
            </a:defPPr>
          </a:lstStyle>
          <a:p xmlns:a="http://schemas.openxmlformats.org/drawingml/2006/main">
            <a:pPr algn="ctr">
              <a:buNone/>
              <a:defRPr sz="1425" b="1">
                <a:solidFill>
                  <a:srgbClr val="008A91"/>
                </a:solidFill>
              </a:defRPr>
            </a:pPr>
            <a:r>
              <a:rPr sz="1425" b="1">
                <a:solidFill>
                  <a:srgbClr val="008A91"/>
                </a:solidFill>
              </a:rPr>
              <a:t>The agent coordinates evidence gathering. Domain experts still own the experimental decision.</a:t>
            </a:r>
          </a:p>
        </p:txBody>
      </p:sp>
    </p:spTree>
    <p:extLst>
      <p:ext uri="{BB962C8B-B14F-4D97-AF65-F5344CB8AC3E}">
        <p14:creationId xmlns:p14="http://schemas.microsoft.com/office/powerpoint/2010/main" val="114452339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8" name="Picture 17">
            <a:extLst xmlns:a="http://schemas.openxmlformats.org/drawingml/2006/main">
              <a:ext uri="{FF2B5EF4-FFF2-40B4-BE49-F238E27FC236}">
                <a16:creationId xmlns:a16="http://schemas.microsoft.com/office/drawing/2014/main" id="{C39EA5FA-3CF5-4377-A4EE-7B1C13FD22D1}"/>
              </a:ext>
            </a:extLst>
          </p:cNvPr>
          <p:cNvPicPr>
            <a:picLocks xmlns:a="http://schemas.openxmlformats.org/drawingml/2006/main" noChangeAspect="1"/>
          </p:cNvPicPr>
          <p:nvPr/>
        </p:nvPicPr>
        <p:blipFill>
          <a:blip xmlns:r="http://schemas.openxmlformats.org/officeDocument/2006/relationships" xmlns:a="http://schemas.openxmlformats.org/drawingml/2006/main" r:embed="R029cc784894b428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1AF7151F-B4BE-44DD-BDDE-D377B1D0A2B8}"/>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The smolagents architecture</a:t>
            </a:r>
          </a:p>
        </p:txBody>
      </p:sp>
      <p:sp>
        <p:nvSpPr>
          <p:cNvPr id="3" name="Rounded Rectangle 2">
            <a:extLst xmlns:a="http://schemas.openxmlformats.org/drawingml/2006/main">
              <a:ext uri="{FF2B5EF4-FFF2-40B4-BE49-F238E27FC236}">
                <a16:creationId xmlns:a16="http://schemas.microsoft.com/office/drawing/2014/main" id="{DD6627AC-5231-40C3-A22E-266AD30A66FE}"/>
              </a:ext>
            </a:extLst>
          </p:cNvPr>
          <p:cNvSpPr>
            <a:spLocks xmlns:a="http://schemas.openxmlformats.org/drawingml/2006/main" noGrp="1"/>
          </p:cNvSpPr>
          <p:nvPr/>
        </p:nvSpPr>
        <p:spPr>
          <a:xfrm xmlns:a="http://schemas.openxmlformats.org/drawingml/2006/main">
            <a:off x="800100" y="3333750"/>
            <a:ext cx="1333500" cy="685800"/>
          </a:xfrm>
          <a:prstGeom xmlns:a="http://schemas.openxmlformats.org/drawingml/2006/main" prst="roundRect">
            <a:avLst>
              <a:gd name="adj" fmla="val 16667"/>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B5B40E2-C29C-43C4-AAED-51A8749DB339}"/>
              </a:ext>
            </a:extLst>
          </p:cNvPr>
          <p:cNvSpPr>
            <a:spLocks xmlns:a="http://schemas.openxmlformats.org/drawingml/2006/main" noGrp="1"/>
          </p:cNvSpPr>
          <p:nvPr/>
        </p:nvSpPr>
        <p:spPr>
          <a:xfrm xmlns:a="http://schemas.openxmlformats.org/drawingml/2006/main">
            <a:off x="876300" y="3390900"/>
            <a:ext cx="1181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Model</a:t>
            </a:r>
          </a:p>
        </p:txBody>
      </p:sp>
      <p:sp>
        <p:nvSpPr>
          <p:cNvPr id="5" name="Rounded Rectangle 4">
            <a:extLst xmlns:a="http://schemas.openxmlformats.org/drawingml/2006/main">
              <a:ext uri="{FF2B5EF4-FFF2-40B4-BE49-F238E27FC236}">
                <a16:creationId xmlns:a16="http://schemas.microsoft.com/office/drawing/2014/main" id="{229AB814-20F8-44DA-8C6F-90E5CA0AC7F8}"/>
              </a:ext>
            </a:extLst>
          </p:cNvPr>
          <p:cNvSpPr>
            <a:spLocks xmlns:a="http://schemas.openxmlformats.org/drawingml/2006/main" noGrp="1"/>
          </p:cNvSpPr>
          <p:nvPr/>
        </p:nvSpPr>
        <p:spPr>
          <a:xfrm xmlns:a="http://schemas.openxmlformats.org/drawingml/2006/main">
            <a:off x="2990850" y="3143250"/>
            <a:ext cx="1619250" cy="1066800"/>
          </a:xfrm>
          <a:prstGeom xmlns:a="http://schemas.openxmlformats.org/drawingml/2006/main" prst="roundRect">
            <a:avLst>
              <a:gd name="adj" fmla="val 10714"/>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5810DAD9-3EE0-41AB-8DAB-4FD9FF1B1146}"/>
              </a:ext>
            </a:extLst>
          </p:cNvPr>
          <p:cNvSpPr>
            <a:spLocks xmlns:a="http://schemas.openxmlformats.org/drawingml/2006/main" noGrp="1"/>
          </p:cNvSpPr>
          <p:nvPr/>
        </p:nvSpPr>
        <p:spPr>
          <a:xfrm xmlns:a="http://schemas.openxmlformats.org/drawingml/2006/main">
            <a:off x="3067050" y="3200400"/>
            <a:ext cx="14668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203D67"/>
                </a:solidFill>
              </a:defRPr>
            </a:defPPr>
          </a:lstStyle>
          <a:p xmlns:a="http://schemas.openxmlformats.org/drawingml/2006/main">
            <a:pPr algn="ctr">
              <a:buNone/>
              <a:defRPr sz="1350" b="1">
                <a:solidFill>
                  <a:srgbClr val="203D67"/>
                </a:solidFill>
              </a:defRPr>
            </a:pPr>
            <a:r>
              <a:rPr sz="1350" b="1">
                <a:solidFill>
                  <a:srgbClr val="203D67"/>
                </a:solidFill>
              </a:rPr>
              <a:t>Multi-step</a:t>
            </a:r>
          </a:p>
          <a:p xmlns:a="http://schemas.openxmlformats.org/drawingml/2006/main">
            <a:pPr algn="ctr">
              <a:buNone/>
              <a:defRPr sz="1350" b="1">
                <a:solidFill>
                  <a:srgbClr val="203D67"/>
                </a:solidFill>
              </a:defRPr>
            </a:pPr>
            <a:r>
              <a:rPr sz="1350" b="1">
                <a:solidFill>
                  <a:srgbClr val="203D67"/>
                </a:solidFill>
              </a:rPr>
              <a:t>controller</a:t>
            </a:r>
          </a:p>
        </p:txBody>
      </p:sp>
      <p:sp>
        <p:nvSpPr>
          <p:cNvPr id="7" name="Rounded Rectangle 6">
            <a:extLst xmlns:a="http://schemas.openxmlformats.org/drawingml/2006/main">
              <a:ext uri="{FF2B5EF4-FFF2-40B4-BE49-F238E27FC236}">
                <a16:creationId xmlns:a16="http://schemas.microsoft.com/office/drawing/2014/main" id="{B3E2D60C-5BDA-484A-AA78-65C19528E3DB}"/>
              </a:ext>
            </a:extLst>
          </p:cNvPr>
          <p:cNvSpPr>
            <a:spLocks xmlns:a="http://schemas.openxmlformats.org/drawingml/2006/main" noGrp="1"/>
          </p:cNvSpPr>
          <p:nvPr/>
        </p:nvSpPr>
        <p:spPr>
          <a:xfrm xmlns:a="http://schemas.openxmlformats.org/drawingml/2006/main">
            <a:off x="5562600" y="2724150"/>
            <a:ext cx="1428750" cy="647700"/>
          </a:xfrm>
          <a:prstGeom xmlns:a="http://schemas.openxmlformats.org/drawingml/2006/main" prst="roundRect">
            <a:avLst>
              <a:gd name="adj" fmla="val 17647"/>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7EEBC942-58D7-435B-84E9-1DD3A12089FC}"/>
              </a:ext>
            </a:extLst>
          </p:cNvPr>
          <p:cNvSpPr>
            <a:spLocks xmlns:a="http://schemas.openxmlformats.org/drawingml/2006/main" noGrp="1"/>
          </p:cNvSpPr>
          <p:nvPr/>
        </p:nvSpPr>
        <p:spPr>
          <a:xfrm xmlns:a="http://schemas.openxmlformats.org/drawingml/2006/main">
            <a:off x="5638800" y="2781300"/>
            <a:ext cx="1276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Tools</a:t>
            </a:r>
          </a:p>
        </p:txBody>
      </p:sp>
      <p:sp>
        <p:nvSpPr>
          <p:cNvPr id="9" name="Rounded Rectangle 8">
            <a:extLst xmlns:a="http://schemas.openxmlformats.org/drawingml/2006/main">
              <a:ext uri="{FF2B5EF4-FFF2-40B4-BE49-F238E27FC236}">
                <a16:creationId xmlns:a16="http://schemas.microsoft.com/office/drawing/2014/main" id="{11BBDB37-398B-4779-BD61-EA36857BACAF}"/>
              </a:ext>
            </a:extLst>
          </p:cNvPr>
          <p:cNvSpPr>
            <a:spLocks xmlns:a="http://schemas.openxmlformats.org/drawingml/2006/main" noGrp="1"/>
          </p:cNvSpPr>
          <p:nvPr/>
        </p:nvSpPr>
        <p:spPr>
          <a:xfrm xmlns:a="http://schemas.openxmlformats.org/drawingml/2006/main">
            <a:off x="5562600" y="3981450"/>
            <a:ext cx="1428750" cy="647700"/>
          </a:xfrm>
          <a:prstGeom xmlns:a="http://schemas.openxmlformats.org/drawingml/2006/main" prst="roundRect">
            <a:avLst>
              <a:gd name="adj" fmla="val 17647"/>
            </a:avLst>
          </a:prstGeom>
          <a:solidFill xmlns:a="http://schemas.openxmlformats.org/drawingml/2006/main">
            <a:srgbClr val="FDE8E1"/>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CB0575E1-413D-4F26-81FA-0CB6E1B2AAAA}"/>
              </a:ext>
            </a:extLst>
          </p:cNvPr>
          <p:cNvSpPr>
            <a:spLocks xmlns:a="http://schemas.openxmlformats.org/drawingml/2006/main" noGrp="1"/>
          </p:cNvSpPr>
          <p:nvPr/>
        </p:nvSpPr>
        <p:spPr>
          <a:xfrm xmlns:a="http://schemas.openxmlformats.org/drawingml/2006/main">
            <a:off x="5638800" y="4038600"/>
            <a:ext cx="1276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Memory</a:t>
            </a:r>
          </a:p>
        </p:txBody>
      </p:sp>
      <p:sp>
        <p:nvSpPr>
          <p:cNvPr id="11" name="Rounded Rectangle 10">
            <a:extLst xmlns:a="http://schemas.openxmlformats.org/drawingml/2006/main">
              <a:ext uri="{FF2B5EF4-FFF2-40B4-BE49-F238E27FC236}">
                <a16:creationId xmlns:a16="http://schemas.microsoft.com/office/drawing/2014/main" id="{25C9F5F2-EEFE-4D77-905E-A1D67FF8BE0B}"/>
              </a:ext>
            </a:extLst>
          </p:cNvPr>
          <p:cNvSpPr>
            <a:spLocks xmlns:a="http://schemas.openxmlformats.org/drawingml/2006/main" noGrp="1"/>
          </p:cNvSpPr>
          <p:nvPr/>
        </p:nvSpPr>
        <p:spPr>
          <a:xfrm xmlns:a="http://schemas.openxmlformats.org/drawingml/2006/main">
            <a:off x="7962900" y="3333750"/>
            <a:ext cx="1428750" cy="685800"/>
          </a:xfrm>
          <a:prstGeom xmlns:a="http://schemas.openxmlformats.org/drawingml/2006/main" prst="roundRect">
            <a:avLst>
              <a:gd name="adj" fmla="val 16667"/>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1073759E-D0A4-4656-B5E8-E6694E086B6C}"/>
              </a:ext>
            </a:extLst>
          </p:cNvPr>
          <p:cNvSpPr>
            <a:spLocks xmlns:a="http://schemas.openxmlformats.org/drawingml/2006/main" noGrp="1"/>
          </p:cNvSpPr>
          <p:nvPr/>
        </p:nvSpPr>
        <p:spPr>
          <a:xfrm xmlns:a="http://schemas.openxmlformats.org/drawingml/2006/main">
            <a:off x="8039100" y="3390900"/>
            <a:ext cx="12763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Result</a:t>
            </a:r>
          </a:p>
        </p:txBody>
      </p:sp>
      <p:cxnSp>
        <p:nvCxnSpPr>
          <p:cNvPr id="13" name="Straight Arrow Connector 12">
            <a:extLst xmlns:a="http://schemas.openxmlformats.org/drawingml/2006/main">
              <a:ext uri="{FF2B5EF4-FFF2-40B4-BE49-F238E27FC236}">
                <a16:creationId xmlns:a16="http://schemas.microsoft.com/office/drawing/2014/main" id="{0AA20295-A28A-4AC9-B306-1263EC705C16}"/>
              </a:ext>
            </a:extLst>
          </p:cNvPr>
          <p:cNvCxnSpPr>
            <a:stCxn xmlns:a="http://schemas.openxmlformats.org/drawingml/2006/main" id="3" idx="3"/>
            <a:endCxn xmlns:a="http://schemas.openxmlformats.org/drawingml/2006/main" id="5" idx="1"/>
          </p:cNvCxnSpPr>
          <p:nvPr/>
        </p:nvCxnSpPr>
        <p:spPr>
          <a:xfrm xmlns:a="http://schemas.openxmlformats.org/drawingml/2006/main">
            <a:off x="2133600" y="3676650"/>
            <a:ext cx="85725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4" name="Straight Arrow Connector 13">
            <a:extLst xmlns:a="http://schemas.openxmlformats.org/drawingml/2006/main">
              <a:ext uri="{FF2B5EF4-FFF2-40B4-BE49-F238E27FC236}">
                <a16:creationId xmlns:a16="http://schemas.microsoft.com/office/drawing/2014/main" id="{7A7DC6FA-7278-4AFC-A487-8008881401AD}"/>
              </a:ext>
            </a:extLst>
          </p:cNvPr>
          <p:cNvCxnSpPr>
            <a:stCxn xmlns:a="http://schemas.openxmlformats.org/drawingml/2006/main" id="5" idx="3"/>
            <a:endCxn xmlns:a="http://schemas.openxmlformats.org/drawingml/2006/main" id="7" idx="1"/>
          </p:cNvCxnSpPr>
          <p:nvPr/>
        </p:nvCxnSpPr>
        <p:spPr>
          <a:xfrm xmlns:a="http://schemas.openxmlformats.org/drawingml/2006/main" flipV="1">
            <a:off x="4610100" y="3048000"/>
            <a:ext cx="952500" cy="62865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5" name="Straight Arrow Connector 14">
            <a:extLst xmlns:a="http://schemas.openxmlformats.org/drawingml/2006/main">
              <a:ext uri="{FF2B5EF4-FFF2-40B4-BE49-F238E27FC236}">
                <a16:creationId xmlns:a16="http://schemas.microsoft.com/office/drawing/2014/main" id="{7460BD5B-D2C2-4AEC-86D5-A8D541E8C400}"/>
              </a:ext>
            </a:extLst>
          </p:cNvPr>
          <p:cNvCxnSpPr>
            <a:stCxn xmlns:a="http://schemas.openxmlformats.org/drawingml/2006/main" id="5" idx="3"/>
            <a:endCxn xmlns:a="http://schemas.openxmlformats.org/drawingml/2006/main" id="9" idx="1"/>
          </p:cNvCxnSpPr>
          <p:nvPr/>
        </p:nvCxnSpPr>
        <p:spPr>
          <a:xfrm xmlns:a="http://schemas.openxmlformats.org/drawingml/2006/main">
            <a:off x="4610100" y="3676650"/>
            <a:ext cx="952500" cy="62865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cxnSp>
        <p:nvCxnSpPr>
          <p:cNvPr id="16" name="Straight Arrow Connector 15">
            <a:extLst xmlns:a="http://schemas.openxmlformats.org/drawingml/2006/main">
              <a:ext uri="{FF2B5EF4-FFF2-40B4-BE49-F238E27FC236}">
                <a16:creationId xmlns:a16="http://schemas.microsoft.com/office/drawing/2014/main" id="{2F27967E-EC8F-4D24-9E0E-086C1864738B}"/>
              </a:ext>
            </a:extLst>
          </p:cNvPr>
          <p:cNvCxnSpPr>
            <a:stCxn xmlns:a="http://schemas.openxmlformats.org/drawingml/2006/main" id="5" idx="3"/>
            <a:endCxn xmlns:a="http://schemas.openxmlformats.org/drawingml/2006/main" id="11" idx="1"/>
          </p:cNvCxnSpPr>
          <p:nvPr/>
        </p:nvCxnSpPr>
        <p:spPr>
          <a:xfrm xmlns:a="http://schemas.openxmlformats.org/drawingml/2006/main">
            <a:off x="4610100" y="3676650"/>
            <a:ext cx="3352800" cy="0"/>
          </a:xfrm>
          <a:prstGeom xmlns:a="http://schemas.openxmlformats.org/drawingml/2006/main" prst="straightConnector1">
            <a:avLst/>
          </a:prstGeom>
          <a:ln xmlns:a="http://schemas.openxmlformats.org/drawingml/2006/main" w="21431">
            <a:solidFill>
              <a:srgbClr val="175CE5"/>
            </a:solidFill>
            <a:prstDash val="solid"/>
            <a:tailEnd type="arrow" w="med" len="med"/>
          </a:ln>
        </p:spPr>
      </p:cxnSp>
      <p:sp>
        <p:nvSpPr>
          <p:cNvPr id="17" name="Rectangle 16">
            <a:extLst xmlns:a="http://schemas.openxmlformats.org/drawingml/2006/main">
              <a:ext uri="{FF2B5EF4-FFF2-40B4-BE49-F238E27FC236}">
                <a16:creationId xmlns:a16="http://schemas.microsoft.com/office/drawing/2014/main" id="{D2B3CBB0-57FA-44DC-9935-5557A4D3844A}"/>
              </a:ext>
            </a:extLst>
          </p:cNvPr>
          <p:cNvSpPr>
            <a:spLocks xmlns:a="http://schemas.openxmlformats.org/drawingml/2006/main" noGrp="1"/>
          </p:cNvSpPr>
          <p:nvPr/>
        </p:nvSpPr>
        <p:spPr>
          <a:xfrm xmlns:a="http://schemas.openxmlformats.org/drawingml/2006/main">
            <a:off x="2038350" y="5048250"/>
            <a:ext cx="7239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008A91"/>
                </a:solidFill>
              </a:defRPr>
            </a:defPPr>
          </a:lstStyle>
          <a:p xmlns:a="http://schemas.openxmlformats.org/drawingml/2006/main">
            <a:pPr algn="ctr">
              <a:buNone/>
              <a:defRPr sz="1425" b="1">
                <a:solidFill>
                  <a:srgbClr val="008A91"/>
                </a:solidFill>
              </a:defRPr>
            </a:pPr>
            <a:r>
              <a:rPr sz="1425" b="1">
                <a:solidFill>
                  <a:srgbClr val="008A91"/>
                </a:solidFill>
              </a:rPr>
              <a:t>Agent type determines whether actions are expressed as code or structured tool calls</a:t>
            </a:r>
          </a:p>
        </p:txBody>
      </p:sp>
    </p:spTree>
    <p:extLst>
      <p:ext uri="{BB962C8B-B14F-4D97-AF65-F5344CB8AC3E}">
        <p14:creationId xmlns:p14="http://schemas.microsoft.com/office/powerpoint/2010/main" val="203191430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Picture 13">
            <a:extLst xmlns:a="http://schemas.openxmlformats.org/drawingml/2006/main">
              <a:ext uri="{FF2B5EF4-FFF2-40B4-BE49-F238E27FC236}">
                <a16:creationId xmlns:a16="http://schemas.microsoft.com/office/drawing/2014/main" id="{44EAB384-BA8B-4256-BA06-7F3584EAB9C2}"/>
              </a:ext>
            </a:extLst>
          </p:cNvPr>
          <p:cNvPicPr>
            <a:picLocks xmlns:a="http://schemas.openxmlformats.org/drawingml/2006/main" noChangeAspect="1"/>
          </p:cNvPicPr>
          <p:nvPr/>
        </p:nvPicPr>
        <p:blipFill>
          <a:blip xmlns:r="http://schemas.openxmlformats.org/officeDocument/2006/relationships" xmlns:a="http://schemas.openxmlformats.org/drawingml/2006/main" r:embed="Rc90189f18faa41b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9C0D5DC3-56B2-4110-B81A-2A36DC85CE7C}"/>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A minimal tool-calling agent</a:t>
            </a:r>
          </a:p>
        </p:txBody>
      </p:sp>
      <p:sp>
        <p:nvSpPr>
          <p:cNvPr id="3" name="Rounded Rectangle 2">
            <a:extLst xmlns:a="http://schemas.openxmlformats.org/drawingml/2006/main">
              <a:ext uri="{FF2B5EF4-FFF2-40B4-BE49-F238E27FC236}">
                <a16:creationId xmlns:a16="http://schemas.microsoft.com/office/drawing/2014/main" id="{98F2EC58-653D-490D-AE5D-310C6A7138F7}"/>
              </a:ext>
            </a:extLst>
          </p:cNvPr>
          <p:cNvSpPr>
            <a:spLocks xmlns:a="http://schemas.openxmlformats.org/drawingml/2006/main" noGrp="1"/>
          </p:cNvSpPr>
          <p:nvPr/>
        </p:nvSpPr>
        <p:spPr>
          <a:xfrm xmlns:a="http://schemas.openxmlformats.org/drawingml/2006/main">
            <a:off x="704850" y="2457450"/>
            <a:ext cx="7239000" cy="3124200"/>
          </a:xfrm>
          <a:prstGeom xmlns:a="http://schemas.openxmlformats.org/drawingml/2006/main" prst="roundRect">
            <a:avLst>
              <a:gd name="adj" fmla="val 3659"/>
            </a:avLst>
          </a:prstGeom>
          <a:solidFill xmlns:a="http://schemas.openxmlformats.org/drawingml/2006/main">
            <a:srgbClr val="F5F7FB"/>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5045CCC3-2DB1-4C7A-A6E7-7492E13C50FA}"/>
              </a:ext>
            </a:extLst>
          </p:cNvPr>
          <p:cNvSpPr>
            <a:spLocks xmlns:a="http://schemas.openxmlformats.org/drawingml/2006/main" noGrp="1"/>
          </p:cNvSpPr>
          <p:nvPr/>
        </p:nvSpPr>
        <p:spPr>
          <a:xfrm xmlns:a="http://schemas.openxmlformats.org/drawingml/2006/main">
            <a:off x="933450" y="2609850"/>
            <a:ext cx="6762750" cy="2781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lgn="l">
              <a:defRPr sz="1125" b="0">
                <a:solidFill>
                  <a:srgbClr val="223047"/>
                </a:solidFill>
              </a:defRPr>
            </a:defPPr>
          </a:lstStyle>
          <a:p xmlns:a="http://schemas.openxmlformats.org/drawingml/2006/main">
            <a:pPr algn="l">
              <a:buNone/>
              <a:defRPr sz="1125" b="0">
                <a:solidFill>
                  <a:srgbClr val="223047"/>
                </a:solidFill>
              </a:defRPr>
            </a:pPr>
            <a:r>
              <a:rPr sz="1125" b="0">
                <a:solidFill>
                  <a:srgbClr val="223047"/>
                </a:solidFill>
              </a:rPr>
              <a:t>from smolagents import ToolCallingAgent, InferenceClientModel, tool</a:t>
            </a:r>
          </a:p>
          <a:p xmlns:a="http://schemas.openxmlformats.org/drawingml/2006/main">
            <a:endParaRPr sz="1125" b="0">
              <a:solidFill>
                <a:srgbClr val="223047"/>
              </a:solidFill>
            </a:endParaRPr>
          </a:p>
          <a:p xmlns:a="http://schemas.openxmlformats.org/drawingml/2006/main">
            <a:pPr algn="l">
              <a:buNone/>
              <a:defRPr sz="1125" b="0">
                <a:solidFill>
                  <a:srgbClr val="223047"/>
                </a:solidFill>
              </a:defRPr>
            </a:pPr>
            <a:r>
              <a:rPr sz="1125" b="0">
                <a:solidFill>
                  <a:srgbClr val="223047"/>
                </a:solidFill>
              </a:rPr>
              <a:t>@tool</a:t>
            </a:r>
          </a:p>
          <a:p xmlns:a="http://schemas.openxmlformats.org/drawingml/2006/main">
            <a:pPr algn="l">
              <a:buNone/>
              <a:defRPr sz="1125" b="0">
                <a:solidFill>
                  <a:srgbClr val="223047"/>
                </a:solidFill>
              </a:defRPr>
            </a:pPr>
            <a:r>
              <a:rPr sz="1125" b="0">
                <a:solidFill>
                  <a:srgbClr val="223047"/>
                </a:solidFill>
              </a:rPr>
              <a:t>def search_papers(query: str) -&gt; str:</a:t>
            </a:r>
          </a:p>
          <a:p xmlns:a="http://schemas.openxmlformats.org/drawingml/2006/main">
            <a:pPr algn="l">
              <a:buNone/>
              <a:defRPr sz="1125" b="0">
                <a:solidFill>
                  <a:srgbClr val="223047"/>
                </a:solidFill>
              </a:defRPr>
            </a:pPr>
            <a:r>
              <a:rPr sz="1125" b="0">
                <a:solidFill>
                  <a:srgbClr val="223047"/>
                </a:solidFill>
              </a:rPr>
              <a:t>    """Search a literature index for a query."""</a:t>
            </a:r>
          </a:p>
          <a:p xmlns:a="http://schemas.openxmlformats.org/drawingml/2006/main">
            <a:pPr algn="l">
              <a:buNone/>
              <a:defRPr sz="1125" b="0">
                <a:solidFill>
                  <a:srgbClr val="223047"/>
                </a:solidFill>
              </a:defRPr>
            </a:pPr>
            <a:r>
              <a:rPr sz="1125" b="0">
                <a:solidFill>
                  <a:srgbClr val="223047"/>
                </a:solidFill>
              </a:rPr>
              <a:t>    return run_search(query)</a:t>
            </a:r>
          </a:p>
          <a:p xmlns:a="http://schemas.openxmlformats.org/drawingml/2006/main">
            <a:endParaRPr sz="1125" b="0">
              <a:solidFill>
                <a:srgbClr val="223047"/>
              </a:solidFill>
            </a:endParaRPr>
          </a:p>
          <a:p xmlns:a="http://schemas.openxmlformats.org/drawingml/2006/main">
            <a:pPr algn="l">
              <a:buNone/>
              <a:defRPr sz="1125" b="0">
                <a:solidFill>
                  <a:srgbClr val="223047"/>
                </a:solidFill>
              </a:defRPr>
            </a:pPr>
            <a:r>
              <a:rPr sz="1125" b="0">
                <a:solidFill>
                  <a:srgbClr val="223047"/>
                </a:solidFill>
              </a:rPr>
              <a:t>agent = ToolCallingAgent(</a:t>
            </a:r>
          </a:p>
          <a:p xmlns:a="http://schemas.openxmlformats.org/drawingml/2006/main">
            <a:pPr algn="l">
              <a:buNone/>
              <a:defRPr sz="1125" b="0">
                <a:solidFill>
                  <a:srgbClr val="223047"/>
                </a:solidFill>
              </a:defRPr>
            </a:pPr>
            <a:r>
              <a:rPr sz="1125" b="0">
                <a:solidFill>
                  <a:srgbClr val="223047"/>
                </a:solidFill>
              </a:rPr>
              <a:t>    tools=[search_papers],</a:t>
            </a:r>
          </a:p>
          <a:p xmlns:a="http://schemas.openxmlformats.org/drawingml/2006/main">
            <a:pPr algn="l">
              <a:buNone/>
              <a:defRPr sz="1125" b="0">
                <a:solidFill>
                  <a:srgbClr val="223047"/>
                </a:solidFill>
              </a:defRPr>
            </a:pPr>
            <a:r>
              <a:rPr sz="1125" b="0">
                <a:solidFill>
                  <a:srgbClr val="223047"/>
                </a:solidFill>
              </a:rPr>
              <a:t>    model=InferenceClientModel(),</a:t>
            </a:r>
          </a:p>
          <a:p xmlns:a="http://schemas.openxmlformats.org/drawingml/2006/main">
            <a:pPr algn="l">
              <a:buNone/>
              <a:defRPr sz="1125" b="0">
                <a:solidFill>
                  <a:srgbClr val="223047"/>
                </a:solidFill>
              </a:defRPr>
            </a:pPr>
            <a:r>
              <a:rPr sz="1125" b="0">
                <a:solidFill>
                  <a:srgbClr val="223047"/>
                </a:solidFill>
              </a:rPr>
              <a:t>    max_steps=6,</a:t>
            </a:r>
          </a:p>
          <a:p xmlns:a="http://schemas.openxmlformats.org/drawingml/2006/main">
            <a:pPr algn="l">
              <a:buNone/>
              <a:defRPr sz="1125" b="0">
                <a:solidFill>
                  <a:srgbClr val="223047"/>
                </a:solidFill>
              </a:defRPr>
            </a:pPr>
            <a:r>
              <a:rPr sz="1125" b="0">
                <a:solidFill>
                  <a:srgbClr val="223047"/>
                </a:solidFill>
              </a:rPr>
              <a:t>)</a:t>
            </a:r>
          </a:p>
          <a:p xmlns:a="http://schemas.openxmlformats.org/drawingml/2006/main">
            <a:endParaRPr sz="1125" b="0">
              <a:solidFill>
                <a:srgbClr val="223047"/>
              </a:solidFill>
            </a:endParaRPr>
          </a:p>
          <a:p xmlns:a="http://schemas.openxmlformats.org/drawingml/2006/main">
            <a:pPr algn="l">
              <a:buNone/>
              <a:defRPr sz="1125" b="0">
                <a:solidFill>
                  <a:srgbClr val="223047"/>
                </a:solidFill>
              </a:defRPr>
            </a:pPr>
            <a:r>
              <a:rPr sz="1125" b="0">
                <a:solidFill>
                  <a:srgbClr val="223047"/>
                </a:solidFill>
              </a:rPr>
              <a:t>result = agent.run("Find recent evidence on solid electrolytes")</a:t>
            </a:r>
          </a:p>
        </p:txBody>
      </p:sp>
      <p:sp>
        <p:nvSpPr>
          <p:cNvPr id="5" name="Rectangle 4">
            <a:extLst xmlns:a="http://schemas.openxmlformats.org/drawingml/2006/main">
              <a:ext uri="{FF2B5EF4-FFF2-40B4-BE49-F238E27FC236}">
                <a16:creationId xmlns:a16="http://schemas.microsoft.com/office/drawing/2014/main" id="{BEBFF212-9CF0-4972-B5E7-0F57F38C9048}"/>
              </a:ext>
            </a:extLst>
          </p:cNvPr>
          <p:cNvSpPr>
            <a:spLocks xmlns:a="http://schemas.openxmlformats.org/drawingml/2006/main" noGrp="1"/>
          </p:cNvSpPr>
          <p:nvPr/>
        </p:nvSpPr>
        <p:spPr>
          <a:xfrm xmlns:a="http://schemas.openxmlformats.org/drawingml/2006/main">
            <a:off x="8401050" y="2647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203D67"/>
                </a:solidFill>
              </a:defRPr>
            </a:defPPr>
          </a:lstStyle>
          <a:p xmlns:a="http://schemas.openxmlformats.org/drawingml/2006/main">
            <a:pPr algn="l">
              <a:buNone/>
              <a:defRPr sz="1500" b="1">
                <a:solidFill>
                  <a:srgbClr val="203D67"/>
                </a:solidFill>
              </a:defRPr>
            </a:pPr>
            <a:r>
              <a:rPr sz="1500" b="1">
                <a:solidFill>
                  <a:srgbClr val="203D67"/>
                </a:solidFill>
              </a:rPr>
              <a:t>Key controls</a:t>
            </a:r>
          </a:p>
        </p:txBody>
      </p:sp>
      <p:sp>
        <p:nvSpPr>
          <p:cNvPr id="6" name="Rounded Rectangle 5">
            <a:extLst xmlns:a="http://schemas.openxmlformats.org/drawingml/2006/main">
              <a:ext uri="{FF2B5EF4-FFF2-40B4-BE49-F238E27FC236}">
                <a16:creationId xmlns:a16="http://schemas.microsoft.com/office/drawing/2014/main" id="{6900AFD2-D888-49AE-9AA0-30CA4F6D1F7D}"/>
              </a:ext>
            </a:extLst>
          </p:cNvPr>
          <p:cNvSpPr>
            <a:spLocks xmlns:a="http://schemas.openxmlformats.org/drawingml/2006/main" noGrp="1"/>
          </p:cNvSpPr>
          <p:nvPr/>
        </p:nvSpPr>
        <p:spPr>
          <a:xfrm xmlns:a="http://schemas.openxmlformats.org/drawingml/2006/main">
            <a:off x="8420100" y="3257550"/>
            <a:ext cx="104775" cy="104775"/>
          </a:xfrm>
          <a:prstGeom xmlns:a="http://schemas.openxmlformats.org/drawingml/2006/main" prst="roundRect">
            <a:avLst>
              <a:gd name="adj" fmla="val 18182"/>
            </a:avLst>
          </a:prstGeom>
          <a:solidFill xmlns:a="http://schemas.openxmlformats.org/drawingml/2006/main">
            <a:srgbClr val="175CE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2C3E2FAD-1EC3-4BEA-AEE8-91357D84818D}"/>
              </a:ext>
            </a:extLst>
          </p:cNvPr>
          <p:cNvSpPr>
            <a:spLocks xmlns:a="http://schemas.openxmlformats.org/drawingml/2006/main" noGrp="1"/>
          </p:cNvSpPr>
          <p:nvPr/>
        </p:nvSpPr>
        <p:spPr>
          <a:xfrm xmlns:a="http://schemas.openxmlformats.org/drawingml/2006/main">
            <a:off x="8705850" y="31432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Typed tool</a:t>
            </a:r>
          </a:p>
        </p:txBody>
      </p:sp>
      <p:sp>
        <p:nvSpPr>
          <p:cNvPr id="8" name="Rounded Rectangle 7">
            <a:extLst xmlns:a="http://schemas.openxmlformats.org/drawingml/2006/main">
              <a:ext uri="{FF2B5EF4-FFF2-40B4-BE49-F238E27FC236}">
                <a16:creationId xmlns:a16="http://schemas.microsoft.com/office/drawing/2014/main" id="{54D6F0A5-EEBF-4090-BD16-4C24C23BE3E9}"/>
              </a:ext>
            </a:extLst>
          </p:cNvPr>
          <p:cNvSpPr>
            <a:spLocks xmlns:a="http://schemas.openxmlformats.org/drawingml/2006/main" noGrp="1"/>
          </p:cNvSpPr>
          <p:nvPr/>
        </p:nvSpPr>
        <p:spPr>
          <a:xfrm xmlns:a="http://schemas.openxmlformats.org/drawingml/2006/main">
            <a:off x="8420100" y="3810000"/>
            <a:ext cx="104775" cy="104775"/>
          </a:xfrm>
          <a:prstGeom xmlns:a="http://schemas.openxmlformats.org/drawingml/2006/main" prst="roundRect">
            <a:avLst>
              <a:gd name="adj" fmla="val 18182"/>
            </a:avLst>
          </a:prstGeom>
          <a:solidFill xmlns:a="http://schemas.openxmlformats.org/drawingml/2006/main">
            <a:srgbClr val="42BCC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7F15CDB1-CF13-4414-B746-381BF3F6044D}"/>
              </a:ext>
            </a:extLst>
          </p:cNvPr>
          <p:cNvSpPr>
            <a:spLocks xmlns:a="http://schemas.openxmlformats.org/drawingml/2006/main" noGrp="1"/>
          </p:cNvSpPr>
          <p:nvPr/>
        </p:nvSpPr>
        <p:spPr>
          <a:xfrm xmlns:a="http://schemas.openxmlformats.org/drawingml/2006/main">
            <a:off x="8705850" y="369570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Explicit tool list</a:t>
            </a:r>
          </a:p>
        </p:txBody>
      </p:sp>
      <p:sp>
        <p:nvSpPr>
          <p:cNvPr id="10" name="Rounded Rectangle 9">
            <a:extLst xmlns:a="http://schemas.openxmlformats.org/drawingml/2006/main">
              <a:ext uri="{FF2B5EF4-FFF2-40B4-BE49-F238E27FC236}">
                <a16:creationId xmlns:a16="http://schemas.microsoft.com/office/drawing/2014/main" id="{09A753D2-2F16-4EFD-880C-88B0CC2B7AC3}"/>
              </a:ext>
            </a:extLst>
          </p:cNvPr>
          <p:cNvSpPr>
            <a:spLocks xmlns:a="http://schemas.openxmlformats.org/drawingml/2006/main" noGrp="1"/>
          </p:cNvSpPr>
          <p:nvPr/>
        </p:nvSpPr>
        <p:spPr>
          <a:xfrm xmlns:a="http://schemas.openxmlformats.org/drawingml/2006/main">
            <a:off x="8420100" y="4362450"/>
            <a:ext cx="104775" cy="104775"/>
          </a:xfrm>
          <a:prstGeom xmlns:a="http://schemas.openxmlformats.org/drawingml/2006/main" prst="roundRect">
            <a:avLst>
              <a:gd name="adj" fmla="val 18182"/>
            </a:avLst>
          </a:prstGeom>
          <a:solidFill xmlns:a="http://schemas.openxmlformats.org/drawingml/2006/main">
            <a:srgbClr val="F4B9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9B08C64C-EAD9-428F-A7F5-AAE7C90A6AB2}"/>
              </a:ext>
            </a:extLst>
          </p:cNvPr>
          <p:cNvSpPr>
            <a:spLocks xmlns:a="http://schemas.openxmlformats.org/drawingml/2006/main" noGrp="1"/>
          </p:cNvSpPr>
          <p:nvPr/>
        </p:nvSpPr>
        <p:spPr>
          <a:xfrm xmlns:a="http://schemas.openxmlformats.org/drawingml/2006/main">
            <a:off x="8705850" y="42481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Step limit</a:t>
            </a:r>
          </a:p>
        </p:txBody>
      </p:sp>
      <p:sp>
        <p:nvSpPr>
          <p:cNvPr id="12" name="Rounded Rectangle 11">
            <a:extLst xmlns:a="http://schemas.openxmlformats.org/drawingml/2006/main">
              <a:ext uri="{FF2B5EF4-FFF2-40B4-BE49-F238E27FC236}">
                <a16:creationId xmlns:a16="http://schemas.microsoft.com/office/drawing/2014/main" id="{67F10747-C02A-4463-BBB1-92AEDBE24652}"/>
              </a:ext>
            </a:extLst>
          </p:cNvPr>
          <p:cNvSpPr>
            <a:spLocks xmlns:a="http://schemas.openxmlformats.org/drawingml/2006/main" noGrp="1"/>
          </p:cNvSpPr>
          <p:nvPr/>
        </p:nvSpPr>
        <p:spPr>
          <a:xfrm xmlns:a="http://schemas.openxmlformats.org/drawingml/2006/main">
            <a:off x="8420100" y="4914900"/>
            <a:ext cx="104775" cy="104775"/>
          </a:xfrm>
          <a:prstGeom xmlns:a="http://schemas.openxmlformats.org/drawingml/2006/main" prst="roundRect">
            <a:avLst>
              <a:gd name="adj" fmla="val 18182"/>
            </a:avLst>
          </a:prstGeom>
          <a:solidFill xmlns:a="http://schemas.openxmlformats.org/drawingml/2006/main">
            <a:srgbClr val="008A91"/>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08BCFD87-073B-4C03-95FE-412C57525C13}"/>
              </a:ext>
            </a:extLst>
          </p:cNvPr>
          <p:cNvSpPr>
            <a:spLocks xmlns:a="http://schemas.openxmlformats.org/drawingml/2006/main" noGrp="1"/>
          </p:cNvSpPr>
          <p:nvPr/>
        </p:nvSpPr>
        <p:spPr>
          <a:xfrm xmlns:a="http://schemas.openxmlformats.org/drawingml/2006/main">
            <a:off x="8705850" y="480060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Inspectable result</a:t>
            </a:r>
          </a:p>
        </p:txBody>
      </p:sp>
    </p:spTree>
    <p:extLst>
      <p:ext uri="{BB962C8B-B14F-4D97-AF65-F5344CB8AC3E}">
        <p14:creationId xmlns:p14="http://schemas.microsoft.com/office/powerpoint/2010/main" val="105970509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Picture 11">
            <a:extLst xmlns:a="http://schemas.openxmlformats.org/drawingml/2006/main">
              <a:ext uri="{FF2B5EF4-FFF2-40B4-BE49-F238E27FC236}">
                <a16:creationId xmlns:a16="http://schemas.microsoft.com/office/drawing/2014/main" id="{CE615538-8844-4933-A310-D84B2FBB9D2A}"/>
              </a:ext>
            </a:extLst>
          </p:cNvPr>
          <p:cNvPicPr>
            <a:picLocks xmlns:a="http://schemas.openxmlformats.org/drawingml/2006/main" noChangeAspect="1"/>
          </p:cNvPicPr>
          <p:nvPr/>
        </p:nvPicPr>
        <p:blipFill>
          <a:blip xmlns:r="http://schemas.openxmlformats.org/officeDocument/2006/relationships" xmlns:a="http://schemas.openxmlformats.org/drawingml/2006/main" r:embed="Rff277ffc38e5447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3C8C5C24-78B8-4FFB-B625-09232D5E126D}"/>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Framework choice follows the workflow</a:t>
            </a:r>
          </a:p>
        </p:txBody>
      </p:sp>
      <p:sp>
        <p:nvSpPr>
          <p:cNvPr id="3" name="Rectangle 2">
            <a:extLst xmlns:a="http://schemas.openxmlformats.org/drawingml/2006/main">
              <a:ext uri="{FF2B5EF4-FFF2-40B4-BE49-F238E27FC236}">
                <a16:creationId xmlns:a16="http://schemas.microsoft.com/office/drawing/2014/main" id="{A0BCF232-7AD5-496B-8F06-8E530EBBE58C}"/>
              </a:ext>
            </a:extLst>
          </p:cNvPr>
          <p:cNvSpPr>
            <a:spLocks xmlns:a="http://schemas.openxmlformats.org/drawingml/2006/main" noGrp="1"/>
          </p:cNvSpPr>
          <p:nvPr/>
        </p:nvSpPr>
        <p:spPr>
          <a:xfrm xmlns:a="http://schemas.openxmlformats.org/drawingml/2006/main">
            <a:off x="857250" y="2647950"/>
            <a:ext cx="2190750" cy="514350"/>
          </a:xfrm>
          <a:prstGeom xmlns:a="http://schemas.openxmlformats.org/drawingml/2006/main" prst="rect">
            <a:avLst/>
          </a:prstGeom>
          <a:solidFill xmlns:a="http://schemas.openxmlformats.org/drawingml/2006/main">
            <a:srgbClr val="E7EEFC"/>
          </a:solidFill>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203D67"/>
                </a:solidFill>
              </a:defRPr>
            </a:defPPr>
          </a:lstStyle>
          <a:p xmlns:a="http://schemas.openxmlformats.org/drawingml/2006/main">
            <a:pPr algn="ctr">
              <a:buNone/>
              <a:defRPr sz="1500" b="1">
                <a:solidFill>
                  <a:srgbClr val="203D67"/>
                </a:solidFill>
              </a:defRPr>
            </a:pPr>
            <a:r>
              <a:rPr sz="1500" b="1">
                <a:solidFill>
                  <a:srgbClr val="203D67"/>
                </a:solidFill>
              </a:rPr>
              <a:t>Plain Python</a:t>
            </a:r>
          </a:p>
        </p:txBody>
      </p:sp>
      <p:sp>
        <p:nvSpPr>
          <p:cNvPr id="4" name="Rectangle 3">
            <a:extLst xmlns:a="http://schemas.openxmlformats.org/drawingml/2006/main">
              <a:ext uri="{FF2B5EF4-FFF2-40B4-BE49-F238E27FC236}">
                <a16:creationId xmlns:a16="http://schemas.microsoft.com/office/drawing/2014/main" id="{21856669-FB22-41A6-A77D-029C82CA38D5}"/>
              </a:ext>
            </a:extLst>
          </p:cNvPr>
          <p:cNvSpPr>
            <a:spLocks xmlns:a="http://schemas.openxmlformats.org/drawingml/2006/main" noGrp="1"/>
          </p:cNvSpPr>
          <p:nvPr/>
        </p:nvSpPr>
        <p:spPr>
          <a:xfrm xmlns:a="http://schemas.openxmlformats.org/drawingml/2006/main">
            <a:off x="3390900" y="2647950"/>
            <a:ext cx="523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Small or deterministic workflow</a:t>
            </a:r>
          </a:p>
        </p:txBody>
      </p:sp>
      <p:sp>
        <p:nvSpPr>
          <p:cNvPr id="5" name="Rectangle 4">
            <a:extLst xmlns:a="http://schemas.openxmlformats.org/drawingml/2006/main">
              <a:ext uri="{FF2B5EF4-FFF2-40B4-BE49-F238E27FC236}">
                <a16:creationId xmlns:a16="http://schemas.microsoft.com/office/drawing/2014/main" id="{CDDC8A3B-1E80-4BA7-8E4C-F76F4CAF403D}"/>
              </a:ext>
            </a:extLst>
          </p:cNvPr>
          <p:cNvSpPr>
            <a:spLocks xmlns:a="http://schemas.openxmlformats.org/drawingml/2006/main" noGrp="1"/>
          </p:cNvSpPr>
          <p:nvPr/>
        </p:nvSpPr>
        <p:spPr>
          <a:xfrm xmlns:a="http://schemas.openxmlformats.org/drawingml/2006/main">
            <a:off x="857250" y="3371850"/>
            <a:ext cx="2190750" cy="514350"/>
          </a:xfrm>
          <a:prstGeom xmlns:a="http://schemas.openxmlformats.org/drawingml/2006/main" prst="rect">
            <a:avLst/>
          </a:prstGeom>
          <a:solidFill xmlns:a="http://schemas.openxmlformats.org/drawingml/2006/main">
            <a:srgbClr val="E1F4F3"/>
          </a:solidFill>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203D67"/>
                </a:solidFill>
              </a:defRPr>
            </a:defPPr>
          </a:lstStyle>
          <a:p xmlns:a="http://schemas.openxmlformats.org/drawingml/2006/main">
            <a:pPr algn="ctr">
              <a:buNone/>
              <a:defRPr sz="1500" b="1">
                <a:solidFill>
                  <a:srgbClr val="203D67"/>
                </a:solidFill>
              </a:defRPr>
            </a:pPr>
            <a:r>
              <a:rPr sz="1500" b="1">
                <a:solidFill>
                  <a:srgbClr val="203D67"/>
                </a:solidFill>
              </a:rPr>
              <a:t>smolagents</a:t>
            </a:r>
          </a:p>
        </p:txBody>
      </p:sp>
      <p:sp>
        <p:nvSpPr>
          <p:cNvPr id="6" name="Rectangle 5">
            <a:extLst xmlns:a="http://schemas.openxmlformats.org/drawingml/2006/main">
              <a:ext uri="{FF2B5EF4-FFF2-40B4-BE49-F238E27FC236}">
                <a16:creationId xmlns:a16="http://schemas.microsoft.com/office/drawing/2014/main" id="{D0A4CA14-9542-484D-8EDE-F2DB7C341A4F}"/>
              </a:ext>
            </a:extLst>
          </p:cNvPr>
          <p:cNvSpPr>
            <a:spLocks xmlns:a="http://schemas.openxmlformats.org/drawingml/2006/main" noGrp="1"/>
          </p:cNvSpPr>
          <p:nvPr/>
        </p:nvSpPr>
        <p:spPr>
          <a:xfrm xmlns:a="http://schemas.openxmlformats.org/drawingml/2006/main">
            <a:off x="3390900" y="3371850"/>
            <a:ext cx="523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Lightweight code and tool agents</a:t>
            </a:r>
          </a:p>
        </p:txBody>
      </p:sp>
      <p:sp>
        <p:nvSpPr>
          <p:cNvPr id="7" name="Rectangle 6">
            <a:extLst xmlns:a="http://schemas.openxmlformats.org/drawingml/2006/main">
              <a:ext uri="{FF2B5EF4-FFF2-40B4-BE49-F238E27FC236}">
                <a16:creationId xmlns:a16="http://schemas.microsoft.com/office/drawing/2014/main" id="{00E01C25-9AA1-4382-9828-9F2A088FBAD4}"/>
              </a:ext>
            </a:extLst>
          </p:cNvPr>
          <p:cNvSpPr>
            <a:spLocks xmlns:a="http://schemas.openxmlformats.org/drawingml/2006/main" noGrp="1"/>
          </p:cNvSpPr>
          <p:nvPr/>
        </p:nvSpPr>
        <p:spPr>
          <a:xfrm xmlns:a="http://schemas.openxmlformats.org/drawingml/2006/main">
            <a:off x="857250" y="4095750"/>
            <a:ext cx="2190750" cy="514350"/>
          </a:xfrm>
          <a:prstGeom xmlns:a="http://schemas.openxmlformats.org/drawingml/2006/main" prst="rect">
            <a:avLst/>
          </a:prstGeom>
          <a:solidFill xmlns:a="http://schemas.openxmlformats.org/drawingml/2006/main">
            <a:srgbClr val="FFF2C2"/>
          </a:solidFill>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203D67"/>
                </a:solidFill>
              </a:defRPr>
            </a:defPPr>
          </a:lstStyle>
          <a:p xmlns:a="http://schemas.openxmlformats.org/drawingml/2006/main">
            <a:pPr algn="ctr">
              <a:buNone/>
              <a:defRPr sz="1500" b="1">
                <a:solidFill>
                  <a:srgbClr val="203D67"/>
                </a:solidFill>
              </a:defRPr>
            </a:pPr>
            <a:r>
              <a:rPr sz="1500" b="1">
                <a:solidFill>
                  <a:srgbClr val="203D67"/>
                </a:solidFill>
              </a:rPr>
              <a:t>LangGraph</a:t>
            </a:r>
          </a:p>
        </p:txBody>
      </p:sp>
      <p:sp>
        <p:nvSpPr>
          <p:cNvPr id="8" name="Rectangle 7">
            <a:extLst xmlns:a="http://schemas.openxmlformats.org/drawingml/2006/main">
              <a:ext uri="{FF2B5EF4-FFF2-40B4-BE49-F238E27FC236}">
                <a16:creationId xmlns:a16="http://schemas.microsoft.com/office/drawing/2014/main" id="{B1985E7B-BF59-408F-AED6-9FC8F0937D5D}"/>
              </a:ext>
            </a:extLst>
          </p:cNvPr>
          <p:cNvSpPr>
            <a:spLocks xmlns:a="http://schemas.openxmlformats.org/drawingml/2006/main" noGrp="1"/>
          </p:cNvSpPr>
          <p:nvPr/>
        </p:nvSpPr>
        <p:spPr>
          <a:xfrm xmlns:a="http://schemas.openxmlformats.org/drawingml/2006/main">
            <a:off x="3390900" y="4095750"/>
            <a:ext cx="523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Explicit stateful orchestration</a:t>
            </a:r>
          </a:p>
        </p:txBody>
      </p:sp>
      <p:sp>
        <p:nvSpPr>
          <p:cNvPr id="9" name="Rectangle 8">
            <a:extLst xmlns:a="http://schemas.openxmlformats.org/drawingml/2006/main">
              <a:ext uri="{FF2B5EF4-FFF2-40B4-BE49-F238E27FC236}">
                <a16:creationId xmlns:a16="http://schemas.microsoft.com/office/drawing/2014/main" id="{80CF904B-A872-43AB-A567-D655B3F0D6C6}"/>
              </a:ext>
            </a:extLst>
          </p:cNvPr>
          <p:cNvSpPr>
            <a:spLocks xmlns:a="http://schemas.openxmlformats.org/drawingml/2006/main" noGrp="1"/>
          </p:cNvSpPr>
          <p:nvPr/>
        </p:nvSpPr>
        <p:spPr>
          <a:xfrm xmlns:a="http://schemas.openxmlformats.org/drawingml/2006/main">
            <a:off x="857250" y="4819650"/>
            <a:ext cx="2190750" cy="514350"/>
          </a:xfrm>
          <a:prstGeom xmlns:a="http://schemas.openxmlformats.org/drawingml/2006/main" prst="rect">
            <a:avLst/>
          </a:prstGeom>
          <a:solidFill xmlns:a="http://schemas.openxmlformats.org/drawingml/2006/main">
            <a:srgbClr val="FDE8E1"/>
          </a:solidFill>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203D67"/>
                </a:solidFill>
              </a:defRPr>
            </a:defPPr>
          </a:lstStyle>
          <a:p xmlns:a="http://schemas.openxmlformats.org/drawingml/2006/main">
            <a:pPr algn="ctr">
              <a:buNone/>
              <a:defRPr sz="1500" b="1">
                <a:solidFill>
                  <a:srgbClr val="203D67"/>
                </a:solidFill>
              </a:defRPr>
            </a:pPr>
            <a:r>
              <a:rPr sz="1500" b="1">
                <a:solidFill>
                  <a:srgbClr val="203D67"/>
                </a:solidFill>
              </a:rPr>
              <a:t>LlamaIndex</a:t>
            </a:r>
          </a:p>
        </p:txBody>
      </p:sp>
      <p:sp>
        <p:nvSpPr>
          <p:cNvPr id="10" name="Rectangle 9">
            <a:extLst xmlns:a="http://schemas.openxmlformats.org/drawingml/2006/main">
              <a:ext uri="{FF2B5EF4-FFF2-40B4-BE49-F238E27FC236}">
                <a16:creationId xmlns:a16="http://schemas.microsoft.com/office/drawing/2014/main" id="{C6BAD576-7499-4E35-8A12-25F85314D8B3}"/>
              </a:ext>
            </a:extLst>
          </p:cNvPr>
          <p:cNvSpPr>
            <a:spLocks xmlns:a="http://schemas.openxmlformats.org/drawingml/2006/main" noGrp="1"/>
          </p:cNvSpPr>
          <p:nvPr/>
        </p:nvSpPr>
        <p:spPr>
          <a:xfrm xmlns:a="http://schemas.openxmlformats.org/drawingml/2006/main">
            <a:off x="3390900" y="4819650"/>
            <a:ext cx="523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223047"/>
                </a:solidFill>
              </a:defRPr>
            </a:defPPr>
          </a:lstStyle>
          <a:p xmlns:a="http://schemas.openxmlformats.org/drawingml/2006/main">
            <a:pPr algn="l">
              <a:buNone/>
              <a:defRPr sz="1350" b="0">
                <a:solidFill>
                  <a:srgbClr val="223047"/>
                </a:solidFill>
              </a:defRPr>
            </a:pPr>
            <a:r>
              <a:rPr sz="1350" b="0">
                <a:solidFill>
                  <a:srgbClr val="223047"/>
                </a:solidFill>
              </a:rPr>
              <a:t>Data-centric agent applications</a:t>
            </a:r>
          </a:p>
        </p:txBody>
      </p:sp>
      <p:sp>
        <p:nvSpPr>
          <p:cNvPr id="11" name="Rectangle 10">
            <a:extLst xmlns:a="http://schemas.openxmlformats.org/drawingml/2006/main">
              <a:ext uri="{FF2B5EF4-FFF2-40B4-BE49-F238E27FC236}">
                <a16:creationId xmlns:a16="http://schemas.microsoft.com/office/drawing/2014/main" id="{4A4BA3D4-10A9-479F-97FF-C17D7B5A8A12}"/>
              </a:ext>
            </a:extLst>
          </p:cNvPr>
          <p:cNvSpPr>
            <a:spLocks xmlns:a="http://schemas.openxmlformats.org/drawingml/2006/main" noGrp="1"/>
          </p:cNvSpPr>
          <p:nvPr/>
        </p:nvSpPr>
        <p:spPr>
          <a:xfrm xmlns:a="http://schemas.openxmlformats.org/drawingml/2006/main">
            <a:off x="2190750" y="5619750"/>
            <a:ext cx="647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008A91"/>
                </a:solidFill>
              </a:defRPr>
            </a:defPPr>
          </a:lstStyle>
          <a:p xmlns:a="http://schemas.openxmlformats.org/drawingml/2006/main">
            <a:pPr algn="ctr">
              <a:buNone/>
              <a:defRPr sz="1425" b="1">
                <a:solidFill>
                  <a:srgbClr val="008A91"/>
                </a:solidFill>
              </a:defRPr>
            </a:pPr>
            <a:r>
              <a:rPr sz="1425" b="1">
                <a:solidFill>
                  <a:srgbClr val="008A91"/>
                </a:solidFill>
              </a:rPr>
              <a:t>Frameworks help when control flow becomes complex. They do not replace system design.</a:t>
            </a:r>
          </a:p>
        </p:txBody>
      </p:sp>
    </p:spTree>
    <p:extLst>
      <p:ext uri="{BB962C8B-B14F-4D97-AF65-F5344CB8AC3E}">
        <p14:creationId xmlns:p14="http://schemas.microsoft.com/office/powerpoint/2010/main" val="37999653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Picture 14">
            <a:extLst xmlns:a="http://schemas.openxmlformats.org/drawingml/2006/main">
              <a:ext uri="{FF2B5EF4-FFF2-40B4-BE49-F238E27FC236}">
                <a16:creationId xmlns:a16="http://schemas.microsoft.com/office/drawing/2014/main" id="{A77C24B1-01FD-4D26-986F-F58216087178}"/>
              </a:ext>
            </a:extLst>
          </p:cNvPr>
          <p:cNvPicPr>
            <a:picLocks xmlns:a="http://schemas.openxmlformats.org/drawingml/2006/main" noChangeAspect="1"/>
          </p:cNvPicPr>
          <p:nvPr/>
        </p:nvPicPr>
        <p:blipFill>
          <a:blip xmlns:r="http://schemas.openxmlformats.org/officeDocument/2006/relationships" xmlns:a="http://schemas.openxmlformats.org/drawingml/2006/main" r:embed="R9ba26207f1bf402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3E51872A-704B-4881-953A-CE43A933EA35}"/>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Manager and specialist agents</a:t>
            </a:r>
          </a:p>
        </p:txBody>
      </p:sp>
      <p:sp>
        <p:nvSpPr>
          <p:cNvPr id="3" name="Rounded Rectangle 2">
            <a:extLst xmlns:a="http://schemas.openxmlformats.org/drawingml/2006/main">
              <a:ext uri="{FF2B5EF4-FFF2-40B4-BE49-F238E27FC236}">
                <a16:creationId xmlns:a16="http://schemas.microsoft.com/office/drawing/2014/main" id="{18BEC9C9-9CA1-410C-894F-7D62D18684DA}"/>
              </a:ext>
            </a:extLst>
          </p:cNvPr>
          <p:cNvSpPr>
            <a:spLocks xmlns:a="http://schemas.openxmlformats.org/drawingml/2006/main" noGrp="1"/>
          </p:cNvSpPr>
          <p:nvPr/>
        </p:nvSpPr>
        <p:spPr>
          <a:xfrm xmlns:a="http://schemas.openxmlformats.org/drawingml/2006/main">
            <a:off x="4362450" y="2571750"/>
            <a:ext cx="2095500" cy="857250"/>
          </a:xfrm>
          <a:prstGeom xmlns:a="http://schemas.openxmlformats.org/drawingml/2006/main" prst="roundRect">
            <a:avLst>
              <a:gd name="adj" fmla="val 13333"/>
            </a:avLst>
          </a:prstGeom>
          <a:solidFill xmlns:a="http://schemas.openxmlformats.org/drawingml/2006/main">
            <a:srgbClr val="E7EEFC"/>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02289FD8-1824-4EE3-B6DA-BF306EB0C83A}"/>
              </a:ext>
            </a:extLst>
          </p:cNvPr>
          <p:cNvSpPr>
            <a:spLocks xmlns:a="http://schemas.openxmlformats.org/drawingml/2006/main" noGrp="1"/>
          </p:cNvSpPr>
          <p:nvPr/>
        </p:nvSpPr>
        <p:spPr>
          <a:xfrm xmlns:a="http://schemas.openxmlformats.org/drawingml/2006/main">
            <a:off x="4438650" y="2628900"/>
            <a:ext cx="19431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1">
                <a:solidFill>
                  <a:srgbClr val="203D67"/>
                </a:solidFill>
              </a:defRPr>
            </a:defPPr>
          </a:lstStyle>
          <a:p xmlns:a="http://schemas.openxmlformats.org/drawingml/2006/main">
            <a:pPr algn="ctr">
              <a:buNone/>
              <a:defRPr sz="1275" b="1">
                <a:solidFill>
                  <a:srgbClr val="203D67"/>
                </a:solidFill>
              </a:defRPr>
            </a:pPr>
            <a:r>
              <a:rPr sz="1275" b="1">
                <a:solidFill>
                  <a:srgbClr val="203D67"/>
                </a:solidFill>
              </a:rPr>
              <a:t>MANAGER</a:t>
            </a:r>
          </a:p>
          <a:p xmlns:a="http://schemas.openxmlformats.org/drawingml/2006/main">
            <a:pPr algn="ctr">
              <a:buNone/>
              <a:defRPr sz="1275" b="1">
                <a:solidFill>
                  <a:srgbClr val="203D67"/>
                </a:solidFill>
              </a:defRPr>
            </a:pPr>
            <a:r>
              <a:rPr sz="1275" b="1">
                <a:solidFill>
                  <a:srgbClr val="203D67"/>
                </a:solidFill>
              </a:rPr>
              <a:t>decompose and integrate</a:t>
            </a:r>
          </a:p>
        </p:txBody>
      </p:sp>
      <p:sp>
        <p:nvSpPr>
          <p:cNvPr id="5" name="Rounded Rectangle 4">
            <a:extLst xmlns:a="http://schemas.openxmlformats.org/drawingml/2006/main">
              <a:ext uri="{FF2B5EF4-FFF2-40B4-BE49-F238E27FC236}">
                <a16:creationId xmlns:a16="http://schemas.microsoft.com/office/drawing/2014/main" id="{B9671561-B039-4720-859A-752E4FEA2239}"/>
              </a:ext>
            </a:extLst>
          </p:cNvPr>
          <p:cNvSpPr>
            <a:spLocks xmlns:a="http://schemas.openxmlformats.org/drawingml/2006/main" noGrp="1"/>
          </p:cNvSpPr>
          <p:nvPr/>
        </p:nvSpPr>
        <p:spPr>
          <a:xfrm xmlns:a="http://schemas.openxmlformats.org/drawingml/2006/main">
            <a:off x="1143000" y="4191000"/>
            <a:ext cx="1905000" cy="781050"/>
          </a:xfrm>
          <a:prstGeom xmlns:a="http://schemas.openxmlformats.org/drawingml/2006/main" prst="roundRect">
            <a:avLst>
              <a:gd name="adj" fmla="val 14634"/>
            </a:avLst>
          </a:prstGeom>
          <a:solidFill xmlns:a="http://schemas.openxmlformats.org/drawingml/2006/main">
            <a:srgbClr val="E1F4F3"/>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525BC08B-C9DC-4971-B183-98BE7D0F7F90}"/>
              </a:ext>
            </a:extLst>
          </p:cNvPr>
          <p:cNvSpPr>
            <a:spLocks xmlns:a="http://schemas.openxmlformats.org/drawingml/2006/main" noGrp="1"/>
          </p:cNvSpPr>
          <p:nvPr/>
        </p:nvSpPr>
        <p:spPr>
          <a:xfrm xmlns:a="http://schemas.openxmlformats.org/drawingml/2006/main">
            <a:off x="1219200" y="4248150"/>
            <a:ext cx="17526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SEARCH AGENT</a:t>
            </a:r>
          </a:p>
          <a:p xmlns:a="http://schemas.openxmlformats.org/drawingml/2006/main">
            <a:pPr algn="ctr">
              <a:buNone/>
              <a:defRPr sz="1200" b="1">
                <a:solidFill>
                  <a:srgbClr val="203D67"/>
                </a:solidFill>
              </a:defRPr>
            </a:pPr>
            <a:r>
              <a:rPr sz="1200" b="1">
                <a:solidFill>
                  <a:srgbClr val="203D67"/>
                </a:solidFill>
              </a:rPr>
              <a:t>collect sources</a:t>
            </a:r>
          </a:p>
        </p:txBody>
      </p:sp>
      <p:sp>
        <p:nvSpPr>
          <p:cNvPr id="7" name="Rounded Rectangle 6">
            <a:extLst xmlns:a="http://schemas.openxmlformats.org/drawingml/2006/main">
              <a:ext uri="{FF2B5EF4-FFF2-40B4-BE49-F238E27FC236}">
                <a16:creationId xmlns:a16="http://schemas.microsoft.com/office/drawing/2014/main" id="{FC0CA2A0-39E3-4BE6-8C69-1785532120A5}"/>
              </a:ext>
            </a:extLst>
          </p:cNvPr>
          <p:cNvSpPr>
            <a:spLocks xmlns:a="http://schemas.openxmlformats.org/drawingml/2006/main" noGrp="1"/>
          </p:cNvSpPr>
          <p:nvPr/>
        </p:nvSpPr>
        <p:spPr>
          <a:xfrm xmlns:a="http://schemas.openxmlformats.org/drawingml/2006/main">
            <a:off x="4457700" y="4191000"/>
            <a:ext cx="1905000" cy="781050"/>
          </a:xfrm>
          <a:prstGeom xmlns:a="http://schemas.openxmlformats.org/drawingml/2006/main" prst="roundRect">
            <a:avLst>
              <a:gd name="adj" fmla="val 14634"/>
            </a:avLst>
          </a:prstGeom>
          <a:solidFill xmlns:a="http://schemas.openxmlformats.org/drawingml/2006/main">
            <a:srgbClr val="FFF2C2"/>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5F2F0B5E-137B-47BB-A38F-3C80235044CA}"/>
              </a:ext>
            </a:extLst>
          </p:cNvPr>
          <p:cNvSpPr>
            <a:spLocks xmlns:a="http://schemas.openxmlformats.org/drawingml/2006/main" noGrp="1"/>
          </p:cNvSpPr>
          <p:nvPr/>
        </p:nvSpPr>
        <p:spPr>
          <a:xfrm xmlns:a="http://schemas.openxmlformats.org/drawingml/2006/main">
            <a:off x="4533900" y="4248150"/>
            <a:ext cx="17526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CODE AGENT</a:t>
            </a:r>
          </a:p>
          <a:p xmlns:a="http://schemas.openxmlformats.org/drawingml/2006/main">
            <a:pPr algn="ctr">
              <a:buNone/>
              <a:defRPr sz="1200" b="1">
                <a:solidFill>
                  <a:srgbClr val="203D67"/>
                </a:solidFill>
              </a:defRPr>
            </a:pPr>
            <a:r>
              <a:rPr sz="1200" b="1">
                <a:solidFill>
                  <a:srgbClr val="203D67"/>
                </a:solidFill>
              </a:rPr>
              <a:t>analyse data</a:t>
            </a:r>
          </a:p>
        </p:txBody>
      </p:sp>
      <p:sp>
        <p:nvSpPr>
          <p:cNvPr id="9" name="Rounded Rectangle 8">
            <a:extLst xmlns:a="http://schemas.openxmlformats.org/drawingml/2006/main">
              <a:ext uri="{FF2B5EF4-FFF2-40B4-BE49-F238E27FC236}">
                <a16:creationId xmlns:a16="http://schemas.microsoft.com/office/drawing/2014/main" id="{4547FA24-BEA6-4155-ADAA-2C97493C2670}"/>
              </a:ext>
            </a:extLst>
          </p:cNvPr>
          <p:cNvSpPr>
            <a:spLocks xmlns:a="http://schemas.openxmlformats.org/drawingml/2006/main" noGrp="1"/>
          </p:cNvSpPr>
          <p:nvPr/>
        </p:nvSpPr>
        <p:spPr>
          <a:xfrm xmlns:a="http://schemas.openxmlformats.org/drawingml/2006/main">
            <a:off x="7772400" y="4191000"/>
            <a:ext cx="1905000" cy="781050"/>
          </a:xfrm>
          <a:prstGeom xmlns:a="http://schemas.openxmlformats.org/drawingml/2006/main" prst="roundRect">
            <a:avLst>
              <a:gd name="adj" fmla="val 14634"/>
            </a:avLst>
          </a:prstGeom>
          <a:solidFill xmlns:a="http://schemas.openxmlformats.org/drawingml/2006/main">
            <a:srgbClr val="FDE8E1"/>
          </a:solidFill>
          <a:ln xmlns:a="http://schemas.openxmlformats.org/drawingml/2006/main" w="9525">
            <a:solidFill>
              <a:srgbClr val="B8C9E5"/>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88414BE0-382A-4FF5-AAC3-FF6D6DE1021A}"/>
              </a:ext>
            </a:extLst>
          </p:cNvPr>
          <p:cNvSpPr>
            <a:spLocks xmlns:a="http://schemas.openxmlformats.org/drawingml/2006/main" noGrp="1"/>
          </p:cNvSpPr>
          <p:nvPr/>
        </p:nvSpPr>
        <p:spPr>
          <a:xfrm xmlns:a="http://schemas.openxmlformats.org/drawingml/2006/main">
            <a:off x="7848600" y="4248150"/>
            <a:ext cx="17526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203D67"/>
                </a:solidFill>
              </a:defRPr>
            </a:defPPr>
          </a:lstStyle>
          <a:p xmlns:a="http://schemas.openxmlformats.org/drawingml/2006/main">
            <a:pPr algn="ctr">
              <a:buNone/>
              <a:defRPr sz="1200" b="1">
                <a:solidFill>
                  <a:srgbClr val="203D67"/>
                </a:solidFill>
              </a:defRPr>
            </a:pPr>
            <a:r>
              <a:rPr sz="1200" b="1">
                <a:solidFill>
                  <a:srgbClr val="203D67"/>
                </a:solidFill>
              </a:rPr>
              <a:t>REVIEW AGENT</a:t>
            </a:r>
          </a:p>
          <a:p xmlns:a="http://schemas.openxmlformats.org/drawingml/2006/main">
            <a:pPr algn="ctr">
              <a:buNone/>
              <a:defRPr sz="1200" b="1">
                <a:solidFill>
                  <a:srgbClr val="203D67"/>
                </a:solidFill>
              </a:defRPr>
            </a:pPr>
            <a:r>
              <a:rPr sz="1200" b="1">
                <a:solidFill>
                  <a:srgbClr val="203D67"/>
                </a:solidFill>
              </a:rPr>
              <a:t>check evidence</a:t>
            </a:r>
          </a:p>
        </p:txBody>
      </p:sp>
      <p:cxnSp>
        <p:nvCxnSpPr>
          <p:cNvPr id="11" name="Straight Arrow Connector 10">
            <a:extLst xmlns:a="http://schemas.openxmlformats.org/drawingml/2006/main">
              <a:ext uri="{FF2B5EF4-FFF2-40B4-BE49-F238E27FC236}">
                <a16:creationId xmlns:a16="http://schemas.microsoft.com/office/drawing/2014/main" id="{CD80A7DB-B08F-4BF7-9B7C-562A0C9ECA78}"/>
              </a:ext>
            </a:extLst>
          </p:cNvPr>
          <p:cNvCxnSpPr>
            <a:stCxn xmlns:a="http://schemas.openxmlformats.org/drawingml/2006/main" id="3" idx="2"/>
            <a:endCxn xmlns:a="http://schemas.openxmlformats.org/drawingml/2006/main" id="5" idx="0"/>
          </p:cNvCxnSpPr>
          <p:nvPr/>
        </p:nvCxnSpPr>
        <p:spPr>
          <a:xfrm xmlns:a="http://schemas.openxmlformats.org/drawingml/2006/main" flipH="1">
            <a:off x="2095500" y="3429000"/>
            <a:ext cx="3314700" cy="762000"/>
          </a:xfrm>
          <a:prstGeom xmlns:a="http://schemas.openxmlformats.org/drawingml/2006/main" prst="straightConnector1">
            <a:avLst/>
          </a:prstGeom>
          <a:ln xmlns:a="http://schemas.openxmlformats.org/drawingml/2006/main" w="21431">
            <a:solidFill>
              <a:srgbClr val="42BCC9"/>
            </a:solidFill>
            <a:prstDash val="solid"/>
            <a:tailEnd type="arrow" w="med" len="med"/>
          </a:ln>
        </p:spPr>
      </p:cxnSp>
      <p:cxnSp>
        <p:nvCxnSpPr>
          <p:cNvPr id="12" name="Straight Arrow Connector 11">
            <a:extLst xmlns:a="http://schemas.openxmlformats.org/drawingml/2006/main">
              <a:ext uri="{FF2B5EF4-FFF2-40B4-BE49-F238E27FC236}">
                <a16:creationId xmlns:a16="http://schemas.microsoft.com/office/drawing/2014/main" id="{6CDB825F-8A84-40A3-A03B-DDBEC58D9318}"/>
              </a:ext>
            </a:extLst>
          </p:cNvPr>
          <p:cNvCxnSpPr>
            <a:stCxn xmlns:a="http://schemas.openxmlformats.org/drawingml/2006/main" id="3" idx="2"/>
            <a:endCxn xmlns:a="http://schemas.openxmlformats.org/drawingml/2006/main" id="7" idx="0"/>
          </p:cNvCxnSpPr>
          <p:nvPr/>
        </p:nvCxnSpPr>
        <p:spPr>
          <a:xfrm xmlns:a="http://schemas.openxmlformats.org/drawingml/2006/main">
            <a:off x="5410200" y="3429000"/>
            <a:ext cx="0" cy="762000"/>
          </a:xfrm>
          <a:prstGeom xmlns:a="http://schemas.openxmlformats.org/drawingml/2006/main" prst="straightConnector1">
            <a:avLst/>
          </a:prstGeom>
          <a:ln xmlns:a="http://schemas.openxmlformats.org/drawingml/2006/main" w="21431">
            <a:solidFill>
              <a:srgbClr val="F4B900"/>
            </a:solidFill>
            <a:prstDash val="solid"/>
            <a:tailEnd type="arrow" w="med" len="med"/>
          </a:ln>
        </p:spPr>
      </p:cxnSp>
      <p:cxnSp>
        <p:nvCxnSpPr>
          <p:cNvPr id="13" name="Straight Arrow Connector 12">
            <a:extLst xmlns:a="http://schemas.openxmlformats.org/drawingml/2006/main">
              <a:ext uri="{FF2B5EF4-FFF2-40B4-BE49-F238E27FC236}">
                <a16:creationId xmlns:a16="http://schemas.microsoft.com/office/drawing/2014/main" id="{A82F306F-2B1A-46F2-B55C-5F311E84A63B}"/>
              </a:ext>
            </a:extLst>
          </p:cNvPr>
          <p:cNvCxnSpPr>
            <a:stCxn xmlns:a="http://schemas.openxmlformats.org/drawingml/2006/main" id="3" idx="2"/>
            <a:endCxn xmlns:a="http://schemas.openxmlformats.org/drawingml/2006/main" id="9" idx="0"/>
          </p:cNvCxnSpPr>
          <p:nvPr/>
        </p:nvCxnSpPr>
        <p:spPr>
          <a:xfrm xmlns:a="http://schemas.openxmlformats.org/drawingml/2006/main">
            <a:off x="5410200" y="3429000"/>
            <a:ext cx="3314700" cy="762000"/>
          </a:xfrm>
          <a:prstGeom xmlns:a="http://schemas.openxmlformats.org/drawingml/2006/main" prst="straightConnector1">
            <a:avLst/>
          </a:prstGeom>
          <a:ln xmlns:a="http://schemas.openxmlformats.org/drawingml/2006/main" w="21431">
            <a:solidFill>
              <a:srgbClr val="EE7D5B"/>
            </a:solidFill>
            <a:prstDash val="solid"/>
            <a:tailEnd type="arrow" w="med" len="med"/>
          </a:ln>
        </p:spPr>
      </p:cxnSp>
      <p:sp>
        <p:nvSpPr>
          <p:cNvPr id="14" name="Rectangle 13">
            <a:extLst xmlns:a="http://schemas.openxmlformats.org/drawingml/2006/main">
              <a:ext uri="{FF2B5EF4-FFF2-40B4-BE49-F238E27FC236}">
                <a16:creationId xmlns:a16="http://schemas.microsoft.com/office/drawing/2014/main" id="{28475309-193A-435F-9216-42D352AEE7D6}"/>
              </a:ext>
            </a:extLst>
          </p:cNvPr>
          <p:cNvSpPr>
            <a:spLocks xmlns:a="http://schemas.openxmlformats.org/drawingml/2006/main" noGrp="1"/>
          </p:cNvSpPr>
          <p:nvPr/>
        </p:nvSpPr>
        <p:spPr>
          <a:xfrm xmlns:a="http://schemas.openxmlformats.org/drawingml/2006/main">
            <a:off x="3333750" y="54292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008A91"/>
                </a:solidFill>
              </a:defRPr>
            </a:defPPr>
          </a:lstStyle>
          <a:p xmlns:a="http://schemas.openxmlformats.org/drawingml/2006/main">
            <a:pPr algn="ctr">
              <a:buNone/>
              <a:defRPr sz="1425" b="1">
                <a:solidFill>
                  <a:srgbClr val="008A91"/>
                </a:solidFill>
              </a:defRPr>
            </a:pPr>
            <a:r>
              <a:rPr sz="1425" b="1">
                <a:solidFill>
                  <a:srgbClr val="008A91"/>
                </a:solidFill>
              </a:rPr>
              <a:t>The manager owns delegation and the final synthesis</a:t>
            </a:r>
          </a:p>
        </p:txBody>
      </p:sp>
    </p:spTree>
    <p:extLst>
      <p:ext uri="{BB962C8B-B14F-4D97-AF65-F5344CB8AC3E}">
        <p14:creationId xmlns:p14="http://schemas.microsoft.com/office/powerpoint/2010/main" val="15647668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Picture 13">
            <a:extLst xmlns:a="http://schemas.openxmlformats.org/drawingml/2006/main">
              <a:ext uri="{FF2B5EF4-FFF2-40B4-BE49-F238E27FC236}">
                <a16:creationId xmlns:a16="http://schemas.microsoft.com/office/drawing/2014/main" id="{4D87CC41-9700-4887-9F87-2F3F78394D60}"/>
              </a:ext>
            </a:extLst>
          </p:cNvPr>
          <p:cNvPicPr>
            <a:picLocks xmlns:a="http://schemas.openxmlformats.org/drawingml/2006/main" noChangeAspect="1"/>
          </p:cNvPicPr>
          <p:nvPr/>
        </p:nvPicPr>
        <p:blipFill>
          <a:blip xmlns:r="http://schemas.openxmlformats.org/officeDocument/2006/relationships" xmlns:a="http://schemas.openxmlformats.org/drawingml/2006/main" r:embed="Rb740ccaede0a461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0FC6BE25-AEED-4302-A25E-84EB1863A3E0}"/>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Agents require boundaries</a:t>
            </a:r>
          </a:p>
        </p:txBody>
      </p:sp>
      <p:sp>
        <p:nvSpPr>
          <p:cNvPr id="3" name="Rectangle 2">
            <a:extLst xmlns:a="http://schemas.openxmlformats.org/drawingml/2006/main">
              <a:ext uri="{FF2B5EF4-FFF2-40B4-BE49-F238E27FC236}">
                <a16:creationId xmlns:a16="http://schemas.microsoft.com/office/drawing/2014/main" id="{ED13D35A-0307-41F4-A01C-A0C52BE40652}"/>
              </a:ext>
            </a:extLst>
          </p:cNvPr>
          <p:cNvSpPr>
            <a:spLocks xmlns:a="http://schemas.openxmlformats.org/drawingml/2006/main" noGrp="1"/>
          </p:cNvSpPr>
          <p:nvPr/>
        </p:nvSpPr>
        <p:spPr>
          <a:xfrm xmlns:a="http://schemas.openxmlformats.org/drawingml/2006/main">
            <a:off x="857250" y="2571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175CE5"/>
                </a:solidFill>
              </a:defRPr>
            </a:defPPr>
          </a:lstStyle>
          <a:p xmlns:a="http://schemas.openxmlformats.org/drawingml/2006/main">
            <a:pPr algn="l">
              <a:buNone/>
              <a:defRPr sz="1350" b="1">
                <a:solidFill>
                  <a:srgbClr val="175CE5"/>
                </a:solidFill>
              </a:defRPr>
            </a:pPr>
            <a:r>
              <a:rPr sz="1350" b="1">
                <a:solidFill>
                  <a:srgbClr val="175CE5"/>
                </a:solidFill>
              </a:rPr>
              <a:t>Least privilege</a:t>
            </a:r>
          </a:p>
        </p:txBody>
      </p:sp>
      <p:sp>
        <p:nvSpPr>
          <p:cNvPr id="4" name="Rectangle 3">
            <a:extLst xmlns:a="http://schemas.openxmlformats.org/drawingml/2006/main">
              <a:ext uri="{FF2B5EF4-FFF2-40B4-BE49-F238E27FC236}">
                <a16:creationId xmlns:a16="http://schemas.microsoft.com/office/drawing/2014/main" id="{2B446049-BB90-4D8A-9EA9-BB5897FB5127}"/>
              </a:ext>
            </a:extLst>
          </p:cNvPr>
          <p:cNvSpPr>
            <a:spLocks xmlns:a="http://schemas.openxmlformats.org/drawingml/2006/main" noGrp="1"/>
          </p:cNvSpPr>
          <p:nvPr/>
        </p:nvSpPr>
        <p:spPr>
          <a:xfrm xmlns:a="http://schemas.openxmlformats.org/drawingml/2006/main">
            <a:off x="2895600" y="257175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Expose only necessary tools and credentials</a:t>
            </a:r>
          </a:p>
        </p:txBody>
      </p:sp>
      <p:sp>
        <p:nvSpPr>
          <p:cNvPr id="5" name="Rectangle 4">
            <a:extLst xmlns:a="http://schemas.openxmlformats.org/drawingml/2006/main">
              <a:ext uri="{FF2B5EF4-FFF2-40B4-BE49-F238E27FC236}">
                <a16:creationId xmlns:a16="http://schemas.microsoft.com/office/drawing/2014/main" id="{D478BCF0-F3E8-4BC0-99EA-7DE656129392}"/>
              </a:ext>
            </a:extLst>
          </p:cNvPr>
          <p:cNvSpPr>
            <a:spLocks xmlns:a="http://schemas.openxmlformats.org/drawingml/2006/main" noGrp="1"/>
          </p:cNvSpPr>
          <p:nvPr/>
        </p:nvSpPr>
        <p:spPr>
          <a:xfrm xmlns:a="http://schemas.openxmlformats.org/drawingml/2006/main">
            <a:off x="857250" y="3162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42BCC9"/>
                </a:solidFill>
              </a:defRPr>
            </a:defPPr>
          </a:lstStyle>
          <a:p xmlns:a="http://schemas.openxmlformats.org/drawingml/2006/main">
            <a:pPr algn="l">
              <a:buNone/>
              <a:defRPr sz="1350" b="1">
                <a:solidFill>
                  <a:srgbClr val="42BCC9"/>
                </a:solidFill>
              </a:defRPr>
            </a:pPr>
            <a:r>
              <a:rPr sz="1350" b="1">
                <a:solidFill>
                  <a:srgbClr val="42BCC9"/>
                </a:solidFill>
              </a:rPr>
              <a:t>Validation</a:t>
            </a:r>
          </a:p>
        </p:txBody>
      </p:sp>
      <p:sp>
        <p:nvSpPr>
          <p:cNvPr id="6" name="Rectangle 5">
            <a:extLst xmlns:a="http://schemas.openxmlformats.org/drawingml/2006/main">
              <a:ext uri="{FF2B5EF4-FFF2-40B4-BE49-F238E27FC236}">
                <a16:creationId xmlns:a16="http://schemas.microsoft.com/office/drawing/2014/main" id="{1BEB8A45-B653-4907-9A06-ACB21F02AB24}"/>
              </a:ext>
            </a:extLst>
          </p:cNvPr>
          <p:cNvSpPr>
            <a:spLocks xmlns:a="http://schemas.openxmlformats.org/drawingml/2006/main" noGrp="1"/>
          </p:cNvSpPr>
          <p:nvPr/>
        </p:nvSpPr>
        <p:spPr>
          <a:xfrm xmlns:a="http://schemas.openxmlformats.org/drawingml/2006/main">
            <a:off x="2895600" y="316230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Check every argument before execution</a:t>
            </a:r>
          </a:p>
        </p:txBody>
      </p:sp>
      <p:sp>
        <p:nvSpPr>
          <p:cNvPr id="7" name="Rectangle 6">
            <a:extLst xmlns:a="http://schemas.openxmlformats.org/drawingml/2006/main">
              <a:ext uri="{FF2B5EF4-FFF2-40B4-BE49-F238E27FC236}">
                <a16:creationId xmlns:a16="http://schemas.microsoft.com/office/drawing/2014/main" id="{BA4E454E-09CE-4F1E-B9D8-52FFFBC12140}"/>
              </a:ext>
            </a:extLst>
          </p:cNvPr>
          <p:cNvSpPr>
            <a:spLocks xmlns:a="http://schemas.openxmlformats.org/drawingml/2006/main" noGrp="1"/>
          </p:cNvSpPr>
          <p:nvPr/>
        </p:nvSpPr>
        <p:spPr>
          <a:xfrm xmlns:a="http://schemas.openxmlformats.org/drawingml/2006/main">
            <a:off x="857250" y="3752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F4B900"/>
                </a:solidFill>
              </a:defRPr>
            </a:defPPr>
          </a:lstStyle>
          <a:p xmlns:a="http://schemas.openxmlformats.org/drawingml/2006/main">
            <a:pPr algn="l">
              <a:buNone/>
              <a:defRPr sz="1350" b="1">
                <a:solidFill>
                  <a:srgbClr val="F4B900"/>
                </a:solidFill>
              </a:defRPr>
            </a:pPr>
            <a:r>
              <a:rPr sz="1350" b="1">
                <a:solidFill>
                  <a:srgbClr val="F4B900"/>
                </a:solidFill>
              </a:rPr>
              <a:t>Budgets</a:t>
            </a:r>
          </a:p>
        </p:txBody>
      </p:sp>
      <p:sp>
        <p:nvSpPr>
          <p:cNvPr id="8" name="Rectangle 7">
            <a:extLst xmlns:a="http://schemas.openxmlformats.org/drawingml/2006/main">
              <a:ext uri="{FF2B5EF4-FFF2-40B4-BE49-F238E27FC236}">
                <a16:creationId xmlns:a16="http://schemas.microsoft.com/office/drawing/2014/main" id="{0CBEEF4C-885F-4DF9-A46A-507ADDE250B4}"/>
              </a:ext>
            </a:extLst>
          </p:cNvPr>
          <p:cNvSpPr>
            <a:spLocks xmlns:a="http://schemas.openxmlformats.org/drawingml/2006/main" noGrp="1"/>
          </p:cNvSpPr>
          <p:nvPr/>
        </p:nvSpPr>
        <p:spPr>
          <a:xfrm xmlns:a="http://schemas.openxmlformats.org/drawingml/2006/main">
            <a:off x="2895600" y="375285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Limit steps, time, tokens and money</a:t>
            </a:r>
          </a:p>
        </p:txBody>
      </p:sp>
      <p:sp>
        <p:nvSpPr>
          <p:cNvPr id="9" name="Rectangle 8">
            <a:extLst xmlns:a="http://schemas.openxmlformats.org/drawingml/2006/main">
              <a:ext uri="{FF2B5EF4-FFF2-40B4-BE49-F238E27FC236}">
                <a16:creationId xmlns:a16="http://schemas.microsoft.com/office/drawing/2014/main" id="{E4E73DE3-D230-4DCF-93FE-F24013DD6192}"/>
              </a:ext>
            </a:extLst>
          </p:cNvPr>
          <p:cNvSpPr>
            <a:spLocks xmlns:a="http://schemas.openxmlformats.org/drawingml/2006/main" noGrp="1"/>
          </p:cNvSpPr>
          <p:nvPr/>
        </p:nvSpPr>
        <p:spPr>
          <a:xfrm xmlns:a="http://schemas.openxmlformats.org/drawingml/2006/main">
            <a:off x="857250" y="4343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EE7D5B"/>
                </a:solidFill>
              </a:defRPr>
            </a:defPPr>
          </a:lstStyle>
          <a:p xmlns:a="http://schemas.openxmlformats.org/drawingml/2006/main">
            <a:pPr algn="l">
              <a:buNone/>
              <a:defRPr sz="1350" b="1">
                <a:solidFill>
                  <a:srgbClr val="EE7D5B"/>
                </a:solidFill>
              </a:defRPr>
            </a:pPr>
            <a:r>
              <a:rPr sz="1350" b="1">
                <a:solidFill>
                  <a:srgbClr val="EE7D5B"/>
                </a:solidFill>
              </a:rPr>
              <a:t>Isolation</a:t>
            </a:r>
          </a:p>
        </p:txBody>
      </p:sp>
      <p:sp>
        <p:nvSpPr>
          <p:cNvPr id="10" name="Rectangle 9">
            <a:extLst xmlns:a="http://schemas.openxmlformats.org/drawingml/2006/main">
              <a:ext uri="{FF2B5EF4-FFF2-40B4-BE49-F238E27FC236}">
                <a16:creationId xmlns:a16="http://schemas.microsoft.com/office/drawing/2014/main" id="{B466FFFB-43BE-4F16-BFC4-8F50BACE650D}"/>
              </a:ext>
            </a:extLst>
          </p:cNvPr>
          <p:cNvSpPr>
            <a:spLocks xmlns:a="http://schemas.openxmlformats.org/drawingml/2006/main" noGrp="1"/>
          </p:cNvSpPr>
          <p:nvPr/>
        </p:nvSpPr>
        <p:spPr>
          <a:xfrm xmlns:a="http://schemas.openxmlformats.org/drawingml/2006/main">
            <a:off x="2895600" y="434340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Restrict code, filesystem and network access</a:t>
            </a:r>
          </a:p>
        </p:txBody>
      </p:sp>
      <p:sp>
        <p:nvSpPr>
          <p:cNvPr id="11" name="Rectangle 10">
            <a:extLst xmlns:a="http://schemas.openxmlformats.org/drawingml/2006/main">
              <a:ext uri="{FF2B5EF4-FFF2-40B4-BE49-F238E27FC236}">
                <a16:creationId xmlns:a16="http://schemas.microsoft.com/office/drawing/2014/main" id="{05258349-0722-4C97-BD90-2B4E77AE1CB6}"/>
              </a:ext>
            </a:extLst>
          </p:cNvPr>
          <p:cNvSpPr>
            <a:spLocks xmlns:a="http://schemas.openxmlformats.org/drawingml/2006/main" noGrp="1"/>
          </p:cNvSpPr>
          <p:nvPr/>
        </p:nvSpPr>
        <p:spPr>
          <a:xfrm xmlns:a="http://schemas.openxmlformats.org/drawingml/2006/main">
            <a:off x="857250" y="49339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008A91"/>
                </a:solidFill>
              </a:defRPr>
            </a:defPPr>
          </a:lstStyle>
          <a:p xmlns:a="http://schemas.openxmlformats.org/drawingml/2006/main">
            <a:pPr algn="l">
              <a:buNone/>
              <a:defRPr sz="1350" b="1">
                <a:solidFill>
                  <a:srgbClr val="008A91"/>
                </a:solidFill>
              </a:defRPr>
            </a:pPr>
            <a:r>
              <a:rPr sz="1350" b="1">
                <a:solidFill>
                  <a:srgbClr val="008A91"/>
                </a:solidFill>
              </a:rPr>
              <a:t>Approval</a:t>
            </a:r>
          </a:p>
        </p:txBody>
      </p:sp>
      <p:sp>
        <p:nvSpPr>
          <p:cNvPr id="12" name="Rectangle 11">
            <a:extLst xmlns:a="http://schemas.openxmlformats.org/drawingml/2006/main">
              <a:ext uri="{FF2B5EF4-FFF2-40B4-BE49-F238E27FC236}">
                <a16:creationId xmlns:a16="http://schemas.microsoft.com/office/drawing/2014/main" id="{BEFB4D72-3541-4909-89FE-FC7A6FDEAB0A}"/>
              </a:ext>
            </a:extLst>
          </p:cNvPr>
          <p:cNvSpPr>
            <a:spLocks xmlns:a="http://schemas.openxmlformats.org/drawingml/2006/main" noGrp="1"/>
          </p:cNvSpPr>
          <p:nvPr/>
        </p:nvSpPr>
        <p:spPr>
          <a:xfrm xmlns:a="http://schemas.openxmlformats.org/drawingml/2006/main">
            <a:off x="2895600" y="4933950"/>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223047"/>
                </a:solidFill>
              </a:defRPr>
            </a:defPPr>
          </a:lstStyle>
          <a:p xmlns:a="http://schemas.openxmlformats.org/drawingml/2006/main">
            <a:pPr algn="l">
              <a:buNone/>
              <a:defRPr sz="1275" b="0">
                <a:solidFill>
                  <a:srgbClr val="223047"/>
                </a:solidFill>
              </a:defRPr>
            </a:pPr>
            <a:r>
              <a:rPr sz="1275" b="0">
                <a:solidFill>
                  <a:srgbClr val="223047"/>
                </a:solidFill>
              </a:rPr>
              <a:t>Pause before consequential actions</a:t>
            </a:r>
          </a:p>
        </p:txBody>
      </p:sp>
      <p:sp>
        <p:nvSpPr>
          <p:cNvPr id="13" name="Rectangle 12">
            <a:extLst xmlns:a="http://schemas.openxmlformats.org/drawingml/2006/main">
              <a:ext uri="{FF2B5EF4-FFF2-40B4-BE49-F238E27FC236}">
                <a16:creationId xmlns:a16="http://schemas.microsoft.com/office/drawing/2014/main" id="{4E6EECEE-994D-4C01-9CE3-27AC056D81F4}"/>
              </a:ext>
            </a:extLst>
          </p:cNvPr>
          <p:cNvSpPr>
            <a:spLocks xmlns:a="http://schemas.openxmlformats.org/drawingml/2006/main" noGrp="1"/>
          </p:cNvSpPr>
          <p:nvPr/>
        </p:nvSpPr>
        <p:spPr>
          <a:xfrm xmlns:a="http://schemas.openxmlformats.org/drawingml/2006/main">
            <a:off x="6324600" y="516255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1">
                <a:solidFill>
                  <a:srgbClr val="203D67"/>
                </a:solidFill>
              </a:defRPr>
            </a:defPPr>
          </a:lstStyle>
          <a:p xmlns:a="http://schemas.openxmlformats.org/drawingml/2006/main">
            <a:pPr algn="ctr">
              <a:buNone/>
              <a:defRPr sz="1350" b="1">
                <a:solidFill>
                  <a:srgbClr val="203D67"/>
                </a:solidFill>
              </a:defRPr>
            </a:pPr>
            <a:r>
              <a:rPr sz="1350" b="1">
                <a:solidFill>
                  <a:srgbClr val="203D67"/>
                </a:solidFill>
              </a:rPr>
              <a:t>A local code executor reduces risk but does not provide complete isolation</a:t>
            </a:r>
          </a:p>
        </p:txBody>
      </p:sp>
    </p:spTree>
    <p:extLst>
      <p:ext uri="{BB962C8B-B14F-4D97-AF65-F5344CB8AC3E}">
        <p14:creationId xmlns:p14="http://schemas.microsoft.com/office/powerpoint/2010/main" val="160114820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1" name="Picture 30">
            <a:extLst xmlns:a="http://schemas.openxmlformats.org/drawingml/2006/main">
              <a:ext uri="{FF2B5EF4-FFF2-40B4-BE49-F238E27FC236}">
                <a16:creationId xmlns:a16="http://schemas.microsoft.com/office/drawing/2014/main" id="{48E782BC-4D15-4BF1-8B18-45E2BBC82836}"/>
              </a:ext>
            </a:extLst>
          </p:cNvPr>
          <p:cNvPicPr>
            <a:picLocks xmlns:a="http://schemas.openxmlformats.org/drawingml/2006/main" noChangeAspect="1"/>
          </p:cNvPicPr>
          <p:nvPr/>
        </p:nvPicPr>
        <p:blipFill>
          <a:blip xmlns:r="http://schemas.openxmlformats.org/officeDocument/2006/relationships" xmlns:a="http://schemas.openxmlformats.org/drawingml/2006/main" r:embed="Rf68f20901a7d4f4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AF062D79-3780-4AD1-81DA-F2777DC681DD}"/>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Observability and evaluation</a:t>
            </a:r>
          </a:p>
        </p:txBody>
      </p:sp>
      <p:sp>
        <p:nvSpPr>
          <p:cNvPr id="3" name="Rectangle 2">
            <a:extLst xmlns:a="http://schemas.openxmlformats.org/drawingml/2006/main">
              <a:ext uri="{FF2B5EF4-FFF2-40B4-BE49-F238E27FC236}">
                <a16:creationId xmlns:a16="http://schemas.microsoft.com/office/drawing/2014/main" id="{E0720AD9-3151-468F-A013-909861D4853C}"/>
              </a:ext>
            </a:extLst>
          </p:cNvPr>
          <p:cNvSpPr>
            <a:spLocks xmlns:a="http://schemas.openxmlformats.org/drawingml/2006/main" noGrp="1"/>
          </p:cNvSpPr>
          <p:nvPr/>
        </p:nvSpPr>
        <p:spPr>
          <a:xfrm xmlns:a="http://schemas.openxmlformats.org/drawingml/2006/main">
            <a:off x="990600" y="2571750"/>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1">
                <a:solidFill>
                  <a:srgbClr val="175CE5"/>
                </a:solidFill>
              </a:defRPr>
            </a:defPPr>
          </a:lstStyle>
          <a:p xmlns:a="http://schemas.openxmlformats.org/drawingml/2006/main">
            <a:pPr algn="l">
              <a:buNone/>
              <a:defRPr sz="1575" b="1">
                <a:solidFill>
                  <a:srgbClr val="175CE5"/>
                </a:solidFill>
              </a:defRPr>
            </a:pPr>
            <a:r>
              <a:rPr sz="1575" b="1">
                <a:solidFill>
                  <a:srgbClr val="175CE5"/>
                </a:solidFill>
              </a:rPr>
              <a:t>TRACE</a:t>
            </a:r>
          </a:p>
        </p:txBody>
      </p:sp>
      <p:sp>
        <p:nvSpPr>
          <p:cNvPr id="4" name="Rectangle 3">
            <a:extLst xmlns:a="http://schemas.openxmlformats.org/drawingml/2006/main">
              <a:ext uri="{FF2B5EF4-FFF2-40B4-BE49-F238E27FC236}">
                <a16:creationId xmlns:a16="http://schemas.microsoft.com/office/drawing/2014/main" id="{7C8D6B23-D98E-451F-BCBC-DE181202DF94}"/>
              </a:ext>
            </a:extLst>
          </p:cNvPr>
          <p:cNvSpPr>
            <a:spLocks xmlns:a="http://schemas.openxmlformats.org/drawingml/2006/main" noGrp="1"/>
          </p:cNvSpPr>
          <p:nvPr/>
        </p:nvSpPr>
        <p:spPr>
          <a:xfrm xmlns:a="http://schemas.openxmlformats.org/drawingml/2006/main">
            <a:off x="4267200" y="2571750"/>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1">
                <a:solidFill>
                  <a:srgbClr val="008A91"/>
                </a:solidFill>
              </a:defRPr>
            </a:defPPr>
          </a:lstStyle>
          <a:p xmlns:a="http://schemas.openxmlformats.org/drawingml/2006/main">
            <a:pPr algn="l">
              <a:buNone/>
              <a:defRPr sz="1575" b="1">
                <a:solidFill>
                  <a:srgbClr val="008A91"/>
                </a:solidFill>
              </a:defRPr>
            </a:pPr>
            <a:r>
              <a:rPr sz="1575" b="1">
                <a:solidFill>
                  <a:srgbClr val="008A91"/>
                </a:solidFill>
              </a:rPr>
              <a:t>EVALUATE</a:t>
            </a:r>
          </a:p>
        </p:txBody>
      </p:sp>
      <p:sp>
        <p:nvSpPr>
          <p:cNvPr id="5" name="Rectangle 4">
            <a:extLst xmlns:a="http://schemas.openxmlformats.org/drawingml/2006/main">
              <a:ext uri="{FF2B5EF4-FFF2-40B4-BE49-F238E27FC236}">
                <a16:creationId xmlns:a16="http://schemas.microsoft.com/office/drawing/2014/main" id="{1B1966E0-8EC2-47DB-84B8-DE60672062F5}"/>
              </a:ext>
            </a:extLst>
          </p:cNvPr>
          <p:cNvSpPr>
            <a:spLocks xmlns:a="http://schemas.openxmlformats.org/drawingml/2006/main" noGrp="1"/>
          </p:cNvSpPr>
          <p:nvPr/>
        </p:nvSpPr>
        <p:spPr>
          <a:xfrm xmlns:a="http://schemas.openxmlformats.org/drawingml/2006/main">
            <a:off x="7543800" y="2571750"/>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1">
                <a:solidFill>
                  <a:srgbClr val="F4B900"/>
                </a:solidFill>
              </a:defRPr>
            </a:defPPr>
          </a:lstStyle>
          <a:p xmlns:a="http://schemas.openxmlformats.org/drawingml/2006/main">
            <a:pPr algn="l">
              <a:buNone/>
              <a:defRPr sz="1575" b="1">
                <a:solidFill>
                  <a:srgbClr val="F4B900"/>
                </a:solidFill>
              </a:defRPr>
            </a:pPr>
            <a:r>
              <a:rPr sz="1575" b="1">
                <a:solidFill>
                  <a:srgbClr val="F4B900"/>
                </a:solidFill>
              </a:rPr>
              <a:t>IMPROVE</a:t>
            </a:r>
          </a:p>
        </p:txBody>
      </p:sp>
      <p:sp>
        <p:nvSpPr>
          <p:cNvPr id="6" name="Rounded Rectangle 5">
            <a:extLst xmlns:a="http://schemas.openxmlformats.org/drawingml/2006/main">
              <a:ext uri="{FF2B5EF4-FFF2-40B4-BE49-F238E27FC236}">
                <a16:creationId xmlns:a16="http://schemas.microsoft.com/office/drawing/2014/main" id="{B5186E2C-3EC3-4651-955D-2287AC3FAD8E}"/>
              </a:ext>
            </a:extLst>
          </p:cNvPr>
          <p:cNvSpPr>
            <a:spLocks xmlns:a="http://schemas.openxmlformats.org/drawingml/2006/main" noGrp="1"/>
          </p:cNvSpPr>
          <p:nvPr/>
        </p:nvSpPr>
        <p:spPr>
          <a:xfrm xmlns:a="http://schemas.openxmlformats.org/drawingml/2006/main">
            <a:off x="952500" y="3257550"/>
            <a:ext cx="104775" cy="104775"/>
          </a:xfrm>
          <a:prstGeom xmlns:a="http://schemas.openxmlformats.org/drawingml/2006/main" prst="roundRect">
            <a:avLst>
              <a:gd name="adj" fmla="val 18182"/>
            </a:avLst>
          </a:prstGeom>
          <a:solidFill xmlns:a="http://schemas.openxmlformats.org/drawingml/2006/main">
            <a:srgbClr val="175CE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0B5B4437-EA87-4AFA-A2F4-052EFEB44C3E}"/>
              </a:ext>
            </a:extLst>
          </p:cNvPr>
          <p:cNvSpPr>
            <a:spLocks xmlns:a="http://schemas.openxmlformats.org/drawingml/2006/main" noGrp="1"/>
          </p:cNvSpPr>
          <p:nvPr/>
        </p:nvSpPr>
        <p:spPr>
          <a:xfrm xmlns:a="http://schemas.openxmlformats.org/drawingml/2006/main">
            <a:off x="1238250" y="3143250"/>
            <a:ext cx="228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Model calls</a:t>
            </a:r>
          </a:p>
        </p:txBody>
      </p:sp>
      <p:sp>
        <p:nvSpPr>
          <p:cNvPr id="8" name="Rounded Rectangle 7">
            <a:extLst xmlns:a="http://schemas.openxmlformats.org/drawingml/2006/main">
              <a:ext uri="{FF2B5EF4-FFF2-40B4-BE49-F238E27FC236}">
                <a16:creationId xmlns:a16="http://schemas.microsoft.com/office/drawing/2014/main" id="{73981204-FECC-4B97-A924-A7A78C2C06EB}"/>
              </a:ext>
            </a:extLst>
          </p:cNvPr>
          <p:cNvSpPr>
            <a:spLocks xmlns:a="http://schemas.openxmlformats.org/drawingml/2006/main" noGrp="1"/>
          </p:cNvSpPr>
          <p:nvPr/>
        </p:nvSpPr>
        <p:spPr>
          <a:xfrm xmlns:a="http://schemas.openxmlformats.org/drawingml/2006/main">
            <a:off x="952500" y="3752850"/>
            <a:ext cx="104775" cy="104775"/>
          </a:xfrm>
          <a:prstGeom xmlns:a="http://schemas.openxmlformats.org/drawingml/2006/main" prst="roundRect">
            <a:avLst>
              <a:gd name="adj" fmla="val 18182"/>
            </a:avLst>
          </a:prstGeom>
          <a:solidFill xmlns:a="http://schemas.openxmlformats.org/drawingml/2006/main">
            <a:srgbClr val="175CE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DBA0EAD7-4EAE-48CA-AF00-2FF922E1557F}"/>
              </a:ext>
            </a:extLst>
          </p:cNvPr>
          <p:cNvSpPr>
            <a:spLocks xmlns:a="http://schemas.openxmlformats.org/drawingml/2006/main" noGrp="1"/>
          </p:cNvSpPr>
          <p:nvPr/>
        </p:nvSpPr>
        <p:spPr>
          <a:xfrm xmlns:a="http://schemas.openxmlformats.org/drawingml/2006/main">
            <a:off x="1238250" y="3638550"/>
            <a:ext cx="228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Tool calls</a:t>
            </a:r>
          </a:p>
        </p:txBody>
      </p:sp>
      <p:sp>
        <p:nvSpPr>
          <p:cNvPr id="10" name="Rounded Rectangle 9">
            <a:extLst xmlns:a="http://schemas.openxmlformats.org/drawingml/2006/main">
              <a:ext uri="{FF2B5EF4-FFF2-40B4-BE49-F238E27FC236}">
                <a16:creationId xmlns:a16="http://schemas.microsoft.com/office/drawing/2014/main" id="{E9DAE383-26CB-42C3-AC03-64E133D62069}"/>
              </a:ext>
            </a:extLst>
          </p:cNvPr>
          <p:cNvSpPr>
            <a:spLocks xmlns:a="http://schemas.openxmlformats.org/drawingml/2006/main" noGrp="1"/>
          </p:cNvSpPr>
          <p:nvPr/>
        </p:nvSpPr>
        <p:spPr>
          <a:xfrm xmlns:a="http://schemas.openxmlformats.org/drawingml/2006/main">
            <a:off x="952500" y="4248150"/>
            <a:ext cx="104775" cy="104775"/>
          </a:xfrm>
          <a:prstGeom xmlns:a="http://schemas.openxmlformats.org/drawingml/2006/main" prst="roundRect">
            <a:avLst>
              <a:gd name="adj" fmla="val 18182"/>
            </a:avLst>
          </a:prstGeom>
          <a:solidFill xmlns:a="http://schemas.openxmlformats.org/drawingml/2006/main">
            <a:srgbClr val="175CE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F1F0EB62-2659-4A09-86F6-0B13C945506C}"/>
              </a:ext>
            </a:extLst>
          </p:cNvPr>
          <p:cNvSpPr>
            <a:spLocks xmlns:a="http://schemas.openxmlformats.org/drawingml/2006/main" noGrp="1"/>
          </p:cNvSpPr>
          <p:nvPr/>
        </p:nvSpPr>
        <p:spPr>
          <a:xfrm xmlns:a="http://schemas.openxmlformats.org/drawingml/2006/main">
            <a:off x="1238250" y="4133850"/>
            <a:ext cx="228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Errors</a:t>
            </a:r>
          </a:p>
        </p:txBody>
      </p:sp>
      <p:sp>
        <p:nvSpPr>
          <p:cNvPr id="12" name="Rounded Rectangle 11">
            <a:extLst xmlns:a="http://schemas.openxmlformats.org/drawingml/2006/main">
              <a:ext uri="{FF2B5EF4-FFF2-40B4-BE49-F238E27FC236}">
                <a16:creationId xmlns:a16="http://schemas.microsoft.com/office/drawing/2014/main" id="{09A3B15A-265C-4458-8859-CF6F4EA9BBF0}"/>
              </a:ext>
            </a:extLst>
          </p:cNvPr>
          <p:cNvSpPr>
            <a:spLocks xmlns:a="http://schemas.openxmlformats.org/drawingml/2006/main" noGrp="1"/>
          </p:cNvSpPr>
          <p:nvPr/>
        </p:nvSpPr>
        <p:spPr>
          <a:xfrm xmlns:a="http://schemas.openxmlformats.org/drawingml/2006/main">
            <a:off x="952500" y="4743450"/>
            <a:ext cx="104775" cy="104775"/>
          </a:xfrm>
          <a:prstGeom xmlns:a="http://schemas.openxmlformats.org/drawingml/2006/main" prst="roundRect">
            <a:avLst>
              <a:gd name="adj" fmla="val 18182"/>
            </a:avLst>
          </a:prstGeom>
          <a:solidFill xmlns:a="http://schemas.openxmlformats.org/drawingml/2006/main">
            <a:srgbClr val="175CE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8A0BAD8C-8941-41CF-A430-DDD3D00D6BCB}"/>
              </a:ext>
            </a:extLst>
          </p:cNvPr>
          <p:cNvSpPr>
            <a:spLocks xmlns:a="http://schemas.openxmlformats.org/drawingml/2006/main" noGrp="1"/>
          </p:cNvSpPr>
          <p:nvPr/>
        </p:nvSpPr>
        <p:spPr>
          <a:xfrm xmlns:a="http://schemas.openxmlformats.org/drawingml/2006/main">
            <a:off x="1238250" y="4629150"/>
            <a:ext cx="228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Latency and cost</a:t>
            </a:r>
          </a:p>
        </p:txBody>
      </p:sp>
      <p:sp>
        <p:nvSpPr>
          <p:cNvPr id="14" name="Rounded Rectangle 13">
            <a:extLst xmlns:a="http://schemas.openxmlformats.org/drawingml/2006/main">
              <a:ext uri="{FF2B5EF4-FFF2-40B4-BE49-F238E27FC236}">
                <a16:creationId xmlns:a16="http://schemas.microsoft.com/office/drawing/2014/main" id="{C4B549FD-F0C3-418A-872D-F096187C2C4D}"/>
              </a:ext>
            </a:extLst>
          </p:cNvPr>
          <p:cNvSpPr>
            <a:spLocks xmlns:a="http://schemas.openxmlformats.org/drawingml/2006/main" noGrp="1"/>
          </p:cNvSpPr>
          <p:nvPr/>
        </p:nvSpPr>
        <p:spPr>
          <a:xfrm xmlns:a="http://schemas.openxmlformats.org/drawingml/2006/main">
            <a:off x="4229100" y="3257550"/>
            <a:ext cx="104775" cy="104775"/>
          </a:xfrm>
          <a:prstGeom xmlns:a="http://schemas.openxmlformats.org/drawingml/2006/main" prst="roundRect">
            <a:avLst>
              <a:gd name="adj" fmla="val 18182"/>
            </a:avLst>
          </a:prstGeom>
          <a:solidFill xmlns:a="http://schemas.openxmlformats.org/drawingml/2006/main">
            <a:srgbClr val="008A91"/>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BF53C2D7-0F60-4862-B9E8-E5EDC8333DB4}"/>
              </a:ext>
            </a:extLst>
          </p:cNvPr>
          <p:cNvSpPr>
            <a:spLocks xmlns:a="http://schemas.openxmlformats.org/drawingml/2006/main" noGrp="1"/>
          </p:cNvSpPr>
          <p:nvPr/>
        </p:nvSpPr>
        <p:spPr>
          <a:xfrm xmlns:a="http://schemas.openxmlformats.org/drawingml/2006/main">
            <a:off x="4514850" y="31432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Task completion</a:t>
            </a:r>
          </a:p>
        </p:txBody>
      </p:sp>
      <p:sp>
        <p:nvSpPr>
          <p:cNvPr id="16" name="Rounded Rectangle 15">
            <a:extLst xmlns:a="http://schemas.openxmlformats.org/drawingml/2006/main">
              <a:ext uri="{FF2B5EF4-FFF2-40B4-BE49-F238E27FC236}">
                <a16:creationId xmlns:a16="http://schemas.microsoft.com/office/drawing/2014/main" id="{04087BA4-00B2-4B13-B6A6-8BAD46A00FEB}"/>
              </a:ext>
            </a:extLst>
          </p:cNvPr>
          <p:cNvSpPr>
            <a:spLocks xmlns:a="http://schemas.openxmlformats.org/drawingml/2006/main" noGrp="1"/>
          </p:cNvSpPr>
          <p:nvPr/>
        </p:nvSpPr>
        <p:spPr>
          <a:xfrm xmlns:a="http://schemas.openxmlformats.org/drawingml/2006/main">
            <a:off x="4229100" y="3752850"/>
            <a:ext cx="104775" cy="104775"/>
          </a:xfrm>
          <a:prstGeom xmlns:a="http://schemas.openxmlformats.org/drawingml/2006/main" prst="roundRect">
            <a:avLst>
              <a:gd name="adj" fmla="val 18182"/>
            </a:avLst>
          </a:prstGeom>
          <a:solidFill xmlns:a="http://schemas.openxmlformats.org/drawingml/2006/main">
            <a:srgbClr val="008A91"/>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C452AD74-8496-4BBC-9087-49AFC06FF16C}"/>
              </a:ext>
            </a:extLst>
          </p:cNvPr>
          <p:cNvSpPr>
            <a:spLocks xmlns:a="http://schemas.openxmlformats.org/drawingml/2006/main" noGrp="1"/>
          </p:cNvSpPr>
          <p:nvPr/>
        </p:nvSpPr>
        <p:spPr>
          <a:xfrm xmlns:a="http://schemas.openxmlformats.org/drawingml/2006/main">
            <a:off x="451485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Tool choice</a:t>
            </a:r>
          </a:p>
        </p:txBody>
      </p:sp>
      <p:sp>
        <p:nvSpPr>
          <p:cNvPr id="18" name="Rounded Rectangle 17">
            <a:extLst xmlns:a="http://schemas.openxmlformats.org/drawingml/2006/main">
              <a:ext uri="{FF2B5EF4-FFF2-40B4-BE49-F238E27FC236}">
                <a16:creationId xmlns:a16="http://schemas.microsoft.com/office/drawing/2014/main" id="{89DC1CE8-6DA5-42BD-85D8-CC9009E8E7DC}"/>
              </a:ext>
            </a:extLst>
          </p:cNvPr>
          <p:cNvSpPr>
            <a:spLocks xmlns:a="http://schemas.openxmlformats.org/drawingml/2006/main" noGrp="1"/>
          </p:cNvSpPr>
          <p:nvPr/>
        </p:nvSpPr>
        <p:spPr>
          <a:xfrm xmlns:a="http://schemas.openxmlformats.org/drawingml/2006/main">
            <a:off x="4229100" y="4248150"/>
            <a:ext cx="104775" cy="104775"/>
          </a:xfrm>
          <a:prstGeom xmlns:a="http://schemas.openxmlformats.org/drawingml/2006/main" prst="roundRect">
            <a:avLst>
              <a:gd name="adj" fmla="val 18182"/>
            </a:avLst>
          </a:prstGeom>
          <a:solidFill xmlns:a="http://schemas.openxmlformats.org/drawingml/2006/main">
            <a:srgbClr val="008A91"/>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A64E7B0F-3C16-443A-ADAA-282543272EF4}"/>
              </a:ext>
            </a:extLst>
          </p:cNvPr>
          <p:cNvSpPr>
            <a:spLocks xmlns:a="http://schemas.openxmlformats.org/drawingml/2006/main" noGrp="1"/>
          </p:cNvSpPr>
          <p:nvPr/>
        </p:nvSpPr>
        <p:spPr>
          <a:xfrm xmlns:a="http://schemas.openxmlformats.org/drawingml/2006/main">
            <a:off x="4514850" y="41338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Evidence quality</a:t>
            </a:r>
          </a:p>
        </p:txBody>
      </p:sp>
      <p:sp>
        <p:nvSpPr>
          <p:cNvPr id="20" name="Rounded Rectangle 19">
            <a:extLst xmlns:a="http://schemas.openxmlformats.org/drawingml/2006/main">
              <a:ext uri="{FF2B5EF4-FFF2-40B4-BE49-F238E27FC236}">
                <a16:creationId xmlns:a16="http://schemas.microsoft.com/office/drawing/2014/main" id="{7D5EE55C-6198-432E-BE5F-74C03118DE58}"/>
              </a:ext>
            </a:extLst>
          </p:cNvPr>
          <p:cNvSpPr>
            <a:spLocks xmlns:a="http://schemas.openxmlformats.org/drawingml/2006/main" noGrp="1"/>
          </p:cNvSpPr>
          <p:nvPr/>
        </p:nvSpPr>
        <p:spPr>
          <a:xfrm xmlns:a="http://schemas.openxmlformats.org/drawingml/2006/main">
            <a:off x="4229100" y="4743450"/>
            <a:ext cx="104775" cy="104775"/>
          </a:xfrm>
          <a:prstGeom xmlns:a="http://schemas.openxmlformats.org/drawingml/2006/main" prst="roundRect">
            <a:avLst>
              <a:gd name="adj" fmla="val 18182"/>
            </a:avLst>
          </a:prstGeom>
          <a:solidFill xmlns:a="http://schemas.openxmlformats.org/drawingml/2006/main">
            <a:srgbClr val="008A91"/>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9D5E9FB5-212C-4487-A0F9-13C15344653A}"/>
              </a:ext>
            </a:extLst>
          </p:cNvPr>
          <p:cNvSpPr>
            <a:spLocks xmlns:a="http://schemas.openxmlformats.org/drawingml/2006/main" noGrp="1"/>
          </p:cNvSpPr>
          <p:nvPr/>
        </p:nvSpPr>
        <p:spPr>
          <a:xfrm xmlns:a="http://schemas.openxmlformats.org/drawingml/2006/main">
            <a:off x="4514850" y="46291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Policy compliance</a:t>
            </a:r>
          </a:p>
        </p:txBody>
      </p:sp>
      <p:sp>
        <p:nvSpPr>
          <p:cNvPr id="22" name="Rounded Rectangle 21">
            <a:extLst xmlns:a="http://schemas.openxmlformats.org/drawingml/2006/main">
              <a:ext uri="{FF2B5EF4-FFF2-40B4-BE49-F238E27FC236}">
                <a16:creationId xmlns:a16="http://schemas.microsoft.com/office/drawing/2014/main" id="{B68E7310-D5A3-47B6-9850-96AC995D0B71}"/>
              </a:ext>
            </a:extLst>
          </p:cNvPr>
          <p:cNvSpPr>
            <a:spLocks xmlns:a="http://schemas.openxmlformats.org/drawingml/2006/main" noGrp="1"/>
          </p:cNvSpPr>
          <p:nvPr/>
        </p:nvSpPr>
        <p:spPr>
          <a:xfrm xmlns:a="http://schemas.openxmlformats.org/drawingml/2006/main">
            <a:off x="7505700" y="3257550"/>
            <a:ext cx="104775" cy="104775"/>
          </a:xfrm>
          <a:prstGeom xmlns:a="http://schemas.openxmlformats.org/drawingml/2006/main" prst="roundRect">
            <a:avLst>
              <a:gd name="adj" fmla="val 18182"/>
            </a:avLst>
          </a:prstGeom>
          <a:solidFill xmlns:a="http://schemas.openxmlformats.org/drawingml/2006/main">
            <a:srgbClr val="F4B9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2914DBE0-D60E-42FF-98C8-1849560B38A9}"/>
              </a:ext>
            </a:extLst>
          </p:cNvPr>
          <p:cNvSpPr>
            <a:spLocks xmlns:a="http://schemas.openxmlformats.org/drawingml/2006/main" noGrp="1"/>
          </p:cNvSpPr>
          <p:nvPr/>
        </p:nvSpPr>
        <p:spPr>
          <a:xfrm xmlns:a="http://schemas.openxmlformats.org/drawingml/2006/main">
            <a:off x="7791450" y="31432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Collect failures</a:t>
            </a:r>
          </a:p>
        </p:txBody>
      </p:sp>
      <p:sp>
        <p:nvSpPr>
          <p:cNvPr id="24" name="Rounded Rectangle 23">
            <a:extLst xmlns:a="http://schemas.openxmlformats.org/drawingml/2006/main">
              <a:ext uri="{FF2B5EF4-FFF2-40B4-BE49-F238E27FC236}">
                <a16:creationId xmlns:a16="http://schemas.microsoft.com/office/drawing/2014/main" id="{791701CC-EAE8-4C5C-9B94-CD3D138E1FEB}"/>
              </a:ext>
            </a:extLst>
          </p:cNvPr>
          <p:cNvSpPr>
            <a:spLocks xmlns:a="http://schemas.openxmlformats.org/drawingml/2006/main" noGrp="1"/>
          </p:cNvSpPr>
          <p:nvPr/>
        </p:nvSpPr>
        <p:spPr>
          <a:xfrm xmlns:a="http://schemas.openxmlformats.org/drawingml/2006/main">
            <a:off x="7505700" y="3752850"/>
            <a:ext cx="104775" cy="104775"/>
          </a:xfrm>
          <a:prstGeom xmlns:a="http://schemas.openxmlformats.org/drawingml/2006/main" prst="roundRect">
            <a:avLst>
              <a:gd name="adj" fmla="val 18182"/>
            </a:avLst>
          </a:prstGeom>
          <a:solidFill xmlns:a="http://schemas.openxmlformats.org/drawingml/2006/main">
            <a:srgbClr val="F4B9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24">
            <a:extLst xmlns:a="http://schemas.openxmlformats.org/drawingml/2006/main">
              <a:ext uri="{FF2B5EF4-FFF2-40B4-BE49-F238E27FC236}">
                <a16:creationId xmlns:a16="http://schemas.microsoft.com/office/drawing/2014/main" id="{9CCD2576-3516-48CC-A388-CCD93EA3FF2E}"/>
              </a:ext>
            </a:extLst>
          </p:cNvPr>
          <p:cNvSpPr>
            <a:spLocks xmlns:a="http://schemas.openxmlformats.org/drawingml/2006/main" noGrp="1"/>
          </p:cNvSpPr>
          <p:nvPr/>
        </p:nvSpPr>
        <p:spPr>
          <a:xfrm xmlns:a="http://schemas.openxmlformats.org/drawingml/2006/main">
            <a:off x="779145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Add regression cases</a:t>
            </a:r>
          </a:p>
        </p:txBody>
      </p:sp>
      <p:sp>
        <p:nvSpPr>
          <p:cNvPr id="26" name="Rounded Rectangle 25">
            <a:extLst xmlns:a="http://schemas.openxmlformats.org/drawingml/2006/main">
              <a:ext uri="{FF2B5EF4-FFF2-40B4-BE49-F238E27FC236}">
                <a16:creationId xmlns:a16="http://schemas.microsoft.com/office/drawing/2014/main" id="{B20E3C04-FAAF-4513-98E3-6960714973AB}"/>
              </a:ext>
            </a:extLst>
          </p:cNvPr>
          <p:cNvSpPr>
            <a:spLocks xmlns:a="http://schemas.openxmlformats.org/drawingml/2006/main" noGrp="1"/>
          </p:cNvSpPr>
          <p:nvPr/>
        </p:nvSpPr>
        <p:spPr>
          <a:xfrm xmlns:a="http://schemas.openxmlformats.org/drawingml/2006/main">
            <a:off x="7505700" y="4248150"/>
            <a:ext cx="104775" cy="104775"/>
          </a:xfrm>
          <a:prstGeom xmlns:a="http://schemas.openxmlformats.org/drawingml/2006/main" prst="roundRect">
            <a:avLst>
              <a:gd name="adj" fmla="val 18182"/>
            </a:avLst>
          </a:prstGeom>
          <a:solidFill xmlns:a="http://schemas.openxmlformats.org/drawingml/2006/main">
            <a:srgbClr val="F4B9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7" name="Rectangle 26">
            <a:extLst xmlns:a="http://schemas.openxmlformats.org/drawingml/2006/main">
              <a:ext uri="{FF2B5EF4-FFF2-40B4-BE49-F238E27FC236}">
                <a16:creationId xmlns:a16="http://schemas.microsoft.com/office/drawing/2014/main" id="{3305B0D8-FCAA-4C63-A362-486F4B248C72}"/>
              </a:ext>
            </a:extLst>
          </p:cNvPr>
          <p:cNvSpPr>
            <a:spLocks xmlns:a="http://schemas.openxmlformats.org/drawingml/2006/main" noGrp="1"/>
          </p:cNvSpPr>
          <p:nvPr/>
        </p:nvSpPr>
        <p:spPr>
          <a:xfrm xmlns:a="http://schemas.openxmlformats.org/drawingml/2006/main">
            <a:off x="7791450" y="41338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Compare versions</a:t>
            </a:r>
          </a:p>
        </p:txBody>
      </p:sp>
      <p:sp>
        <p:nvSpPr>
          <p:cNvPr id="28" name="Rounded Rectangle 27">
            <a:extLst xmlns:a="http://schemas.openxmlformats.org/drawingml/2006/main">
              <a:ext uri="{FF2B5EF4-FFF2-40B4-BE49-F238E27FC236}">
                <a16:creationId xmlns:a16="http://schemas.microsoft.com/office/drawing/2014/main" id="{DB3176AE-33A1-40C8-8D5C-D2DB7CFE270E}"/>
              </a:ext>
            </a:extLst>
          </p:cNvPr>
          <p:cNvSpPr>
            <a:spLocks xmlns:a="http://schemas.openxmlformats.org/drawingml/2006/main" noGrp="1"/>
          </p:cNvSpPr>
          <p:nvPr/>
        </p:nvSpPr>
        <p:spPr>
          <a:xfrm xmlns:a="http://schemas.openxmlformats.org/drawingml/2006/main">
            <a:off x="7505700" y="4743450"/>
            <a:ext cx="104775" cy="104775"/>
          </a:xfrm>
          <a:prstGeom xmlns:a="http://schemas.openxmlformats.org/drawingml/2006/main" prst="roundRect">
            <a:avLst>
              <a:gd name="adj" fmla="val 18182"/>
            </a:avLst>
          </a:prstGeom>
          <a:solidFill xmlns:a="http://schemas.openxmlformats.org/drawingml/2006/main">
            <a:srgbClr val="F4B9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9" name="Rectangle 28">
            <a:extLst xmlns:a="http://schemas.openxmlformats.org/drawingml/2006/main">
              <a:ext uri="{FF2B5EF4-FFF2-40B4-BE49-F238E27FC236}">
                <a16:creationId xmlns:a16="http://schemas.microsoft.com/office/drawing/2014/main" id="{19B324E2-DF2E-4E9A-AAD5-01BB54B806B8}"/>
              </a:ext>
            </a:extLst>
          </p:cNvPr>
          <p:cNvSpPr>
            <a:spLocks xmlns:a="http://schemas.openxmlformats.org/drawingml/2006/main" noGrp="1"/>
          </p:cNvSpPr>
          <p:nvPr/>
        </p:nvSpPr>
        <p:spPr>
          <a:xfrm xmlns:a="http://schemas.openxmlformats.org/drawingml/2006/main">
            <a:off x="7791450" y="46291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223047"/>
                </a:solidFill>
              </a:defRPr>
            </a:defPPr>
          </a:lstStyle>
          <a:p xmlns:a="http://schemas.openxmlformats.org/drawingml/2006/main">
            <a:pPr algn="l">
              <a:buNone/>
              <a:defRPr sz="1200" b="0">
                <a:solidFill>
                  <a:srgbClr val="223047"/>
                </a:solidFill>
              </a:defRPr>
            </a:pPr>
            <a:r>
              <a:rPr sz="1200" b="0">
                <a:solidFill>
                  <a:srgbClr val="223047"/>
                </a:solidFill>
              </a:rPr>
              <a:t>Monitor live use</a:t>
            </a:r>
          </a:p>
        </p:txBody>
      </p:sp>
      <p:sp>
        <p:nvSpPr>
          <p:cNvPr id="30" name="Rectangle 29">
            <a:extLst xmlns:a="http://schemas.openxmlformats.org/drawingml/2006/main">
              <a:ext uri="{FF2B5EF4-FFF2-40B4-BE49-F238E27FC236}">
                <a16:creationId xmlns:a16="http://schemas.microsoft.com/office/drawing/2014/main" id="{515AB0C1-99CB-44DF-886B-DA8996F35C72}"/>
              </a:ext>
            </a:extLst>
          </p:cNvPr>
          <p:cNvSpPr>
            <a:spLocks xmlns:a="http://schemas.openxmlformats.org/drawingml/2006/main" noGrp="1"/>
          </p:cNvSpPr>
          <p:nvPr/>
        </p:nvSpPr>
        <p:spPr>
          <a:xfrm xmlns:a="http://schemas.openxmlformats.org/drawingml/2006/main">
            <a:off x="2286000" y="5429250"/>
            <a:ext cx="666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203D67"/>
                </a:solidFill>
              </a:defRPr>
            </a:defPPr>
          </a:lstStyle>
          <a:p xmlns:a="http://schemas.openxmlformats.org/drawingml/2006/main">
            <a:pPr algn="ctr">
              <a:buNone/>
              <a:defRPr sz="1500" b="1">
                <a:solidFill>
                  <a:srgbClr val="203D67"/>
                </a:solidFill>
              </a:defRPr>
            </a:pPr>
            <a:r>
              <a:rPr sz="1500" b="1">
                <a:solidFill>
                  <a:srgbClr val="203D67"/>
                </a:solidFill>
              </a:rPr>
              <a:t>Offline tests catch known failures. Online monitoring discovers new ones.</a:t>
            </a:r>
          </a:p>
        </p:txBody>
      </p:sp>
    </p:spTree>
    <p:extLst>
      <p:ext uri="{BB962C8B-B14F-4D97-AF65-F5344CB8AC3E}">
        <p14:creationId xmlns:p14="http://schemas.microsoft.com/office/powerpoint/2010/main" val="210428159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Picture 13">
            <a:extLst xmlns:a="http://schemas.openxmlformats.org/drawingml/2006/main">
              <a:ext uri="{FF2B5EF4-FFF2-40B4-BE49-F238E27FC236}">
                <a16:creationId xmlns:a16="http://schemas.microsoft.com/office/drawing/2014/main" id="{263D5F1D-E88F-451D-B2E9-4D536D7E4986}"/>
              </a:ext>
            </a:extLst>
          </p:cNvPr>
          <p:cNvPicPr>
            <a:picLocks xmlns:a="http://schemas.openxmlformats.org/drawingml/2006/main" noChangeAspect="1"/>
          </p:cNvPicPr>
          <p:nvPr/>
        </p:nvPicPr>
        <p:blipFill>
          <a:blip xmlns:r="http://schemas.openxmlformats.org/officeDocument/2006/relationships" xmlns:a="http://schemas.openxmlformats.org/drawingml/2006/main" r:embed="R6b87686ae35b4a5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F650BB0C-2FBD-4EDB-8041-D0D00A84E0FB}"/>
              </a:ext>
            </a:extLst>
          </p:cNvPr>
          <p:cNvSpPr>
            <a:spLocks xmlns:a="http://schemas.openxmlformats.org/drawingml/2006/main" noGrp="1"/>
          </p:cNvSpPr>
          <p:nvPr/>
        </p:nvSpPr>
        <p:spPr>
          <a:xfrm xmlns:a="http://schemas.openxmlformats.org/drawingml/2006/main">
            <a:off x="628650" y="13144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00" b="1">
                <a:solidFill>
                  <a:srgbClr val="203D67"/>
                </a:solidFill>
              </a:defRPr>
            </a:defPPr>
          </a:lstStyle>
          <a:p xmlns:a="http://schemas.openxmlformats.org/drawingml/2006/main">
            <a:pPr algn="l">
              <a:buNone/>
              <a:defRPr sz="2400" b="1">
                <a:solidFill>
                  <a:srgbClr val="203D67"/>
                </a:solidFill>
              </a:defRPr>
            </a:pPr>
            <a:r>
              <a:rPr sz="2400" b="1">
                <a:solidFill>
                  <a:srgbClr val="203D67"/>
                </a:solidFill>
              </a:rPr>
              <a:t>Five questions for every agent</a:t>
            </a:r>
          </a:p>
        </p:txBody>
      </p:sp>
      <p:sp>
        <p:nvSpPr>
          <p:cNvPr id="3" name="Rectangle 2">
            <a:extLst xmlns:a="http://schemas.openxmlformats.org/drawingml/2006/main">
              <a:ext uri="{FF2B5EF4-FFF2-40B4-BE49-F238E27FC236}">
                <a16:creationId xmlns:a16="http://schemas.microsoft.com/office/drawing/2014/main" id="{D2E89C70-9167-431A-9B23-84FB195A027C}"/>
              </a:ext>
            </a:extLst>
          </p:cNvPr>
          <p:cNvSpPr>
            <a:spLocks xmlns:a="http://schemas.openxmlformats.org/drawingml/2006/main" noGrp="1"/>
          </p:cNvSpPr>
          <p:nvPr/>
        </p:nvSpPr>
        <p:spPr>
          <a:xfrm xmlns:a="http://schemas.openxmlformats.org/drawingml/2006/main">
            <a:off x="819150" y="257175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1">
                <a:solidFill>
                  <a:srgbClr val="175CE5"/>
                </a:solidFill>
              </a:defRPr>
            </a:defPPr>
          </a:lstStyle>
          <a:p xmlns:a="http://schemas.openxmlformats.org/drawingml/2006/main">
            <a:pPr algn="l">
              <a:buNone/>
              <a:defRPr sz="1725" b="1">
                <a:solidFill>
                  <a:srgbClr val="175CE5"/>
                </a:solidFill>
              </a:defRPr>
            </a:pPr>
            <a:r>
              <a:rPr sz="1725" b="1">
                <a:solidFill>
                  <a:srgbClr val="175CE5"/>
                </a:solidFill>
              </a:rPr>
              <a:t>01</a:t>
            </a:r>
          </a:p>
        </p:txBody>
      </p:sp>
      <p:sp>
        <p:nvSpPr>
          <p:cNvPr id="4" name="Rectangle 3">
            <a:extLst xmlns:a="http://schemas.openxmlformats.org/drawingml/2006/main">
              <a:ext uri="{FF2B5EF4-FFF2-40B4-BE49-F238E27FC236}">
                <a16:creationId xmlns:a16="http://schemas.microsoft.com/office/drawing/2014/main" id="{36E3FCC7-3918-4F08-BA39-581E40048CE7}"/>
              </a:ext>
            </a:extLst>
          </p:cNvPr>
          <p:cNvSpPr>
            <a:spLocks xmlns:a="http://schemas.openxmlformats.org/drawingml/2006/main" noGrp="1"/>
          </p:cNvSpPr>
          <p:nvPr/>
        </p:nvSpPr>
        <p:spPr>
          <a:xfrm xmlns:a="http://schemas.openxmlformats.org/drawingml/2006/main">
            <a:off x="1562100" y="2552700"/>
            <a:ext cx="7353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223047"/>
                </a:solidFill>
              </a:defRPr>
            </a:defPPr>
          </a:lstStyle>
          <a:p xmlns:a="http://schemas.openxmlformats.org/drawingml/2006/main">
            <a:pPr algn="l">
              <a:buNone/>
              <a:defRPr sz="1500" b="1">
                <a:solidFill>
                  <a:srgbClr val="223047"/>
                </a:solidFill>
              </a:defRPr>
            </a:pPr>
            <a:r>
              <a:rPr sz="1500" b="1">
                <a:solidFill>
                  <a:srgbClr val="223047"/>
                </a:solidFill>
              </a:rPr>
              <a:t>What goal does the agent own?</a:t>
            </a:r>
          </a:p>
        </p:txBody>
      </p:sp>
      <p:sp>
        <p:nvSpPr>
          <p:cNvPr id="5" name="Rectangle 4">
            <a:extLst xmlns:a="http://schemas.openxmlformats.org/drawingml/2006/main">
              <a:ext uri="{FF2B5EF4-FFF2-40B4-BE49-F238E27FC236}">
                <a16:creationId xmlns:a16="http://schemas.microsoft.com/office/drawing/2014/main" id="{477B77D8-64D4-403E-97A9-5DE4DECD096D}"/>
              </a:ext>
            </a:extLst>
          </p:cNvPr>
          <p:cNvSpPr>
            <a:spLocks xmlns:a="http://schemas.openxmlformats.org/drawingml/2006/main" noGrp="1"/>
          </p:cNvSpPr>
          <p:nvPr/>
        </p:nvSpPr>
        <p:spPr>
          <a:xfrm xmlns:a="http://schemas.openxmlformats.org/drawingml/2006/main">
            <a:off x="819150" y="318135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1">
                <a:solidFill>
                  <a:srgbClr val="42BCC9"/>
                </a:solidFill>
              </a:defRPr>
            </a:defPPr>
          </a:lstStyle>
          <a:p xmlns:a="http://schemas.openxmlformats.org/drawingml/2006/main">
            <a:pPr algn="l">
              <a:buNone/>
              <a:defRPr sz="1725" b="1">
                <a:solidFill>
                  <a:srgbClr val="42BCC9"/>
                </a:solidFill>
              </a:defRPr>
            </a:pPr>
            <a:r>
              <a:rPr sz="1725" b="1">
                <a:solidFill>
                  <a:srgbClr val="42BCC9"/>
                </a:solidFill>
              </a:rPr>
              <a:t>02</a:t>
            </a:r>
          </a:p>
        </p:txBody>
      </p:sp>
      <p:sp>
        <p:nvSpPr>
          <p:cNvPr id="6" name="Rectangle 5">
            <a:extLst xmlns:a="http://schemas.openxmlformats.org/drawingml/2006/main">
              <a:ext uri="{FF2B5EF4-FFF2-40B4-BE49-F238E27FC236}">
                <a16:creationId xmlns:a16="http://schemas.microsoft.com/office/drawing/2014/main" id="{57D9D0BB-A1D6-4DFF-89AB-4F3E2E74649D}"/>
              </a:ext>
            </a:extLst>
          </p:cNvPr>
          <p:cNvSpPr>
            <a:spLocks xmlns:a="http://schemas.openxmlformats.org/drawingml/2006/main" noGrp="1"/>
          </p:cNvSpPr>
          <p:nvPr/>
        </p:nvSpPr>
        <p:spPr>
          <a:xfrm xmlns:a="http://schemas.openxmlformats.org/drawingml/2006/main">
            <a:off x="1562100" y="3162300"/>
            <a:ext cx="7353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223047"/>
                </a:solidFill>
              </a:defRPr>
            </a:defPPr>
          </a:lstStyle>
          <a:p xmlns:a="http://schemas.openxmlformats.org/drawingml/2006/main">
            <a:pPr algn="l">
              <a:buNone/>
              <a:defRPr sz="1500" b="1">
                <a:solidFill>
                  <a:srgbClr val="223047"/>
                </a:solidFill>
              </a:defRPr>
            </a:pPr>
            <a:r>
              <a:rPr sz="1500" b="1">
                <a:solidFill>
                  <a:srgbClr val="223047"/>
                </a:solidFill>
              </a:rPr>
              <a:t>Which decisions genuinely require a model?</a:t>
            </a:r>
          </a:p>
        </p:txBody>
      </p:sp>
      <p:sp>
        <p:nvSpPr>
          <p:cNvPr id="7" name="Rectangle 6">
            <a:extLst xmlns:a="http://schemas.openxmlformats.org/drawingml/2006/main">
              <a:ext uri="{FF2B5EF4-FFF2-40B4-BE49-F238E27FC236}">
                <a16:creationId xmlns:a16="http://schemas.microsoft.com/office/drawing/2014/main" id="{C460C3D0-DF9A-4963-9957-0ADCFBA923C8}"/>
              </a:ext>
            </a:extLst>
          </p:cNvPr>
          <p:cNvSpPr>
            <a:spLocks xmlns:a="http://schemas.openxmlformats.org/drawingml/2006/main" noGrp="1"/>
          </p:cNvSpPr>
          <p:nvPr/>
        </p:nvSpPr>
        <p:spPr>
          <a:xfrm xmlns:a="http://schemas.openxmlformats.org/drawingml/2006/main">
            <a:off x="819150" y="379095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1">
                <a:solidFill>
                  <a:srgbClr val="F4B900"/>
                </a:solidFill>
              </a:defRPr>
            </a:defPPr>
          </a:lstStyle>
          <a:p xmlns:a="http://schemas.openxmlformats.org/drawingml/2006/main">
            <a:pPr algn="l">
              <a:buNone/>
              <a:defRPr sz="1725" b="1">
                <a:solidFill>
                  <a:srgbClr val="F4B900"/>
                </a:solidFill>
              </a:defRPr>
            </a:pPr>
            <a:r>
              <a:rPr sz="1725" b="1">
                <a:solidFill>
                  <a:srgbClr val="F4B900"/>
                </a:solidFill>
              </a:rPr>
              <a:t>03</a:t>
            </a:r>
          </a:p>
        </p:txBody>
      </p:sp>
      <p:sp>
        <p:nvSpPr>
          <p:cNvPr id="8" name="Rectangle 7">
            <a:extLst xmlns:a="http://schemas.openxmlformats.org/drawingml/2006/main">
              <a:ext uri="{FF2B5EF4-FFF2-40B4-BE49-F238E27FC236}">
                <a16:creationId xmlns:a16="http://schemas.microsoft.com/office/drawing/2014/main" id="{7E1490CA-A040-4BC6-96DB-CC4BD7043A5C}"/>
              </a:ext>
            </a:extLst>
          </p:cNvPr>
          <p:cNvSpPr>
            <a:spLocks xmlns:a="http://schemas.openxmlformats.org/drawingml/2006/main" noGrp="1"/>
          </p:cNvSpPr>
          <p:nvPr/>
        </p:nvSpPr>
        <p:spPr>
          <a:xfrm xmlns:a="http://schemas.openxmlformats.org/drawingml/2006/main">
            <a:off x="1562100" y="3771900"/>
            <a:ext cx="7353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223047"/>
                </a:solidFill>
              </a:defRPr>
            </a:defPPr>
          </a:lstStyle>
          <a:p xmlns:a="http://schemas.openxmlformats.org/drawingml/2006/main">
            <a:pPr algn="l">
              <a:buNone/>
              <a:defRPr sz="1500" b="1">
                <a:solidFill>
                  <a:srgbClr val="223047"/>
                </a:solidFill>
              </a:defRPr>
            </a:pPr>
            <a:r>
              <a:rPr sz="1500" b="1">
                <a:solidFill>
                  <a:srgbClr val="223047"/>
                </a:solidFill>
              </a:rPr>
              <a:t>Which tools and permissions does it need?</a:t>
            </a:r>
          </a:p>
        </p:txBody>
      </p:sp>
      <p:sp>
        <p:nvSpPr>
          <p:cNvPr id="9" name="Rectangle 8">
            <a:extLst xmlns:a="http://schemas.openxmlformats.org/drawingml/2006/main">
              <a:ext uri="{FF2B5EF4-FFF2-40B4-BE49-F238E27FC236}">
                <a16:creationId xmlns:a16="http://schemas.microsoft.com/office/drawing/2014/main" id="{C6A1E71F-88DD-4BC2-83AE-DDB93DF9F76A}"/>
              </a:ext>
            </a:extLst>
          </p:cNvPr>
          <p:cNvSpPr>
            <a:spLocks xmlns:a="http://schemas.openxmlformats.org/drawingml/2006/main" noGrp="1"/>
          </p:cNvSpPr>
          <p:nvPr/>
        </p:nvSpPr>
        <p:spPr>
          <a:xfrm xmlns:a="http://schemas.openxmlformats.org/drawingml/2006/main">
            <a:off x="819150" y="440055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1">
                <a:solidFill>
                  <a:srgbClr val="008A91"/>
                </a:solidFill>
              </a:defRPr>
            </a:defPPr>
          </a:lstStyle>
          <a:p xmlns:a="http://schemas.openxmlformats.org/drawingml/2006/main">
            <a:pPr algn="l">
              <a:buNone/>
              <a:defRPr sz="1725" b="1">
                <a:solidFill>
                  <a:srgbClr val="008A91"/>
                </a:solidFill>
              </a:defRPr>
            </a:pPr>
            <a:r>
              <a:rPr sz="1725" b="1">
                <a:solidFill>
                  <a:srgbClr val="008A91"/>
                </a:solidFill>
              </a:rPr>
              <a:t>04</a:t>
            </a:r>
          </a:p>
        </p:txBody>
      </p:sp>
      <p:sp>
        <p:nvSpPr>
          <p:cNvPr id="10" name="Rectangle 9">
            <a:extLst xmlns:a="http://schemas.openxmlformats.org/drawingml/2006/main">
              <a:ext uri="{FF2B5EF4-FFF2-40B4-BE49-F238E27FC236}">
                <a16:creationId xmlns:a16="http://schemas.microsoft.com/office/drawing/2014/main" id="{0869BBE9-03DA-4097-94F7-A808CEAC69C1}"/>
              </a:ext>
            </a:extLst>
          </p:cNvPr>
          <p:cNvSpPr>
            <a:spLocks xmlns:a="http://schemas.openxmlformats.org/drawingml/2006/main" noGrp="1"/>
          </p:cNvSpPr>
          <p:nvPr/>
        </p:nvSpPr>
        <p:spPr>
          <a:xfrm xmlns:a="http://schemas.openxmlformats.org/drawingml/2006/main">
            <a:off x="1562100" y="4381500"/>
            <a:ext cx="7353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223047"/>
                </a:solidFill>
              </a:defRPr>
            </a:defPPr>
          </a:lstStyle>
          <a:p xmlns:a="http://schemas.openxmlformats.org/drawingml/2006/main">
            <a:pPr algn="l">
              <a:buNone/>
              <a:defRPr sz="1500" b="1">
                <a:solidFill>
                  <a:srgbClr val="223047"/>
                </a:solidFill>
              </a:defRPr>
            </a:pPr>
            <a:r>
              <a:rPr sz="1500" b="1">
                <a:solidFill>
                  <a:srgbClr val="223047"/>
                </a:solidFill>
              </a:rPr>
              <a:t>What can go wrong?</a:t>
            </a:r>
          </a:p>
        </p:txBody>
      </p:sp>
      <p:sp>
        <p:nvSpPr>
          <p:cNvPr id="11" name="Rectangle 10">
            <a:extLst xmlns:a="http://schemas.openxmlformats.org/drawingml/2006/main">
              <a:ext uri="{FF2B5EF4-FFF2-40B4-BE49-F238E27FC236}">
                <a16:creationId xmlns:a16="http://schemas.microsoft.com/office/drawing/2014/main" id="{63DF40C3-B3E5-490D-911D-AC3A1113E8A2}"/>
              </a:ext>
            </a:extLst>
          </p:cNvPr>
          <p:cNvSpPr>
            <a:spLocks xmlns:a="http://schemas.openxmlformats.org/drawingml/2006/main" noGrp="1"/>
          </p:cNvSpPr>
          <p:nvPr/>
        </p:nvSpPr>
        <p:spPr>
          <a:xfrm xmlns:a="http://schemas.openxmlformats.org/drawingml/2006/main">
            <a:off x="819150" y="5010150"/>
            <a:ext cx="53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1">
                <a:solidFill>
                  <a:srgbClr val="EE7D5B"/>
                </a:solidFill>
              </a:defRPr>
            </a:defPPr>
          </a:lstStyle>
          <a:p xmlns:a="http://schemas.openxmlformats.org/drawingml/2006/main">
            <a:pPr algn="l">
              <a:buNone/>
              <a:defRPr sz="1725" b="1">
                <a:solidFill>
                  <a:srgbClr val="EE7D5B"/>
                </a:solidFill>
              </a:defRPr>
            </a:pPr>
            <a:r>
              <a:rPr sz="1725" b="1">
                <a:solidFill>
                  <a:srgbClr val="EE7D5B"/>
                </a:solidFill>
              </a:rPr>
              <a:t>05</a:t>
            </a:r>
          </a:p>
        </p:txBody>
      </p:sp>
      <p:sp>
        <p:nvSpPr>
          <p:cNvPr id="12" name="Rectangle 11">
            <a:extLst xmlns:a="http://schemas.openxmlformats.org/drawingml/2006/main">
              <a:ext uri="{FF2B5EF4-FFF2-40B4-BE49-F238E27FC236}">
                <a16:creationId xmlns:a16="http://schemas.microsoft.com/office/drawing/2014/main" id="{69E96E6C-A631-41CC-B62D-4A5D51D0F5C8}"/>
              </a:ext>
            </a:extLst>
          </p:cNvPr>
          <p:cNvSpPr>
            <a:spLocks xmlns:a="http://schemas.openxmlformats.org/drawingml/2006/main" noGrp="1"/>
          </p:cNvSpPr>
          <p:nvPr/>
        </p:nvSpPr>
        <p:spPr>
          <a:xfrm xmlns:a="http://schemas.openxmlformats.org/drawingml/2006/main">
            <a:off x="1562100" y="4991100"/>
            <a:ext cx="7353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223047"/>
                </a:solidFill>
              </a:defRPr>
            </a:defPPr>
          </a:lstStyle>
          <a:p xmlns:a="http://schemas.openxmlformats.org/drawingml/2006/main">
            <a:pPr algn="l">
              <a:buNone/>
              <a:defRPr sz="1500" b="1">
                <a:solidFill>
                  <a:srgbClr val="223047"/>
                </a:solidFill>
              </a:defRPr>
            </a:pPr>
            <a:r>
              <a:rPr sz="1500" b="1">
                <a:solidFill>
                  <a:srgbClr val="223047"/>
                </a:solidFill>
              </a:rPr>
              <a:t>How will we test whether it succeeded?</a:t>
            </a:r>
          </a:p>
        </p:txBody>
      </p:sp>
      <p:sp>
        <p:nvSpPr>
          <p:cNvPr id="13" name="Rectangle 12">
            <a:extLst xmlns:a="http://schemas.openxmlformats.org/drawingml/2006/main">
              <a:ext uri="{FF2B5EF4-FFF2-40B4-BE49-F238E27FC236}">
                <a16:creationId xmlns:a16="http://schemas.microsoft.com/office/drawing/2014/main" id="{178C9E62-6261-401E-A800-8655320EB022}"/>
              </a:ext>
            </a:extLst>
          </p:cNvPr>
          <p:cNvSpPr>
            <a:spLocks xmlns:a="http://schemas.openxmlformats.org/drawingml/2006/main" noGrp="1"/>
          </p:cNvSpPr>
          <p:nvPr/>
        </p:nvSpPr>
        <p:spPr>
          <a:xfrm xmlns:a="http://schemas.openxmlformats.org/drawingml/2006/main">
            <a:off x="7239000" y="5391150"/>
            <a:ext cx="3429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008A91"/>
                </a:solidFill>
              </a:defRPr>
            </a:defPPr>
          </a:lstStyle>
          <a:p xmlns:a="http://schemas.openxmlformats.org/drawingml/2006/main">
            <a:pPr algn="ctr">
              <a:buNone/>
              <a:defRPr sz="1725" b="1">
                <a:solidFill>
                  <a:srgbClr val="008A91"/>
                </a:solidFill>
              </a:defRPr>
            </a:pPr>
            <a:r>
              <a:rPr sz="1725" b="1">
                <a:solidFill>
                  <a:srgbClr val="008A91"/>
                </a:solidFill>
              </a:rPr>
              <a:t>Questions and discussion</a:t>
            </a:r>
          </a:p>
        </p:txBody>
      </p:sp>
    </p:spTree>
    <p:extLst>
      <p:ext uri="{BB962C8B-B14F-4D97-AF65-F5344CB8AC3E}">
        <p14:creationId xmlns:p14="http://schemas.microsoft.com/office/powerpoint/2010/main" val="17980097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2026-10-16T11:12:06.7280000Z</dcterms:created>
  <dcterms:modified xsi:type="dcterms:W3CDTF">2026-10-16T11:12:06.7280000Z</dcterms:modified>
</coreProperties>
</file>